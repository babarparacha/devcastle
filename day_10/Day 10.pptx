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58" r:id="rId3"/>
    <p:sldId id="271" r:id="rId4"/>
    <p:sldId id="257" r:id="rId5"/>
    <p:sldId id="263" r:id="rId6"/>
    <p:sldId id="272" r:id="rId7"/>
    <p:sldId id="273" r:id="rId8"/>
    <p:sldId id="275" r:id="rId9"/>
    <p:sldId id="274" r:id="rId10"/>
    <p:sldId id="276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60" d="100"/>
          <a:sy n="60" d="100"/>
        </p:scale>
        <p:origin x="34" y="12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1E2E4-E77A-4403-B42E-1CC02300ABD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0D8D6F-954A-4DAD-AEB6-1206E8368A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0" name="Google Shape;800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305D836-FA94-5ECF-BFFF-AB610E246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D250D00-7BB2-E746-AA4F-5C5FA1A9AF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BDBBBD7-2A00-23E4-3DF1-1D2056F10B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2024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0BD536C8-0C56-F7CC-76C2-D5617534A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F2530B3-F24C-0221-B15A-2381637F01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BCA3A31-6A3B-04B7-9725-86B8F3D9F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6352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09A271AF-F38D-BB48-D708-6A2A724B7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33321CF2-6C10-A441-7252-2331DA09D0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F366B49-6E79-76D7-F3C6-7708A6AB34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4940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48AD23C-AE7A-C9E0-5E60-910849746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DA98ABA-D1A0-B32D-CF0D-7AE1429A01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9C13ABE-C029-8020-FE2B-491E854069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3349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A20E794-A449-669B-53CA-4E0F914D3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1BEEFB2-035C-F350-11E9-267A41E54D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4433BF6-59B7-D5BE-09AD-682CF7F9A8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49231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8BA01-535D-B5B2-7824-76CE6395A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076BA-F8EB-1CA1-FED6-8BC5E9963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25A7E-F6FE-5A1E-C5F9-BEB81C9E6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292F0-63A8-29F1-AE4D-2F40BD952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BB434-8F3E-F44F-9B68-8B0BD9C2A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0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1285-9335-7972-B10A-97E51853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BB7F4-9037-0F00-A8A9-568B44BE6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A7D59-DDC0-D337-6992-A44B3A70F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E5CD7-128B-3F35-1060-3F73F69CC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98809-3BFE-AC62-CA8D-A5EC28F6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61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915CB-5C74-E648-9531-1780453DA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D1757-D040-EE8D-B3B9-1AE7CB334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911C3-35C6-FD97-DE64-367D74F9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3B793-05D4-BACA-1038-4DD3F8AE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99213-016F-C631-640D-1678DAE0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89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E2220-6B05-F592-B2E5-682789744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675E8-E294-7E3F-81C5-CC26F8941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B0D89-836A-F906-BD6F-2F37F0555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5AA3A-4D09-75A3-3FC0-A19C917FE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B9D38-499E-44CD-D3E8-39C437D0B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B9181-9C90-FF2D-1E3A-4E2B429B6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46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7053-FE56-4D67-EDDA-B956D5FE9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6538B-AFA8-ADFE-0A5F-D38C7840E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FC36D-2D50-17F0-E6DD-43A988056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27CDE2-6AFF-6AEF-AD01-F765F11883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727929-1402-7CED-CD80-BD2ADC4E0E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F2ACDE-E294-395A-199D-4077AF212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D306A-9F61-4EAC-4907-C6CE2CF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F7315A-EFF1-45C1-2D09-175563F5B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95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82AA4-59E7-369A-33A9-DB7684EF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E1EC2-A2F4-3E9A-8F47-BB7DA485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63042-5500-587C-9814-EB4B31351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1E1836-50B6-9065-7536-C4D597FE3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77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0A812-14B4-5625-D4AE-729E7F7FD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F670E7-C02F-F701-FB50-37286229C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5D320-29D1-2751-7DEC-42B41A45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4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7005D-A55A-A5F2-7590-2E78FD874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3EC92-3A67-FCAC-0029-AFABE250F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9FF2D-6719-3CF5-8862-395DB088C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36E7B-AA4E-E1C1-90C6-5354E2482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21D84-EF68-17F2-1DBD-12F395D7C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5904F-C714-A950-ABEE-A07190930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30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164C-F7C9-680A-8DF4-583C5B2D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EA41CB-75D6-2308-B073-9E86FEE002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BF2AD-BCC1-6569-F10D-CCF762A00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81296-9C25-3148-0A9E-0F10F6C2A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0663B-44E4-A279-1836-A0365C778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9B782-6571-C43A-ED05-7AB270A9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9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2BE2B-54FA-C34F-FD16-F75E27BF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FB9BAA-1C2F-C52E-66DE-AC9C65918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4C6FB-88A2-0FE1-8975-19D0777C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4ADBC-3649-97AE-5CA0-53E1E91E2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612DA-E827-C618-F046-E7402D411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18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D370DF-3411-B5D0-3FEE-F89A1E35C0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74C19C-A19B-1F4B-E176-3C5998B326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CC7F-3A59-D47F-FDDD-7AFFBD56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84361-5DBB-4099-BE1C-C9F360BAA20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FAF53-BD29-608B-CE28-D904C3E66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A492C-28FA-7F11-2BAF-49015DF2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97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482974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9187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9204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237537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00665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646084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671483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644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073815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9157257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549749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505711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81738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761431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0253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428877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63528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93100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35756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919035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217826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5305311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094856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63262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5709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F99F8-F0BB-224B-4DC8-492921A65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BB814-979D-274F-55BB-27C50144F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1FFB7-5245-ED71-E557-0A1D623878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84361-5DBB-4099-BE1C-C9F360BAA208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24A4B-2ACD-AE46-E805-A071964F3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D1C87-8EAF-9B65-D78F-60C1894A1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039F9-5586-4901-B9E1-A358D4C54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0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23973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Measures of Dispersion &amp; Position</a:t>
            </a:r>
            <a:endParaRPr sz="1800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6"/>
          <p:cNvSpPr txBox="1">
            <a:spLocks noGrp="1"/>
          </p:cNvSpPr>
          <p:nvPr>
            <p:ph type="subTitle" idx="1"/>
          </p:nvPr>
        </p:nvSpPr>
        <p:spPr>
          <a:xfrm>
            <a:off x="2072014" y="2445836"/>
            <a:ext cx="9708621" cy="231323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i="1" dirty="0"/>
              <a:t>"Talk is cheap. Show me the code." – Linus Torvalds </a:t>
            </a:r>
          </a:p>
          <a:p>
            <a:pPr marL="0" indent="0"/>
            <a:r>
              <a:rPr lang="en-US" i="1" dirty="0"/>
              <a:t>(Creator of Linux and Git)</a:t>
            </a:r>
            <a:endParaRPr dirty="0"/>
          </a:p>
        </p:txBody>
      </p:sp>
      <p:grpSp>
        <p:nvGrpSpPr>
          <p:cNvPr id="804" name="Google Shape;804;p46"/>
          <p:cNvGrpSpPr/>
          <p:nvPr/>
        </p:nvGrpSpPr>
        <p:grpSpPr>
          <a:xfrm>
            <a:off x="478569" y="2490236"/>
            <a:ext cx="2856233" cy="3648433"/>
            <a:chOff x="358925" y="1867675"/>
            <a:chExt cx="2142175" cy="2736325"/>
          </a:xfrm>
        </p:grpSpPr>
        <p:sp>
          <p:nvSpPr>
            <p:cNvPr id="805" name="Google Shape;805;p46"/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6" name="Google Shape;806;p46"/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7" name="Google Shape;807;p46"/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8" name="Google Shape;808;p46"/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9" name="Google Shape;809;p46"/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0" name="Google Shape;810;p46"/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1" name="Google Shape;811;p46"/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2" name="Google Shape;812;p46"/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3" name="Google Shape;813;p46"/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4" name="Google Shape;814;p46"/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5" name="Google Shape;815;p46"/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6" name="Google Shape;816;p46"/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7" name="Google Shape;817;p46"/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8" name="Google Shape;818;p46"/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9" name="Google Shape;819;p46"/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0" name="Google Shape;820;p46"/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1" name="Google Shape;821;p46"/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2" name="Google Shape;822;p46"/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3" name="Google Shape;823;p46"/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4" name="Google Shape;824;p46"/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5" name="Google Shape;825;p46"/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6" name="Google Shape;826;p46"/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7" name="Google Shape;827;p46"/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8" name="Google Shape;828;p46"/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9" name="Google Shape;829;p46"/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1" name="Google Shape;831;p46"/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2" name="Google Shape;832;p46"/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3" name="Google Shape;833;p46"/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836" name="Google Shape;836;p46"/>
          <p:cNvSpPr txBox="1"/>
          <p:nvPr/>
        </p:nvSpPr>
        <p:spPr>
          <a:xfrm>
            <a:off x="301751" y="395167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6667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7" name="Google Shape;837;p46"/>
          <p:cNvSpPr txBox="1"/>
          <p:nvPr/>
        </p:nvSpPr>
        <p:spPr>
          <a:xfrm>
            <a:off x="9791700" y="55372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838" name="Google Shape;838;p46"/>
          <p:cNvSpPr txBox="1"/>
          <p:nvPr/>
        </p:nvSpPr>
        <p:spPr>
          <a:xfrm>
            <a:off x="10602333" y="5821200"/>
            <a:ext cx="13016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6667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6667">
              <a:solidFill>
                <a:schemeClr val="accent2"/>
              </a:solidFill>
            </a:endParaRPr>
          </a:p>
        </p:txBody>
      </p:sp>
      <p:sp>
        <p:nvSpPr>
          <p:cNvPr id="839" name="Google Shape;839;p46"/>
          <p:cNvSpPr txBox="1"/>
          <p:nvPr/>
        </p:nvSpPr>
        <p:spPr>
          <a:xfrm>
            <a:off x="894217" y="681400"/>
            <a:ext cx="13016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6667">
                <a:solidFill>
                  <a:schemeClr val="accent5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6667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8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Data Types &amp; Measures of Central Tendency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1871651899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Dispersion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: Variance &amp; Standard Deviation.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Coefficient of Variation (CV).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Skewness &amp; Kurtosis.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Position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: 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Quartiles &amp; Percentiles. 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Z-Score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Building the automated Govt Tax Auditing Pipeline.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3400552" y="5830867"/>
            <a:ext cx="5875200" cy="13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Important:</a:t>
            </a:r>
            <a:b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Use of AI for solving given task is not allowed.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Cellphones must be put on silent.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endParaRPr lang="en-US"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/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4"/>
                </a:solidFill>
              </a:rPr>
              <a:t>Standard Deviation (SD): </a:t>
            </a:r>
            <a:r>
              <a:rPr lang="en-US" sz="1600" dirty="0"/>
              <a:t>A number that describes how </a:t>
            </a:r>
            <a:r>
              <a:rPr lang="en-US" sz="1600" dirty="0">
                <a:solidFill>
                  <a:schemeClr val="accent2"/>
                </a:solidFill>
              </a:rPr>
              <a:t>spread</a:t>
            </a:r>
            <a:r>
              <a:rPr lang="en-US" sz="1600" dirty="0"/>
              <a:t> out the values are. </a:t>
            </a:r>
          </a:p>
          <a:p>
            <a:pPr marL="0" indent="0"/>
            <a:r>
              <a:rPr lang="en-US" sz="1600" dirty="0"/>
              <a:t>A low SD means most numbers are close to the mean (average) value. </a:t>
            </a:r>
          </a:p>
          <a:p>
            <a:pPr marL="0" indent="0"/>
            <a:r>
              <a:rPr lang="en-US" sz="1600" dirty="0"/>
              <a:t>A high SD means the values are spread out over a wider range.</a:t>
            </a:r>
          </a:p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Variance: </a:t>
            </a:r>
            <a:r>
              <a:rPr lang="en-US" sz="1600" dirty="0"/>
              <a:t>Another number that indicates how spread out the values are. In fact, if you take the square root of the variance, you get the standard deviation!</a:t>
            </a:r>
          </a:p>
          <a:p>
            <a:pPr marL="0" indent="0"/>
            <a:endParaRPr lang="en-US" sz="1600" dirty="0"/>
          </a:p>
          <a:p>
            <a:pPr marL="0" indent="0"/>
            <a:endParaRPr lang="en-US" sz="1600" dirty="0"/>
          </a:p>
          <a:p>
            <a:pPr marL="0" indent="0"/>
            <a:r>
              <a:rPr lang="en-US" sz="1600" dirty="0"/>
              <a:t>The Govt Analogy: The Highway Authority is auditing traffic speeds. If everyone drives 86 km/h, the Standard Deviation is basically 0 (low risk). If some drive 32 km/h and others drive 138 km/h, the Standard Deviation is huge (high risk of accidents!).</a:t>
            </a:r>
          </a:p>
        </p:txBody>
      </p:sp>
      <p:sp>
        <p:nvSpPr>
          <p:cNvPr id="500" name="Google Shape;500;p38"/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/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/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4B285A-7C83-A5CC-B644-377D1CF0D92C}"/>
              </a:ext>
            </a:extLst>
          </p:cNvPr>
          <p:cNvSpPr txBox="1"/>
          <p:nvPr/>
        </p:nvSpPr>
        <p:spPr>
          <a:xfrm>
            <a:off x="830133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Measures of Dispersion (The Spread) - Variance &amp; Standard Deviation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D8A68B4-C847-2236-F3B4-D1086045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A880AC1E-51D0-7774-C0F1-F1BAB613F9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CBC5F670-1B98-1404-E715-C4CEAE3473C8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A1A12A40-F190-3905-4240-E1FE555B5D62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3832F733-C1EA-8F0C-24D7-7D9CDD0BD579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94E4EE-996A-173F-9C51-D87AA66DF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730" y="1848241"/>
            <a:ext cx="8516539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23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159B52E-680E-78EA-B107-D6834ABB5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116D4A5D-D676-D94A-9220-615746D7BE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DABB350F-DF30-B681-16B9-B046E03AE80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2"/>
                </a:solidFill>
              </a:rPr>
              <a:t>Percentiles: </a:t>
            </a:r>
            <a:r>
              <a:rPr lang="en-US" sz="1600" dirty="0">
                <a:solidFill>
                  <a:schemeClr val="tx1"/>
                </a:solidFill>
              </a:rPr>
              <a:t>A number that describes the value that a given percent of the values are lower than.</a:t>
            </a:r>
          </a:p>
          <a:p>
            <a:pPr marL="0" indent="0"/>
            <a:endParaRPr lang="en-US" sz="1600" b="1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Quartiles: </a:t>
            </a:r>
            <a:r>
              <a:rPr lang="en-US" sz="1600" dirty="0">
                <a:solidFill>
                  <a:schemeClr val="tx1"/>
                </a:solidFill>
              </a:rPr>
              <a:t>A special type of percentile that strictly divides the data into four equal parts (25%, 50%, 75%).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The Govt Analogy: </a:t>
            </a:r>
            <a:r>
              <a:rPr lang="en-US" sz="1600" dirty="0">
                <a:solidFill>
                  <a:schemeClr val="tx1"/>
                </a:solidFill>
              </a:rPr>
              <a:t>The National Census is looking at the ages of people living on a specific street to plan for a new school. If you find the 75th percentile, you know that 75% of the people on that street are younger than that exact age.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8D83CD52-A6E5-5C69-7FF6-F6383F1B1BF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9D4B9A46-8FCA-FCB9-4FD0-826AC32E424A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D1187ECC-D198-300E-E679-0C59B7378D0D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47A7C2FF-5031-7968-E5E7-5F02A8DFF029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483787-961A-F5B0-695C-5BEE8FBBE831}"/>
              </a:ext>
            </a:extLst>
          </p:cNvPr>
          <p:cNvSpPr txBox="1"/>
          <p:nvPr/>
        </p:nvSpPr>
        <p:spPr>
          <a:xfrm>
            <a:off x="4185920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Percentiles &amp; Quartiles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616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1E9D616-12B2-65A3-5694-D03AD554C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A9EBE490-5C52-F0AD-2BAE-B12F74353A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52633D96-739B-F42A-2784-4427D796B521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6765995F-E13A-FF1D-5C02-6B2D3DCA0983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9ED55E3B-453E-8A23-97DA-E0C9D4046C53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C9BCB1-2AE8-1906-91BB-6C95E9EC8964}"/>
              </a:ext>
            </a:extLst>
          </p:cNvPr>
          <p:cNvSpPr txBox="1"/>
          <p:nvPr/>
        </p:nvSpPr>
        <p:spPr>
          <a:xfrm>
            <a:off x="4185920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Percentiles &amp; Quartiles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0CFD67-D630-CBED-D4E3-4A9A52212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70" y="2538569"/>
            <a:ext cx="10831059" cy="296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94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B087151-994A-53A7-9F6F-8327B9DD1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B42E94CF-9E0B-6268-32C4-76C2E380B7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6A95BE13-7954-3BE5-4247-7062FF07B7D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3"/>
                </a:solidFill>
              </a:rPr>
              <a:t>Coefficient of Variation (CV): </a:t>
            </a:r>
            <a:r>
              <a:rPr lang="en-US" sz="1600" dirty="0"/>
              <a:t>Standard Deviation divided by the Mean. It gives you a clean percentage so you can compare the spread of two totally different datasets.</a:t>
            </a:r>
          </a:p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4"/>
                </a:solidFill>
              </a:rPr>
              <a:t>Skewness: </a:t>
            </a:r>
            <a:r>
              <a:rPr lang="en-US" sz="1600" dirty="0"/>
              <a:t>Tells you if the data is lopsided. Does the tail of the data drag to the left or the right?</a:t>
            </a:r>
          </a:p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accent1"/>
                </a:solidFill>
              </a:rPr>
              <a:t>Kurtosis: </a:t>
            </a:r>
            <a:r>
              <a:rPr lang="en-US" sz="1600" dirty="0"/>
              <a:t>Tells you how "heavy" the tails are. Are there extreme, wild outliers lurking at the edges of your data?</a:t>
            </a:r>
          </a:p>
          <a:p>
            <a:pPr marL="0" indent="0"/>
            <a:endParaRPr lang="en-US" sz="1600" dirty="0"/>
          </a:p>
          <a:p>
            <a:pPr marL="0" indent="0"/>
            <a:r>
              <a:rPr lang="en-US" sz="1600" dirty="0"/>
              <a:t>The Govt Analogy: If the National Wealth data has High Kurtosis and Right Skewness, it means the middle class is shrinking and a few extreme billionaires are hoarding the wealth at the far-right edge of the graph.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CF659663-41C3-C38B-2D5B-D542FA84849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F910D7F7-E86B-423B-0C9D-3E15F8B5DF50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5D8A7F20-2D2C-9DD1-14DA-38605365A79E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527C4EAD-7247-764B-2CF9-30737B982A12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2A122D-1AFC-7F5B-DB03-CA547597AFE8}"/>
              </a:ext>
            </a:extLst>
          </p:cNvPr>
          <p:cNvSpPr txBox="1"/>
          <p:nvPr/>
        </p:nvSpPr>
        <p:spPr>
          <a:xfrm>
            <a:off x="830133" y="1579018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Coefficient of Variation, Skewness &amp; Kurtosis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983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48E3FCD-6436-F74B-1EA3-2C229E4FC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60065F57-C6C4-0585-C5CA-4499C0BA08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52FAEE9B-A70C-A201-6D2D-5779A3848C8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1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Z-Score: </a:t>
            </a:r>
            <a:r>
              <a:rPr lang="en-US" sz="1600" dirty="0">
                <a:solidFill>
                  <a:schemeClr val="tx1"/>
                </a:solidFill>
              </a:rPr>
              <a:t>A numerical measurement that describes a value's relationship to the mean of a group of values, measured in Standard Deviations.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0" indent="0"/>
            <a:r>
              <a:rPr lang="en-US" sz="1600" b="1" dirty="0">
                <a:solidFill>
                  <a:schemeClr val="tx1"/>
                </a:solidFill>
              </a:rPr>
              <a:t>The Govt Analogy: </a:t>
            </a:r>
            <a:r>
              <a:rPr lang="en-US" sz="1600" dirty="0">
                <a:solidFill>
                  <a:schemeClr val="tx1"/>
                </a:solidFill>
              </a:rPr>
              <a:t>The Tax Authority wants to catch fraudsters. A Z-Score of 0 means your tax return is perfectly average. A Z-Score of +3 means your income is suspiciously high compared to your neighbors. A Z-Score of -3 means you are claiming impossible poverty. Flag them for an audit!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26534A2B-F7E4-AE19-E605-B16692CDB8D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D9B90270-52B7-9E54-3CB7-D25694AAB64C}"/>
              </a:ext>
            </a:extLst>
          </p:cNvPr>
          <p:cNvSpPr txBox="1"/>
          <p:nvPr/>
        </p:nvSpPr>
        <p:spPr>
          <a:xfrm>
            <a:off x="-93607" y="13230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6667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6912D59A-B4E3-0BA0-B1EB-E3BBA19F32A7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/>
            <a:endParaRPr sz="6667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72E75BD6-FB4C-C476-364E-F17754F58923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40"/>
            <a:endParaRPr sz="12800" dirty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019E7A-4636-FDA1-6DDA-2E70213C3131}"/>
              </a:ext>
            </a:extLst>
          </p:cNvPr>
          <p:cNvSpPr txBox="1"/>
          <p:nvPr/>
        </p:nvSpPr>
        <p:spPr>
          <a:xfrm>
            <a:off x="4769727" y="1625184"/>
            <a:ext cx="9364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Z-Score</a:t>
            </a:r>
          </a:p>
          <a:p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307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704</Words>
  <Application>Microsoft Office PowerPoint</Application>
  <PresentationFormat>Widescreen</PresentationFormat>
  <Paragraphs>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Arial</vt:lpstr>
      <vt:lpstr>Bebas Neue</vt:lpstr>
      <vt:lpstr>Calibri</vt:lpstr>
      <vt:lpstr>Calibri Light</vt:lpstr>
      <vt:lpstr>Comfortaa</vt:lpstr>
      <vt:lpstr>Fira Code</vt:lpstr>
      <vt:lpstr>Nunito Light</vt:lpstr>
      <vt:lpstr>PT Sans</vt:lpstr>
      <vt:lpstr>Source Code Pro</vt:lpstr>
      <vt:lpstr>Source Code Pro Medium</vt:lpstr>
      <vt:lpstr>Office Theme</vt:lpstr>
      <vt:lpstr>day 6</vt:lpstr>
      <vt:lpstr>Artificial Intelligence (Machine Learning &amp; Deep Learning)</vt:lpstr>
      <vt:lpstr>PowerPoint Presentation</vt:lpstr>
      <vt:lpstr>Contents of Day 8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8</cp:revision>
  <dcterms:created xsi:type="dcterms:W3CDTF">2026-02-27T20:07:25Z</dcterms:created>
  <dcterms:modified xsi:type="dcterms:W3CDTF">2026-02-27T22:19:33Z</dcterms:modified>
</cp:coreProperties>
</file>