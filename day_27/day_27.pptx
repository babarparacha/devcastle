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3"/>
  </p:notesMasterIdLst>
  <p:sldIdLst>
    <p:sldId id="258" r:id="rId3"/>
    <p:sldId id="257" r:id="rId4"/>
    <p:sldId id="275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304" r:id="rId22"/>
    <p:sldId id="305" r:id="rId23"/>
    <p:sldId id="306" r:id="rId24"/>
    <p:sldId id="307" r:id="rId25"/>
    <p:sldId id="308" r:id="rId26"/>
    <p:sldId id="309" r:id="rId27"/>
    <p:sldId id="310" r:id="rId28"/>
    <p:sldId id="311" r:id="rId29"/>
    <p:sldId id="312" r:id="rId30"/>
    <p:sldId id="276" r:id="rId31"/>
    <p:sldId id="259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461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99B2F-13C3-4916-9AE2-773954F7FF9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32A58F-A9F4-4EDD-94B3-A9547EE99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207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6" name="Google Shape;2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3be7910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95" name="Google Shape;295;g213be7910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4510CBC-CBD4-7FA5-5018-FDCB3BD85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D33713A-80D5-8FCF-C31F-CBCBB27531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DEF5084-F53F-BF3C-FDE4-1399D44B45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30372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E530A6E-4ED8-E9CF-A35E-5E4D5D6A7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9B113993-6107-7FFF-7333-55BA15A75E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BE5FD32-9CB6-EE0E-E53B-C1546F2140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360533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56E969B7-6F75-CE90-6A16-984ED28ED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C2E1510-867B-EB03-A300-F1FF4F9CD9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150C90C2-45B3-8425-5F47-78C518C557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70376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D3114DA-BBD7-ED99-D76A-70912B434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5FCC17A-30CA-2550-B49F-03F6CB98C7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85F304B-CCA3-9440-F724-E5B6DA9A3D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42784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3D8B0565-75A3-F535-0EA8-CC2E522A6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512EBAE-AE71-8F9C-3EDD-372B78F6BF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88FF6ED5-8345-F226-24C5-877E114CC1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471761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6CA1DB0C-82FE-C63B-FB02-FE7343001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8014724-6500-186E-0FD8-AD929F82C7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54D8D34E-7C9D-7CA7-FCF1-B146CA37E8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856024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4CB25CC-BC15-9B8A-E286-AE800567E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51D05371-8019-5763-9498-1212B58F9E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2B6F66A-6261-792A-D532-768F2C741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710804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7E7DDBF9-1A5A-33F1-D0CB-13C465ACF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E2A10DB2-44B2-D632-706E-C49D0AF33B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C33AAC0D-1E59-5DAF-B0EC-E6232E7B42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6080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8AE23D3-3AFA-700B-BA11-278ABED8F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15BBAB68-F5FC-8041-9989-0179F5EB1D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30AEDA3A-5C2C-0247-72B0-33E810FD3E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54222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8A2789B-3A5F-2984-7DE6-35BCAB9E7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5B830D0-39EC-C6DA-D645-890B9D7369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757FDA8D-6E02-AEEE-EFD4-34AA6DCC34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733915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272C0525-07DB-3B26-898F-57C09690B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84D538AC-FD26-FA97-8B41-167C897F37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96F463FA-6E68-A106-C48D-FEAFEE5E4E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9508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7C98704-AB38-C5CE-1952-C0899088E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F8234D1-F285-BBBF-70A9-FCBA699CF3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8EEAE7EA-73AE-4897-C74A-204FAE75DE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48983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880650F-860B-A929-93DE-2214F7A22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2550BE7-95E6-5E35-6B78-A560FFE96B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6E45347D-6EC2-214D-4A46-8A316500A5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563285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1F74EAF-512E-545B-1219-E035D8C69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7B3A5979-972B-62D2-9C5D-FEF155034E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03462FA-6685-7879-A088-AE9EFB0AB4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67033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9E90E776-8815-E979-51A4-A3D12AD72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6B016115-0E07-F4BC-D24B-C4FA4C9C17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0644ECD-21BF-9BA8-11D6-E2EF56CC31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36520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C0BB458-3BE5-0878-CC6F-AEF439103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B61A955E-17B3-FACA-A27C-69B619149C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D4F30843-E15E-75D1-2ECC-A72F6BCA7A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620678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578D44AB-36DE-59C8-59FE-B79ADB027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E468273-DB0D-6CFB-4D86-5EF75A901D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33ACE41F-76CE-1C9D-4E61-24574D90B5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45431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32533ED8-A19E-3C1D-E238-BE2F564E7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6216B74-07A8-3103-2057-1C2C504B10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D321187-28B2-F976-48E6-F43F186DBE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768966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6266D6F-821B-F616-E1A1-588D9E71B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EFB8CC54-157E-2335-B763-0BAF37FD16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5419230F-DAFB-F7C1-8C46-07396AFE8C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577730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73F6FFB6-D5DD-3312-E448-7771105B7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77BE4343-2CC7-50BC-EADB-89449244CF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2D106C40-2EA3-3D34-9B66-5EC6D31892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5596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80DEDFDA-8E45-EB32-BC0B-0328E9ECB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33FE1F80-FDE1-CB83-49B6-20B8D89D4A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658AB297-99FA-B996-EA45-039F4F237C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17165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88F5A01-CC2F-7EB9-CA6D-6FCF69411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6E79AAF8-289E-727D-E260-67F864D545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426CAA68-8A83-5F6A-0669-EAB0C698D7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917877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3B9D76F-BCFD-8A4E-A6BD-573B65539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D193BC2-C038-A9EC-E722-38C11AC27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4DC1DFC-806B-0DDA-2EB1-ABC3435830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479962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90CFB86-0C6E-DB33-7D0F-804F2CB10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DAEDEF9F-8C72-41B5-8795-B7A1753912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F9B30C8B-A4AB-4A91-1DB9-0BDA9CAC1E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726658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714819E7-FDC4-D84C-8428-A15B63B52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61F37266-45C6-DF3E-CE65-BB0D1C4C60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26061031-9D7A-1670-7A7D-8E3C70E50F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3901464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38228210-EAD9-1A8D-C840-FF57AD0AD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86C3E3B3-F697-DFDB-41CB-49F93DABB7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DDBA2213-4EFA-DF86-E859-41D6E20CFC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9799153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847D2D6-767F-54E9-4E0C-E8EEB9AA0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1388EE08-AD46-DA0E-B9BD-23A262A1D8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64473CD0-3D3F-0384-B40E-75B80A7479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7941319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50" name="Google Shape;35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047651" y="3021933"/>
            <a:ext cx="8847600" cy="16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317484" y="1800733"/>
            <a:ext cx="2202800" cy="122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773533" y="4625133"/>
            <a:ext cx="8058400" cy="37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" name="Google Shape;16;p3"/>
          <p:cNvGrpSpPr/>
          <p:nvPr/>
        </p:nvGrpSpPr>
        <p:grpSpPr>
          <a:xfrm>
            <a:off x="11085100" y="470668"/>
            <a:ext cx="630800" cy="248667"/>
            <a:chOff x="7059675" y="514525"/>
            <a:chExt cx="473100" cy="186500"/>
          </a:xfrm>
        </p:grpSpPr>
        <p:cxnSp>
          <p:nvCxnSpPr>
            <p:cNvPr id="17" name="Google Shape;17;p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78688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" name="Google Shape;22;p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3" name="Google Shape;23;p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37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600"/>
            </a:lvl1pPr>
            <a:lvl2pPr marL="1219140" lvl="1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09" lvl="2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278" lvl="3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848" lvl="4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418" lvl="5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6987" lvl="6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557" lvl="7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126" lvl="8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4056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0" name="Google Shape;30;p5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31" name="Google Shape;31;p5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705672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211426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6651249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4"/>
          </p:nvPr>
        </p:nvSpPr>
        <p:spPr>
          <a:xfrm>
            <a:off x="1708483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4302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1" name="Google Shape;41;p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2" name="Google Shape;42;p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672967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6" name="Google Shape;56;p8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57" name="Google Shape;57;p8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8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807000" y="1742800"/>
            <a:ext cx="54340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884903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-33" y="-18300"/>
            <a:ext cx="12192000" cy="687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248036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 hasCustomPrompt="1"/>
          </p:nvPr>
        </p:nvSpPr>
        <p:spPr>
          <a:xfrm>
            <a:off x="1360817" y="1780133"/>
            <a:ext cx="9470400" cy="2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1"/>
          </p:nvPr>
        </p:nvSpPr>
        <p:spPr>
          <a:xfrm>
            <a:off x="1360784" y="4125967"/>
            <a:ext cx="9470400" cy="6204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5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6" name="Google Shape;76;p1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77" name="Google Shape;77;p1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1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1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6356967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74051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3" name="Google Shape;83;p13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84" name="Google Shape;84;p13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8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3296000" y="244393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"/>
          </p:nvPr>
        </p:nvSpPr>
        <p:spPr>
          <a:xfrm>
            <a:off x="4234001" y="377790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3"/>
          </p:nvPr>
        </p:nvSpPr>
        <p:spPr>
          <a:xfrm>
            <a:off x="4672036" y="5112331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4" hasCustomPrompt="1"/>
          </p:nvPr>
        </p:nvSpPr>
        <p:spPr>
          <a:xfrm>
            <a:off x="2493200" y="19607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5" hasCustomPrompt="1"/>
          </p:nvPr>
        </p:nvSpPr>
        <p:spPr>
          <a:xfrm>
            <a:off x="3431200" y="33099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 hasCustomPrompt="1"/>
          </p:nvPr>
        </p:nvSpPr>
        <p:spPr>
          <a:xfrm>
            <a:off x="3855033" y="4659100"/>
            <a:ext cx="8028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7"/>
          </p:nvPr>
        </p:nvSpPr>
        <p:spPr>
          <a:xfrm>
            <a:off x="3296000" y="19607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8"/>
          </p:nvPr>
        </p:nvSpPr>
        <p:spPr>
          <a:xfrm>
            <a:off x="4234000" y="33099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9"/>
          </p:nvPr>
        </p:nvSpPr>
        <p:spPr>
          <a:xfrm>
            <a:off x="4672033" y="46591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373016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3583367" y="4619000"/>
            <a:ext cx="76580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3583219" y="2134600"/>
            <a:ext cx="7658000" cy="24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2" name="Google Shape;102;p14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14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4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7653953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7" name="Google Shape;107;p15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8" name="Google Shape;108;p15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15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15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950967" y="714200"/>
            <a:ext cx="4221200" cy="31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950967" y="3885400"/>
            <a:ext cx="4221200" cy="22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15"/>
          <p:cNvSpPr>
            <a:spLocks noGrp="1"/>
          </p:cNvSpPr>
          <p:nvPr>
            <p:ph type="pic" idx="2"/>
          </p:nvPr>
        </p:nvSpPr>
        <p:spPr>
          <a:xfrm>
            <a:off x="6377667" y="709417"/>
            <a:ext cx="3880000" cy="543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218112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950967" y="1870467"/>
            <a:ext cx="4332000" cy="14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950967" y="3288067"/>
            <a:ext cx="4332000" cy="18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2076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449600" y="2001600"/>
            <a:ext cx="4791200" cy="14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1"/>
          </p:nvPr>
        </p:nvSpPr>
        <p:spPr>
          <a:xfrm>
            <a:off x="6449828" y="3416000"/>
            <a:ext cx="4791200" cy="1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49317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4" name="Google Shape;124;p18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25" name="Google Shape;125;p18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1"/>
          </p:nvPr>
        </p:nvSpPr>
        <p:spPr>
          <a:xfrm>
            <a:off x="6985135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2"/>
          </p:nvPr>
        </p:nvSpPr>
        <p:spPr>
          <a:xfrm>
            <a:off x="2276900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3"/>
          </p:nvPr>
        </p:nvSpPr>
        <p:spPr>
          <a:xfrm>
            <a:off x="1882268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ubTitle" idx="4"/>
          </p:nvPr>
        </p:nvSpPr>
        <p:spPr>
          <a:xfrm>
            <a:off x="6590509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935239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5" name="Google Shape;135;p19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36" name="Google Shape;136;p19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642919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2"/>
          </p:nvPr>
        </p:nvSpPr>
        <p:spPr>
          <a:xfrm>
            <a:off x="85866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61005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4" name="Google Shape;144;p20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45" name="Google Shape;145;p20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1330267" y="279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2"/>
          </p:nvPr>
        </p:nvSpPr>
        <p:spPr>
          <a:xfrm>
            <a:off x="4697316" y="367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3"/>
          </p:nvPr>
        </p:nvSpPr>
        <p:spPr>
          <a:xfrm>
            <a:off x="8068311" y="43234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subTitle" idx="4"/>
          </p:nvPr>
        </p:nvSpPr>
        <p:spPr>
          <a:xfrm>
            <a:off x="960000" y="191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5"/>
          </p:nvPr>
        </p:nvSpPr>
        <p:spPr>
          <a:xfrm>
            <a:off x="4389396" y="279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6"/>
          </p:nvPr>
        </p:nvSpPr>
        <p:spPr>
          <a:xfrm>
            <a:off x="7822725" y="34434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306908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7" name="Google Shape;157;p21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58" name="Google Shape;158;p21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1"/>
          </p:nvPr>
        </p:nvSpPr>
        <p:spPr>
          <a:xfrm>
            <a:off x="4667467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2"/>
          </p:nvPr>
        </p:nvSpPr>
        <p:spPr>
          <a:xfrm>
            <a:off x="8594388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3"/>
          </p:nvPr>
        </p:nvSpPr>
        <p:spPr>
          <a:xfrm>
            <a:off x="4667467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4"/>
          </p:nvPr>
        </p:nvSpPr>
        <p:spPr>
          <a:xfrm>
            <a:off x="8594388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5"/>
          </p:nvPr>
        </p:nvSpPr>
        <p:spPr>
          <a:xfrm>
            <a:off x="42592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6"/>
          </p:nvPr>
        </p:nvSpPr>
        <p:spPr>
          <a:xfrm>
            <a:off x="42592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7"/>
          </p:nvPr>
        </p:nvSpPr>
        <p:spPr>
          <a:xfrm>
            <a:off x="81861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ubTitle" idx="8"/>
          </p:nvPr>
        </p:nvSpPr>
        <p:spPr>
          <a:xfrm>
            <a:off x="81861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752964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subTitle" idx="1"/>
          </p:nvPr>
        </p:nvSpPr>
        <p:spPr>
          <a:xfrm>
            <a:off x="1859867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subTitle" idx="2"/>
          </p:nvPr>
        </p:nvSpPr>
        <p:spPr>
          <a:xfrm>
            <a:off x="5153000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subTitle" idx="3"/>
          </p:nvPr>
        </p:nvSpPr>
        <p:spPr>
          <a:xfrm>
            <a:off x="1859867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subTitle" idx="4"/>
          </p:nvPr>
        </p:nvSpPr>
        <p:spPr>
          <a:xfrm>
            <a:off x="5153000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subTitle" idx="5"/>
          </p:nvPr>
        </p:nvSpPr>
        <p:spPr>
          <a:xfrm>
            <a:off x="8446132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6"/>
          </p:nvPr>
        </p:nvSpPr>
        <p:spPr>
          <a:xfrm>
            <a:off x="8446132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7"/>
          </p:nvPr>
        </p:nvSpPr>
        <p:spPr>
          <a:xfrm>
            <a:off x="1484069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8"/>
          </p:nvPr>
        </p:nvSpPr>
        <p:spPr>
          <a:xfrm>
            <a:off x="4777200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9"/>
          </p:nvPr>
        </p:nvSpPr>
        <p:spPr>
          <a:xfrm>
            <a:off x="8070331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subTitle" idx="13"/>
          </p:nvPr>
        </p:nvSpPr>
        <p:spPr>
          <a:xfrm>
            <a:off x="1484069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ubTitle" idx="14"/>
          </p:nvPr>
        </p:nvSpPr>
        <p:spPr>
          <a:xfrm>
            <a:off x="4777200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ubTitle" idx="15"/>
          </p:nvPr>
        </p:nvSpPr>
        <p:spPr>
          <a:xfrm>
            <a:off x="8070331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922488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6" name="Google Shape;186;p23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87" name="Google Shape;187;p2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0" name="Google Shape;190;p23"/>
          <p:cNvSpPr txBox="1">
            <a:spLocks noGrp="1"/>
          </p:cNvSpPr>
          <p:nvPr>
            <p:ph type="title" hasCustomPrompt="1"/>
          </p:nvPr>
        </p:nvSpPr>
        <p:spPr>
          <a:xfrm>
            <a:off x="5402633" y="84076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1" name="Google Shape;191;p23"/>
          <p:cNvSpPr txBox="1">
            <a:spLocks noGrp="1"/>
          </p:cNvSpPr>
          <p:nvPr>
            <p:ph type="subTitle" idx="1"/>
          </p:nvPr>
        </p:nvSpPr>
        <p:spPr>
          <a:xfrm>
            <a:off x="5878073" y="173422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2" name="Google Shape;192;p23"/>
          <p:cNvSpPr txBox="1">
            <a:spLocks noGrp="1"/>
          </p:cNvSpPr>
          <p:nvPr>
            <p:ph type="title" idx="2" hasCustomPrompt="1"/>
          </p:nvPr>
        </p:nvSpPr>
        <p:spPr>
          <a:xfrm>
            <a:off x="5402633" y="264378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23"/>
          <p:cNvSpPr txBox="1">
            <a:spLocks noGrp="1"/>
          </p:cNvSpPr>
          <p:nvPr>
            <p:ph type="subTitle" idx="3"/>
          </p:nvPr>
        </p:nvSpPr>
        <p:spPr>
          <a:xfrm>
            <a:off x="5878073" y="353724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title" idx="4" hasCustomPrompt="1"/>
          </p:nvPr>
        </p:nvSpPr>
        <p:spPr>
          <a:xfrm>
            <a:off x="5402633" y="444680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5" name="Google Shape;195;p23"/>
          <p:cNvSpPr txBox="1">
            <a:spLocks noGrp="1"/>
          </p:cNvSpPr>
          <p:nvPr>
            <p:ph type="subTitle" idx="5"/>
          </p:nvPr>
        </p:nvSpPr>
        <p:spPr>
          <a:xfrm>
            <a:off x="5878073" y="534026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448289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8" name="Google Shape;198;p2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99" name="Google Shape;199;p2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2" name="Google Shape;202;p24"/>
          <p:cNvSpPr txBox="1">
            <a:spLocks noGrp="1"/>
          </p:cNvSpPr>
          <p:nvPr>
            <p:ph type="title" hasCustomPrompt="1"/>
          </p:nvPr>
        </p:nvSpPr>
        <p:spPr>
          <a:xfrm>
            <a:off x="1179800" y="25209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24"/>
          <p:cNvSpPr txBox="1">
            <a:spLocks noGrp="1"/>
          </p:cNvSpPr>
          <p:nvPr>
            <p:ph type="subTitle" idx="1"/>
          </p:nvPr>
        </p:nvSpPr>
        <p:spPr>
          <a:xfrm>
            <a:off x="1307167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4" name="Google Shape;204;p24"/>
          <p:cNvSpPr txBox="1">
            <a:spLocks noGrp="1"/>
          </p:cNvSpPr>
          <p:nvPr>
            <p:ph type="subTitle" idx="2"/>
          </p:nvPr>
        </p:nvSpPr>
        <p:spPr>
          <a:xfrm>
            <a:off x="960000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title" idx="3" hasCustomPrompt="1"/>
          </p:nvPr>
        </p:nvSpPr>
        <p:spPr>
          <a:xfrm>
            <a:off x="4787984" y="2521267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6" name="Google Shape;206;p24"/>
          <p:cNvSpPr txBox="1">
            <a:spLocks noGrp="1"/>
          </p:cNvSpPr>
          <p:nvPr>
            <p:ph type="subTitle" idx="4"/>
          </p:nvPr>
        </p:nvSpPr>
        <p:spPr>
          <a:xfrm>
            <a:off x="4785591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7" name="Google Shape;207;p24"/>
          <p:cNvSpPr txBox="1">
            <a:spLocks noGrp="1"/>
          </p:cNvSpPr>
          <p:nvPr>
            <p:ph type="subTitle" idx="5"/>
          </p:nvPr>
        </p:nvSpPr>
        <p:spPr>
          <a:xfrm>
            <a:off x="4560001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8" name="Google Shape;208;p24"/>
          <p:cNvSpPr txBox="1">
            <a:spLocks noGrp="1"/>
          </p:cNvSpPr>
          <p:nvPr>
            <p:ph type="title" idx="6" hasCustomPrompt="1"/>
          </p:nvPr>
        </p:nvSpPr>
        <p:spPr>
          <a:xfrm>
            <a:off x="8395700" y="25214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24"/>
          <p:cNvSpPr txBox="1">
            <a:spLocks noGrp="1"/>
          </p:cNvSpPr>
          <p:nvPr>
            <p:ph type="subTitle" idx="7"/>
          </p:nvPr>
        </p:nvSpPr>
        <p:spPr>
          <a:xfrm>
            <a:off x="8264015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0" name="Google Shape;210;p24"/>
          <p:cNvSpPr txBox="1">
            <a:spLocks noGrp="1"/>
          </p:cNvSpPr>
          <p:nvPr>
            <p:ph type="subTitle" idx="8"/>
          </p:nvPr>
        </p:nvSpPr>
        <p:spPr>
          <a:xfrm>
            <a:off x="8160003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1" name="Google Shape;211;p24"/>
          <p:cNvSpPr txBox="1">
            <a:spLocks noGrp="1"/>
          </p:cNvSpPr>
          <p:nvPr>
            <p:ph type="title" idx="9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368403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8" name="Google Shape;218;p2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19" name="Google Shape;219;p2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1187346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5899667" y="-2400"/>
            <a:ext cx="62924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4" name="Google Shape;224;p27"/>
          <p:cNvGrpSpPr/>
          <p:nvPr/>
        </p:nvGrpSpPr>
        <p:grpSpPr>
          <a:xfrm>
            <a:off x="10924156" y="595001"/>
            <a:ext cx="553275" cy="248667"/>
            <a:chOff x="7059675" y="514525"/>
            <a:chExt cx="473100" cy="186500"/>
          </a:xfrm>
        </p:grpSpPr>
        <p:cxnSp>
          <p:nvCxnSpPr>
            <p:cNvPr id="225" name="Google Shape;225;p27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7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7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9241422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647333" y="1678467"/>
            <a:ext cx="7730000" cy="27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47333" y="4396867"/>
            <a:ext cx="7730000" cy="58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14538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3" name="Google Shape;63;p9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64" name="Google Shape;64;p9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9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5630800" y="1597933"/>
            <a:ext cx="5608000" cy="261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5630800" y="4217133"/>
            <a:ext cx="5608000" cy="1421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9931279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8" name="Google Shape;48;p7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9" name="Google Shape;49;p7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ubTitle" idx="1"/>
          </p:nvPr>
        </p:nvSpPr>
        <p:spPr>
          <a:xfrm>
            <a:off x="4620300" y="2038667"/>
            <a:ext cx="6620800" cy="4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20853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028760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sz="5400" dirty="0"/>
              <a:t>Artificial Intelligence</a:t>
            </a:r>
            <a:br>
              <a:rPr lang="en-US" sz="6000" dirty="0"/>
            </a:br>
            <a:r>
              <a:rPr lang="en" sz="2800" dirty="0">
                <a:solidFill>
                  <a:schemeClr val="accent4"/>
                </a:solidFill>
              </a:rPr>
              <a:t>(Machine Learning &amp; Deep Learning)</a:t>
            </a:r>
            <a:endParaRPr sz="2800" dirty="0"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1"/>
          </p:nvPr>
        </p:nvSpPr>
        <p:spPr>
          <a:xfrm>
            <a:off x="3217849" y="4473517"/>
            <a:ext cx="8487720" cy="5670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867" dirty="0"/>
              <a:t>Recap </a:t>
            </a:r>
            <a:r>
              <a:rPr lang="en-US" sz="2000" dirty="0"/>
              <a:t>Testing - Evaluation Metrics</a:t>
            </a:r>
            <a:endParaRPr lang="en-US" sz="1867" dirty="0"/>
          </a:p>
        </p:txBody>
      </p:sp>
      <p:sp>
        <p:nvSpPr>
          <p:cNvPr id="240" name="Google Shape;240;p31"/>
          <p:cNvSpPr txBox="1"/>
          <p:nvPr/>
        </p:nvSpPr>
        <p:spPr>
          <a:xfrm>
            <a:off x="2796400" y="761333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E81A81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E81A81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11450667" y="5335900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4CAE97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3796500" y="5477887"/>
            <a:ext cx="19300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94EE6B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94EE6B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243" name="Google Shape;243;p3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244" name="Google Shape;244;p3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3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3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31"/>
          <p:cNvGrpSpPr/>
          <p:nvPr/>
        </p:nvGrpSpPr>
        <p:grpSpPr>
          <a:xfrm>
            <a:off x="340175" y="928586"/>
            <a:ext cx="3170543" cy="5210084"/>
            <a:chOff x="5" y="747463"/>
            <a:chExt cx="2377907" cy="3907563"/>
          </a:xfrm>
        </p:grpSpPr>
        <p:sp>
          <p:nvSpPr>
            <p:cNvPr id="248" name="Google Shape;248;p31"/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Contents </a:t>
            </a:r>
            <a:r>
              <a:rPr lang="en" dirty="0">
                <a:solidFill>
                  <a:schemeClr val="accent4"/>
                </a:solidFill>
              </a:rPr>
              <a:t>of Day 27</a:t>
            </a:r>
            <a:br>
              <a:rPr lang="en" dirty="0">
                <a:solidFill>
                  <a:schemeClr val="accent4"/>
                </a:solidFill>
              </a:rPr>
            </a:br>
            <a:endParaRPr dirty="0">
              <a:solidFill>
                <a:schemeClr val="accent4"/>
              </a:solidFill>
            </a:endParaRPr>
          </a:p>
        </p:txBody>
      </p:sp>
      <p:sp>
        <p:nvSpPr>
          <p:cNvPr id="298" name="Google Shape;298;p3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299" name="Google Shape;299;p32"/>
          <p:cNvGraphicFramePr/>
          <p:nvPr>
            <p:extLst>
              <p:ext uri="{D42A27DB-BD31-4B8C-83A1-F6EECF244321}">
                <p14:modId xmlns:p14="http://schemas.microsoft.com/office/powerpoint/2010/main" val="1137735056"/>
              </p:ext>
            </p:extLst>
          </p:nvPr>
        </p:nvGraphicFramePr>
        <p:xfrm>
          <a:off x="968901" y="2328148"/>
          <a:ext cx="10272000" cy="356329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32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Recap &amp; introduction</a:t>
                      </a:r>
                      <a:endParaRPr sz="1500" dirty="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Moving from Python OOP to Data Science. Why AI needs data.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Core Thoery</a:t>
                      </a:r>
                      <a:endParaRPr sz="1500" dirty="0">
                        <a:solidFill>
                          <a:schemeClr val="accen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Multivariate Linear Regression</a:t>
                      </a:r>
                      <a:b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</a:b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The Equation &amp; The Weights.</a:t>
                      </a:r>
                      <a:b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</a:br>
                      <a:r>
                        <a:rPr lang="en-US" sz="1400" b="1" dirty="0"/>
                        <a:t>Feature Scaling (Fixing the Impressions bug).</a:t>
                      </a:r>
                    </a:p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Training the Model with scikit-learn.</a:t>
                      </a:r>
                    </a:p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Evaluation Metrics (MAE and R and R2 Score).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Lab Practice</a:t>
                      </a:r>
                      <a:endParaRPr sz="1500" dirty="0">
                        <a:solidFill>
                          <a:schemeClr val="accent4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Practical coding tasks implementing method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5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Advance Lab</a:t>
                      </a:r>
                      <a:endParaRPr sz="1500" dirty="0">
                        <a:solidFill>
                          <a:schemeClr val="accent5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Understanding the logic with real world examples.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1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Wrap-up &amp; Q&amp;A</a:t>
                      </a:r>
                      <a:endParaRPr sz="1500" dirty="0">
                        <a:solidFill>
                          <a:schemeClr val="accent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Debugging tips along with Q&amp;A and suggestion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0" name="Google Shape;300;p32"/>
          <p:cNvSpPr txBox="1"/>
          <p:nvPr/>
        </p:nvSpPr>
        <p:spPr>
          <a:xfrm>
            <a:off x="951099" y="5523067"/>
            <a:ext cx="4085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endParaRPr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478E5AC7-4524-6A51-8B39-8D8899921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What is Model Testing?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Training is only half the job.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Testing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the other half.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Split your data: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80%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Train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model learns from this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20%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Test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model is evaluated on this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Never let model see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test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data during training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danger without testing: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Model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memorizes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training data → fails on real world data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Test data = the real exam. Training = practice.</a:t>
            </a:r>
          </a:p>
        </p:txBody>
      </p:sp>
    </p:spTree>
    <p:extLst>
      <p:ext uri="{BB962C8B-B14F-4D97-AF65-F5344CB8AC3E}">
        <p14:creationId xmlns:p14="http://schemas.microsoft.com/office/powerpoint/2010/main" val="2300154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FAE09901-1EA4-1281-E9D0-75400B034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Why Accuracy Alone 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95% of emails are NOT spam.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 model that always says "not spam" gets 95%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accuracy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But catches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zero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actual spam.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Accuracy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lied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 us.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We need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smarter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metrics.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High accuracy on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imbalanced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data means nothing.</a:t>
            </a:r>
          </a:p>
        </p:txBody>
      </p:sp>
    </p:spTree>
    <p:extLst>
      <p:ext uri="{BB962C8B-B14F-4D97-AF65-F5344CB8AC3E}">
        <p14:creationId xmlns:p14="http://schemas.microsoft.com/office/powerpoint/2010/main" val="3664333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B93EF743-37DF-61A5-E507-BEE9CB679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The Confusion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Four possible outcomes for any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prediction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TP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predicted positive, actually positive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chemeClr val="accent2">
                    <a:lumMod val="50000"/>
                  </a:schemeClr>
                </a:solidFill>
                <a:latin typeface="Source Code Pro"/>
              </a:rPr>
              <a:t>TN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predicted negative, actually negative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FP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predicted positive, actually negative (false alarm)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chemeClr val="accent4">
                    <a:lumMod val="75000"/>
                  </a:schemeClr>
                </a:solidFill>
                <a:latin typeface="Source Code Pro"/>
              </a:rPr>
              <a:t>FN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predicted negative, actually positive (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missed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case)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Most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dangerous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FN in medical diagnosis.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"Healthy" prediction for a cancer patient = deadly mistake.</a:t>
            </a:r>
          </a:p>
        </p:txBody>
      </p:sp>
    </p:spTree>
    <p:extLst>
      <p:ext uri="{BB962C8B-B14F-4D97-AF65-F5344CB8AC3E}">
        <p14:creationId xmlns:p14="http://schemas.microsoft.com/office/powerpoint/2010/main" val="4066680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DDBB3FB-1E1D-5346-0FB9-55028EA8A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Precision and Recall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FD4A4A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FD4A4A"/>
                </a:solidFill>
                <a:latin typeface="Source Code Pro"/>
              </a:rPr>
              <a:t>Precision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out of everything I called positive, how many truly were?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Use when: false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alarms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are costly (spam filter)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FD4A4A"/>
                </a:solidFill>
                <a:latin typeface="Source Code Pro"/>
              </a:rPr>
              <a:t>Recall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out of all real positives, how many did I catch?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Use when: missing cases is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costly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(cancer detection)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tradeoff: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chemeClr val="accent1"/>
                </a:solidFill>
                <a:latin typeface="Source Code Pro"/>
              </a:rPr>
              <a:t>High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Precision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fewer false alarms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rgbClr val="00B0F0"/>
                </a:solidFill>
                <a:latin typeface="Source Code Pro"/>
              </a:rPr>
              <a:t>High Recall 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→ catches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everything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but more false alarms</a:t>
            </a:r>
          </a:p>
        </p:txBody>
      </p:sp>
    </p:spTree>
    <p:extLst>
      <p:ext uri="{BB962C8B-B14F-4D97-AF65-F5344CB8AC3E}">
        <p14:creationId xmlns:p14="http://schemas.microsoft.com/office/powerpoint/2010/main" val="3174017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7EC5CC58-C86D-B3EF-39BE-FB3282AB8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F1-Score and AUC-ROC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4CAE9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4CAE97"/>
                </a:solidFill>
                <a:latin typeface="Source Code Pro"/>
              </a:rPr>
              <a:t>F1</a:t>
            </a:r>
            <a:r>
              <a:rPr lang="en-US" sz="1400" b="1" dirty="0">
                <a:solidFill>
                  <a:srgbClr val="4CAE97"/>
                </a:solidFill>
                <a:latin typeface="Source Code Pro"/>
              </a:rPr>
              <a:t>-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Score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balances Precision and Recall into one number.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F1 = 2 × (Precision × Recall) / (Precision + Recall)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Use F1 when both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mistakes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matter equally.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C7955"/>
                </a:solidFill>
                <a:latin typeface="Source Code Pro"/>
              </a:rPr>
              <a:t>AUC</a:t>
            </a:r>
            <a:r>
              <a:rPr lang="en-US" sz="1400" b="1" dirty="0">
                <a:solidFill>
                  <a:srgbClr val="EC7955"/>
                </a:solidFill>
                <a:latin typeface="Source Code Pro"/>
              </a:rPr>
              <a:t>-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ROC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measures model quality across all thresholds.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AUC = 1.0 →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perfect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model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AUC = 0.5 → random guessing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Use AUC when dataset is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imbalanced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83430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4F5C0FC-1DBC-A7CC-FAC6-09829C351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Regression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94EE6B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94EE6B"/>
                </a:solidFill>
                <a:latin typeface="Source Code Pro"/>
              </a:rPr>
              <a:t>Regression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predicts a number not a category.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4CAE97"/>
                </a:solidFill>
                <a:latin typeface="Source Code Pro"/>
              </a:rPr>
              <a:t>MAE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average error. Simple. Ignores outliers.</a:t>
            </a:r>
          </a:p>
          <a:p>
            <a:pPr algn="l"/>
            <a:r>
              <a:rPr sz="1400" b="1" dirty="0">
                <a:solidFill>
                  <a:srgbClr val="E81A81"/>
                </a:solidFill>
                <a:latin typeface="Source Code Pro"/>
              </a:rPr>
              <a:t>MSE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squares errors. Punishes big mistakes heavily.</a:t>
            </a:r>
          </a:p>
          <a:p>
            <a:pPr algn="l"/>
            <a:r>
              <a:rPr sz="1400" b="1" dirty="0">
                <a:solidFill>
                  <a:srgbClr val="FD4A4A"/>
                </a:solidFill>
                <a:latin typeface="Source Code Pro"/>
              </a:rPr>
              <a:t>RMSE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square root of MSE. Most commonly used.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R² → how well model explains the data.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R² = 1 → perfect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R² = 0 → no better than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guessing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the mean</a:t>
            </a:r>
          </a:p>
        </p:txBody>
      </p:sp>
    </p:spTree>
    <p:extLst>
      <p:ext uri="{BB962C8B-B14F-4D97-AF65-F5344CB8AC3E}">
        <p14:creationId xmlns:p14="http://schemas.microsoft.com/office/powerpoint/2010/main" val="721575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7C055C9-C156-1F68-35AF-7995F54AF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AI vs ML vs Deep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Three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nested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levels. Not the same thing.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00B0F0"/>
                </a:solidFill>
                <a:latin typeface="Source Code Pro"/>
              </a:rPr>
              <a:t>AI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makes machines seem intelligent (biggest circle)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C7955"/>
                </a:solidFill>
                <a:latin typeface="Source Code Pro"/>
              </a:rPr>
              <a:t>ML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machines learn patterns from data (inside AI)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4CAE97"/>
                </a:solidFill>
                <a:latin typeface="Source Code Pro"/>
              </a:rPr>
              <a:t>DL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neural networks with many layers (inside ML)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Simple analogy: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AI = </a:t>
            </a:r>
            <a:r>
              <a:rPr sz="1400" b="1" dirty="0">
                <a:solidFill>
                  <a:srgbClr val="00B0F0"/>
                </a:solidFill>
                <a:latin typeface="Source Code Pro"/>
              </a:rPr>
              <a:t>the</a:t>
            </a:r>
            <a:r>
              <a:rPr sz="1400" dirty="0">
                <a:solidFill>
                  <a:srgbClr val="00B0F0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00B0F0"/>
                </a:solidFill>
                <a:latin typeface="Source Code Pro"/>
              </a:rPr>
              <a:t>goal</a:t>
            </a:r>
            <a:endParaRPr lang="en-US" sz="1400" b="1" dirty="0">
              <a:solidFill>
                <a:srgbClr val="00B0F0"/>
              </a:solidFill>
              <a:latin typeface="Source Code Pro"/>
            </a:endParaRPr>
          </a:p>
          <a:p>
            <a:pPr algn="l"/>
            <a:endParaRPr sz="1400" b="1" dirty="0">
              <a:solidFill>
                <a:srgbClr val="00B0F0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ML = </a:t>
            </a:r>
            <a:r>
              <a:rPr sz="1400" b="1" dirty="0">
                <a:solidFill>
                  <a:schemeClr val="tx2"/>
                </a:solidFill>
                <a:latin typeface="Source Code Pro"/>
              </a:rPr>
              <a:t>one method to reach it</a:t>
            </a:r>
            <a:endParaRPr lang="en-US" sz="1400" b="1" dirty="0">
              <a:solidFill>
                <a:schemeClr val="tx2"/>
              </a:solidFill>
              <a:latin typeface="Source Code Pro"/>
            </a:endParaRPr>
          </a:p>
          <a:p>
            <a:pPr algn="l"/>
            <a:endParaRPr sz="1400" b="1" dirty="0">
              <a:solidFill>
                <a:schemeClr val="tx2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Deep Learning = </a:t>
            </a:r>
            <a:r>
              <a:rPr sz="1400" b="1" dirty="0">
                <a:solidFill>
                  <a:schemeClr val="accent1"/>
                </a:solidFill>
                <a:latin typeface="Source Code Pro"/>
              </a:rPr>
              <a:t>the most powerful method today</a:t>
            </a:r>
          </a:p>
        </p:txBody>
      </p:sp>
    </p:spTree>
    <p:extLst>
      <p:ext uri="{BB962C8B-B14F-4D97-AF65-F5344CB8AC3E}">
        <p14:creationId xmlns:p14="http://schemas.microsoft.com/office/powerpoint/2010/main" val="2683934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F3C24B5-FA2A-A20C-CFEF-E96090FCD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Machine Learning - Three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94EE6B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94EE6B"/>
                </a:solidFill>
                <a:latin typeface="Source Code Pro"/>
              </a:rPr>
              <a:t>Supervised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learns from labeled data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Examples: spam detection, sentiment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analysis</a:t>
            </a:r>
            <a:endParaRPr lang="en-US" sz="1400" b="1" dirty="0">
              <a:solidFill>
                <a:srgbClr val="FD4A4A"/>
              </a:solidFill>
              <a:latin typeface="Source Code Pro"/>
            </a:endParaRPr>
          </a:p>
          <a:p>
            <a:pPr algn="l"/>
            <a:endParaRPr sz="1400" b="1" dirty="0">
              <a:solidFill>
                <a:srgbClr val="FD4A4A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00B0F0"/>
                </a:solidFill>
                <a:latin typeface="Source Code Pro"/>
              </a:rPr>
              <a:t>Unsupervised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finds hidden patterns, no labels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Examples: topic modeling, </a:t>
            </a:r>
            <a:r>
              <a:rPr sz="1400" b="1" dirty="0">
                <a:solidFill>
                  <a:schemeClr val="tx2"/>
                </a:solidFill>
                <a:latin typeface="Source Code Pro"/>
              </a:rPr>
              <a:t>clustering</a:t>
            </a:r>
            <a:endParaRPr lang="en-US" sz="1400" b="1" dirty="0">
              <a:solidFill>
                <a:schemeClr val="tx2"/>
              </a:solidFill>
              <a:latin typeface="Source Code Pro"/>
            </a:endParaRPr>
          </a:p>
          <a:p>
            <a:pPr algn="l"/>
            <a:endParaRPr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BD64B5"/>
                </a:solidFill>
                <a:latin typeface="Source Code Pro"/>
              </a:rPr>
              <a:t>Reinforcement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learns by trial and error via rewards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Examples: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games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ChatGPT training (RLHF)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NLP uses all three depending on whether you have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labels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24674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A27396EA-B3CB-5765-A2BF-6067CF0C0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Deep Learning -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Three layers in every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neural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network: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rgbClr val="00B0F0"/>
                </a:solidFill>
                <a:latin typeface="Source Code Pro"/>
              </a:rPr>
              <a:t>Input layer 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→ receives raw data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chemeClr val="accent2">
                    <a:lumMod val="75000"/>
                  </a:schemeClr>
                </a:solidFill>
                <a:latin typeface="Source Code Pro"/>
              </a:rPr>
              <a:t>Hidden layers 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→ learn patterns automatically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chemeClr val="accent1"/>
                </a:solidFill>
                <a:latin typeface="Source Code Pro"/>
              </a:rPr>
              <a:t>Output layer 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→ produces the prediction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Training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loop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(repeats millions of times):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1. Make prediction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2. Measure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error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(loss)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3. Update weights (Gradient Descent)</a:t>
            </a:r>
          </a:p>
        </p:txBody>
      </p:sp>
    </p:spTree>
    <p:extLst>
      <p:ext uri="{BB962C8B-B14F-4D97-AF65-F5344CB8AC3E}">
        <p14:creationId xmlns:p14="http://schemas.microsoft.com/office/powerpoint/2010/main" val="820022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72B9FC64-41CB-FD68-6031-A0DC2CA1A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ML vs Deep Learning - When to Use Which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Use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Machine</a:t>
            </a:r>
            <a:r>
              <a:rPr lang="en-US" sz="1400" b="1" dirty="0">
                <a:solidFill>
                  <a:srgbClr val="E81A81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Learning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when: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Small dataset, limited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compute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Need explainable results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Structured/tabular data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Use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Deep</a:t>
            </a:r>
            <a:r>
              <a:rPr lang="en-US" sz="1400" b="1" dirty="0">
                <a:solidFill>
                  <a:srgbClr val="94EE6B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Learning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when: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Large dataset, GPU available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Unstructured data: text,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images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audio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NLP rule: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Small task → TF-IDF + Naive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Bayes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Large task →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BERT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or GPT</a:t>
            </a:r>
            <a:br>
              <a:rPr lang="en-US" sz="1400" dirty="0">
                <a:solidFill>
                  <a:srgbClr val="E7E7E7"/>
                </a:solidFill>
                <a:latin typeface="Source Code Pro"/>
              </a:rPr>
            </a:br>
            <a:br>
              <a:rPr lang="en-US" sz="1400" dirty="0">
                <a:solidFill>
                  <a:srgbClr val="E7E7E7"/>
                </a:solidFill>
                <a:latin typeface="Source Code Pro"/>
              </a:rPr>
            </a:br>
            <a:br>
              <a:rPr lang="en-US" sz="1400" dirty="0">
                <a:solidFill>
                  <a:srgbClr val="E7E7E7"/>
                </a:solidFill>
                <a:latin typeface="Source Code Pro"/>
              </a:rPr>
            </a:br>
            <a:r>
              <a:rPr lang="en-US" sz="1400" b="1" dirty="0">
                <a:solidFill>
                  <a:srgbClr val="00B0F0"/>
                </a:solidFill>
                <a:latin typeface="Source Code Pro"/>
              </a:rPr>
              <a:t>BERT (Bidirectional Encoder Representations from Transformers) 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is a Google AI model designed to understand the deep context of language by reading text in both directions, making it ideal for search and text classification.</a:t>
            </a:r>
          </a:p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b="1" dirty="0">
                <a:solidFill>
                  <a:schemeClr val="accent1"/>
                </a:solidFill>
                <a:latin typeface="Source Code Pro"/>
              </a:rPr>
              <a:t>GPT (Generative Pre-trained Transformer) 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is an OpenAI model specialized in generating fluent, human-like text by predicting the next word in a sequence</a:t>
            </a:r>
            <a:endParaRPr sz="1400" dirty="0">
              <a:solidFill>
                <a:srgbClr val="E7E7E7"/>
              </a:solidFill>
              <a:latin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1839216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DE327A70-EE1E-F9B1-7E12-EFB56B1C3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Dataset Imbalance -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94EE6B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94EE6B"/>
                </a:solidFill>
                <a:latin typeface="Source Code Pro"/>
              </a:rPr>
              <a:t>Imbalance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one class has far more samples than another.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Example: 99% normal transactions, 1%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fraud</a:t>
            </a:r>
            <a:endParaRPr lang="en-US" sz="1400" b="1" dirty="0">
              <a:solidFill>
                <a:srgbClr val="94EE6B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94EE6B"/>
              </a:solidFill>
              <a:latin typeface="Source Code Pro"/>
            </a:endParaRPr>
          </a:p>
          <a:p>
            <a:pPr algn="l"/>
            <a:endParaRPr sz="1400" b="1" dirty="0">
              <a:solidFill>
                <a:srgbClr val="94EE6B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What goes wrong: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Model always predicts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majority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class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Gets high accuracy but catches zero minority cases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Real danger: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95 healthy, 5 cancer patients.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Model says everyone is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healthy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BD64B5"/>
                </a:solidFill>
                <a:latin typeface="Source Code Pro"/>
              </a:rPr>
              <a:t>Accuracy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95% but all 5 cancer patients were missed.</a:t>
            </a:r>
          </a:p>
        </p:txBody>
      </p:sp>
    </p:spTree>
    <p:extLst>
      <p:ext uri="{BB962C8B-B14F-4D97-AF65-F5344CB8AC3E}">
        <p14:creationId xmlns:p14="http://schemas.microsoft.com/office/powerpoint/2010/main" val="593406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A07031FE-2C94-6428-17AF-2EFF6FBAC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Detecting Imbalance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Check your class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distribution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first.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from collections import Counter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Counter(y) → {0: </a:t>
            </a:r>
            <a:r>
              <a:rPr sz="1400" b="1" dirty="0">
                <a:solidFill>
                  <a:srgbClr val="7030A0"/>
                </a:solidFill>
                <a:latin typeface="Source Code Pro"/>
              </a:rPr>
              <a:t>9500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1: </a:t>
            </a:r>
            <a:r>
              <a:rPr sz="1400" b="1" dirty="0">
                <a:solidFill>
                  <a:srgbClr val="7030A0"/>
                </a:solidFill>
                <a:latin typeface="Source Code Pro"/>
              </a:rPr>
              <a:t>500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}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Ratio = 19:1 → serious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imbalance</a:t>
            </a:r>
            <a:endParaRPr lang="en-US" sz="1400" b="1" dirty="0">
              <a:solidFill>
                <a:srgbClr val="FD4A4A"/>
              </a:solidFill>
              <a:latin typeface="Source Code Pro"/>
            </a:endParaRPr>
          </a:p>
          <a:p>
            <a:pPr algn="l"/>
            <a:endParaRPr sz="1400" b="1" dirty="0">
              <a:solidFill>
                <a:srgbClr val="FD4A4A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Severity guide: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1:3 →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balanced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no action needed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1:10 → mild, consider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fixing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1:100 → extreme, must fix aggressively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Sign of imbalance: high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accuracy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but near-zero Recall on minority class.</a:t>
            </a:r>
          </a:p>
        </p:txBody>
      </p:sp>
    </p:spTree>
    <p:extLst>
      <p:ext uri="{BB962C8B-B14F-4D97-AF65-F5344CB8AC3E}">
        <p14:creationId xmlns:p14="http://schemas.microsoft.com/office/powerpoint/2010/main" val="1012003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87B10FDB-0640-4185-E584-0FA956B0E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Remedy 1 - Resampling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BD64B5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BD64B5"/>
                </a:solidFill>
                <a:latin typeface="Source Code Pro"/>
              </a:rPr>
              <a:t>Over</a:t>
            </a:r>
            <a:r>
              <a:rPr lang="en-US" sz="1400" b="1" dirty="0">
                <a:solidFill>
                  <a:srgbClr val="BD64B5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sampling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add more minority samples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FD4A4A"/>
                </a:solidFill>
                <a:latin typeface="Source Code Pro"/>
              </a:rPr>
              <a:t>Under</a:t>
            </a:r>
            <a:r>
              <a:rPr lang="en-US" sz="1400" b="1" dirty="0">
                <a:solidFill>
                  <a:srgbClr val="FD4A4A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sampling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remove majority samples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Best method: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SMOTE</a:t>
            </a:r>
            <a:endParaRPr lang="en-US" sz="1400" b="1" dirty="0">
              <a:solidFill>
                <a:srgbClr val="E81A81"/>
              </a:solidFill>
              <a:latin typeface="Source Code Pro"/>
            </a:endParaRPr>
          </a:p>
          <a:p>
            <a:pPr algn="l"/>
            <a:endParaRPr sz="1400" b="1" dirty="0">
              <a:solidFill>
                <a:srgbClr val="E81A81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Creates NEW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synthetic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minority samples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Not just copies → avoids overfitting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from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imblearn.over_sampling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import SMOTE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X_res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y_res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SMOTE().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fit_resample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(X,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SMOTE is the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gold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standard for fixing imbalanced datasets.</a:t>
            </a:r>
          </a:p>
        </p:txBody>
      </p:sp>
    </p:spTree>
    <p:extLst>
      <p:ext uri="{BB962C8B-B14F-4D97-AF65-F5344CB8AC3E}">
        <p14:creationId xmlns:p14="http://schemas.microsoft.com/office/powerpoint/2010/main" val="2612402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DAA81348-BCB2-291E-1676-C8F39ACAE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Remedy 2 - Text Augmentation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4CAE9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4CAE97"/>
                </a:solidFill>
                <a:latin typeface="Source Code Pro"/>
              </a:rPr>
              <a:t>Augmentation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creates new text by modifying existing samples.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Techniques: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Synonym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Replacement → "I love NLP" → "I adore NLP"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Back </a:t>
            </a:r>
            <a:r>
              <a:rPr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Source Code Pro"/>
              </a:rPr>
              <a:t>Translation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English → Urdu → English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Random </a:t>
            </a:r>
            <a:r>
              <a:rPr sz="1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Source Code Pro"/>
              </a:rPr>
              <a:t>Deletion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remove low-importance words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Random </a:t>
            </a:r>
            <a:r>
              <a:rPr sz="1400" b="1" dirty="0">
                <a:solidFill>
                  <a:schemeClr val="accent4">
                    <a:lumMod val="75000"/>
                  </a:schemeClr>
                </a:solidFill>
                <a:latin typeface="Source Code Pro"/>
              </a:rPr>
              <a:t>Insertion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add synonyms into sentence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pip install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nlpaug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import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nlpaug.augmenter.word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as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naw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aug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naw.SynonymAug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result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aug.augment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("I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love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NLP")</a:t>
            </a:r>
          </a:p>
        </p:txBody>
      </p:sp>
    </p:spTree>
    <p:extLst>
      <p:ext uri="{BB962C8B-B14F-4D97-AF65-F5344CB8AC3E}">
        <p14:creationId xmlns:p14="http://schemas.microsoft.com/office/powerpoint/2010/main" val="37962026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3952D5D7-F6E2-949D-ACAB-7F8E8A916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Remedy 3 - Algorithm Fixes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Method 1: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Class</a:t>
            </a:r>
            <a:r>
              <a:rPr lang="en-US" sz="1400" b="1" dirty="0">
                <a:solidFill>
                  <a:srgbClr val="EC7955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Weights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Penalize minority mistakes more heavily during training.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model = SVC(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class_weight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='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balanced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Method 2: </a:t>
            </a:r>
            <a:r>
              <a:rPr sz="1400" b="1" dirty="0">
                <a:solidFill>
                  <a:schemeClr val="accent1"/>
                </a:solidFill>
                <a:latin typeface="Source Code Pro"/>
              </a:rPr>
              <a:t>Threshold</a:t>
            </a:r>
            <a:r>
              <a:rPr sz="1400" dirty="0">
                <a:solidFill>
                  <a:schemeClr val="accent1"/>
                </a:solidFill>
                <a:latin typeface="Source Code Pro"/>
              </a:rPr>
              <a:t> </a:t>
            </a:r>
            <a:r>
              <a:rPr sz="1400" b="1" dirty="0">
                <a:solidFill>
                  <a:schemeClr val="accent1"/>
                </a:solidFill>
                <a:latin typeface="Source Code Pro"/>
              </a:rPr>
              <a:t>Tuning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Lower decision threshold → catches more minority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cases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Default = 0.5. Try 0.3 for higher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Recall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Method 3: </a:t>
            </a:r>
            <a:r>
              <a:rPr sz="1400" b="1" dirty="0">
                <a:solidFill>
                  <a:srgbClr val="00B0F0"/>
                </a:solidFill>
                <a:latin typeface="Source Code Pro"/>
              </a:rPr>
              <a:t>Better</a:t>
            </a:r>
            <a:r>
              <a:rPr sz="1400" dirty="0">
                <a:solidFill>
                  <a:srgbClr val="00B0F0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00B0F0"/>
                </a:solidFill>
                <a:latin typeface="Source Code Pro"/>
              </a:rPr>
              <a:t>Algorithms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XGBoost and Random Forest handle imbalance naturally.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Best practice: combine all three levels together.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Data fix + algorithm fix +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correct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metric = best results.</a:t>
            </a:r>
          </a:p>
        </p:txBody>
      </p:sp>
    </p:spTree>
    <p:extLst>
      <p:ext uri="{BB962C8B-B14F-4D97-AF65-F5344CB8AC3E}">
        <p14:creationId xmlns:p14="http://schemas.microsoft.com/office/powerpoint/2010/main" val="19345972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514BACC-F5A4-1251-0F2E-8DC477A22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TfidfVectorizer - Text to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Converts raw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text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into a numerical matrix.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TF-IDF = Term Frequency × Inverse Document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Frequency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Common words like "the" →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low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score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Rare meaningful words like "fraud" → high score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from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sklearn.feature_extraction.text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import </a:t>
            </a:r>
            <a:r>
              <a:rPr sz="1400" b="1" dirty="0" err="1">
                <a:solidFill>
                  <a:srgbClr val="BD64B5"/>
                </a:solidFill>
                <a:latin typeface="Source Code Pro"/>
              </a:rPr>
              <a:t>TfidfVectorizer</a:t>
            </a:r>
            <a:br>
              <a:rPr lang="en-US" sz="1400" b="1" dirty="0">
                <a:solidFill>
                  <a:srgbClr val="BD64B5"/>
                </a:solidFill>
                <a:latin typeface="Source Code Pro"/>
              </a:rPr>
            </a:br>
            <a:endParaRPr sz="1400" b="1" dirty="0">
              <a:solidFill>
                <a:srgbClr val="BD64B5"/>
              </a:solidFill>
              <a:latin typeface="Source Code Pro"/>
            </a:endParaRP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tfidf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TfidfVectorizer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max_features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=3000)</a:t>
            </a:r>
            <a:br>
              <a:rPr lang="en-US" sz="1400" dirty="0">
                <a:solidFill>
                  <a:srgbClr val="E7E7E7"/>
                </a:solidFill>
                <a:latin typeface="Source Code Pro"/>
              </a:rPr>
            </a:b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X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tfidf.fit_transform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(texts)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Output: a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matrix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of numbers ready for any ML model.</a:t>
            </a:r>
          </a:p>
        </p:txBody>
      </p:sp>
    </p:spTree>
    <p:extLst>
      <p:ext uri="{BB962C8B-B14F-4D97-AF65-F5344CB8AC3E}">
        <p14:creationId xmlns:p14="http://schemas.microsoft.com/office/powerpoint/2010/main" val="22229622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BB761B8A-AD39-74DB-CE21-C42C12BD7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SelectKBest and chi2 - Feature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br>
              <a:rPr lang="en-US" sz="1400" b="1" dirty="0">
                <a:solidFill>
                  <a:srgbClr val="FD4A4A"/>
                </a:solidFill>
                <a:latin typeface="Source Code Pro"/>
              </a:rPr>
            </a:br>
            <a:r>
              <a:rPr sz="1400" b="1" dirty="0" err="1">
                <a:solidFill>
                  <a:srgbClr val="FD4A4A"/>
                </a:solidFill>
                <a:latin typeface="Source Code Pro"/>
              </a:rPr>
              <a:t>SelectKBest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keeps only the top K most useful features.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94EE6B"/>
                </a:solidFill>
                <a:latin typeface="Source Code Pro"/>
              </a:rPr>
              <a:t>chi2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the scoring method it uses.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Chi-Square measures how strongly each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word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is linked to a specific class (spam vs ham).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from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sklearn.feature_selection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import </a:t>
            </a:r>
            <a:r>
              <a:rPr sz="1400" b="1" dirty="0" err="1">
                <a:solidFill>
                  <a:srgbClr val="EC7955"/>
                </a:solidFill>
                <a:latin typeface="Source Code Pro"/>
              </a:rPr>
              <a:t>SelectKBest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chi2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selector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SelectKBest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(chi2, k=1000)</a:t>
            </a: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X_selected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selector.fit_transform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(X, y)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Result: removes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noise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faster and more accurate model.</a:t>
            </a:r>
          </a:p>
        </p:txBody>
      </p:sp>
    </p:spTree>
    <p:extLst>
      <p:ext uri="{BB962C8B-B14F-4D97-AF65-F5344CB8AC3E}">
        <p14:creationId xmlns:p14="http://schemas.microsoft.com/office/powerpoint/2010/main" val="40051584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572B421A-7769-7140-1880-651036E88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train_test_split - Splitting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Splits dataset into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training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and testing portions.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Never evaluate a model on data it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trained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on.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That is cheating → model just memorizes answers.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r>
              <a:rPr sz="1400" dirty="0">
                <a:solidFill>
                  <a:srgbClr val="E7E7E7"/>
                </a:solidFill>
                <a:latin typeface="Source Code Pro"/>
              </a:rPr>
              <a:t>80% goes to </a:t>
            </a:r>
            <a:r>
              <a:rPr sz="1400" b="1" dirty="0">
                <a:solidFill>
                  <a:srgbClr val="FF0000"/>
                </a:solidFill>
                <a:latin typeface="Source Code Pro"/>
              </a:rPr>
              <a:t>training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20% goes to </a:t>
            </a:r>
            <a:r>
              <a:rPr sz="1400" b="1" dirty="0">
                <a:solidFill>
                  <a:srgbClr val="FF0000"/>
                </a:solidFill>
                <a:latin typeface="Source Code Pro"/>
              </a:rPr>
              <a:t>testing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br>
              <a:rPr lang="en-US" sz="1400" dirty="0">
                <a:solidFill>
                  <a:srgbClr val="E7E7E7"/>
                </a:solidFill>
                <a:latin typeface="Source Code Pro"/>
              </a:rPr>
            </a:br>
            <a:br>
              <a:rPr lang="en-US" sz="1400" dirty="0">
                <a:solidFill>
                  <a:srgbClr val="E7E7E7"/>
                </a:solidFill>
                <a:latin typeface="Source Code Pro"/>
              </a:rPr>
            </a:br>
            <a:r>
              <a:rPr lang="en-US" sz="1400" dirty="0">
                <a:solidFill>
                  <a:srgbClr val="E7E7E7"/>
                </a:solidFill>
                <a:latin typeface="Source Code Pro"/>
              </a:rPr>
              <a:t>from </a:t>
            </a:r>
            <a:r>
              <a:rPr lang="en-US" sz="1400" dirty="0" err="1">
                <a:solidFill>
                  <a:srgbClr val="E7E7E7"/>
                </a:solidFill>
                <a:latin typeface="Source Code Pro"/>
              </a:rPr>
              <a:t>sklearn.model_selection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import </a:t>
            </a:r>
            <a:r>
              <a:rPr lang="en-US" sz="1400" b="1" dirty="0" err="1">
                <a:solidFill>
                  <a:srgbClr val="4CAE97"/>
                </a:solidFill>
                <a:latin typeface="Source Code Pro"/>
              </a:rPr>
              <a:t>train_test_split</a:t>
            </a:r>
            <a:endParaRPr lang="en-US" sz="1400" b="1" dirty="0">
              <a:solidFill>
                <a:srgbClr val="4CAE97"/>
              </a:solidFill>
              <a:latin typeface="Source Code Pro"/>
            </a:endParaRPr>
          </a:p>
          <a:p>
            <a:r>
              <a:rPr lang="en-US" sz="1400" dirty="0" err="1">
                <a:solidFill>
                  <a:srgbClr val="E7E7E7"/>
                </a:solidFill>
                <a:latin typeface="Source Code Pro"/>
              </a:rPr>
              <a:t>X_train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lang="en-US" sz="1400" dirty="0" err="1">
                <a:solidFill>
                  <a:srgbClr val="E7E7E7"/>
                </a:solidFill>
                <a:latin typeface="Source Code Pro"/>
              </a:rPr>
              <a:t>X_test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lang="en-US" sz="1400" dirty="0" err="1">
                <a:solidFill>
                  <a:srgbClr val="E7E7E7"/>
                </a:solidFill>
                <a:latin typeface="Source Code Pro"/>
              </a:rPr>
              <a:t>y_train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lang="en-US" sz="1400" dirty="0" err="1">
                <a:solidFill>
                  <a:srgbClr val="E7E7E7"/>
                </a:solidFill>
                <a:latin typeface="Source Code Pro"/>
              </a:rPr>
              <a:t>y_test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= </a:t>
            </a:r>
            <a:r>
              <a:rPr lang="en-US" sz="1400" dirty="0" err="1">
                <a:solidFill>
                  <a:srgbClr val="E7E7E7"/>
                </a:solidFill>
                <a:latin typeface="Source Code Pro"/>
              </a:rPr>
              <a:t>train_test_split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(</a:t>
            </a:r>
          </a:p>
          <a:p>
            <a:r>
              <a:rPr lang="en-US" sz="1400" dirty="0">
                <a:solidFill>
                  <a:srgbClr val="E7E7E7"/>
                </a:solidFill>
                <a:latin typeface="Source Code Pro"/>
              </a:rPr>
              <a:t>    X, y, </a:t>
            </a:r>
            <a:r>
              <a:rPr lang="en-US" sz="1400" dirty="0" err="1">
                <a:solidFill>
                  <a:srgbClr val="E7E7E7"/>
                </a:solidFill>
                <a:latin typeface="Source Code Pro"/>
              </a:rPr>
              <a:t>test_size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=0.2, </a:t>
            </a:r>
            <a:r>
              <a:rPr lang="en-US" sz="1400" b="1" dirty="0">
                <a:solidFill>
                  <a:srgbClr val="E81A81"/>
                </a:solidFill>
                <a:latin typeface="Source Code Pro"/>
              </a:rPr>
              <a:t>stratify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=y)</a:t>
            </a:r>
          </a:p>
          <a:p>
            <a:pPr algn="l"/>
            <a:br>
              <a:rPr lang="en-US" sz="1400" dirty="0">
                <a:solidFill>
                  <a:srgbClr val="E7E7E7"/>
                </a:solidFill>
                <a:latin typeface="Source Code Pro"/>
              </a:rPr>
            </a:br>
            <a:endParaRPr sz="1400" dirty="0">
              <a:solidFill>
                <a:srgbClr val="E7E7E7"/>
              </a:solidFill>
              <a:latin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39069024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16972BC6-6524-83F5-C24E-C6D88F7D6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MultinomialNB - Naive Bayes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94EE6B"/>
              </a:solidFill>
              <a:latin typeface="Source Code Pro"/>
            </a:endParaRPr>
          </a:p>
          <a:p>
            <a:pPr algn="l"/>
            <a:r>
              <a:rPr sz="1400" b="1" dirty="0" err="1">
                <a:solidFill>
                  <a:srgbClr val="94EE6B"/>
                </a:solidFill>
                <a:latin typeface="Source Code Pro"/>
              </a:rPr>
              <a:t>MultinomialNB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designed specifically for text data.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Uses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Bayes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theorem to calculate probability of spam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given the words inside the email.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"Naive" = assumes all words are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independent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of each other.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from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sklearn.naive_bayes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import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MultinomialNB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model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MultinomialNB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(alpha=0.1)</a:t>
            </a: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model.fit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X_train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y_train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Best for: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text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classification on small datasets. Very fast.</a:t>
            </a:r>
          </a:p>
        </p:txBody>
      </p:sp>
    </p:spTree>
    <p:extLst>
      <p:ext uri="{BB962C8B-B14F-4D97-AF65-F5344CB8AC3E}">
        <p14:creationId xmlns:p14="http://schemas.microsoft.com/office/powerpoint/2010/main" val="21073467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EB399DED-1598-81F6-DE27-901E704CF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LogisticRegression - Probability Classifier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Despite the name it is a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classification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algorithm.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Learns a weighted combination of features.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Passes result through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Sigmoid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function → probability 0 to 1.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from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sklearn.linear_model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import </a:t>
            </a:r>
            <a:r>
              <a:rPr sz="1400" b="1" dirty="0" err="1">
                <a:solidFill>
                  <a:srgbClr val="4CAE97"/>
                </a:solidFill>
                <a:latin typeface="Source Code Pro"/>
              </a:rPr>
              <a:t>LogisticRegression</a:t>
            </a:r>
            <a:endParaRPr sz="1400" b="1" dirty="0">
              <a:solidFill>
                <a:srgbClr val="4CAE9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model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LogisticRegression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max_iter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=1000)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probs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model.predict_proba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X_test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Best for: when you need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confidence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scores per prediction.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 output: "87% chance this email is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spam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."</a:t>
            </a:r>
          </a:p>
        </p:txBody>
      </p:sp>
    </p:spTree>
    <p:extLst>
      <p:ext uri="{BB962C8B-B14F-4D97-AF65-F5344CB8AC3E}">
        <p14:creationId xmlns:p14="http://schemas.microsoft.com/office/powerpoint/2010/main" val="28863734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0C0ADA3A-242A-17CD-A1A7-820A8E55E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LinearSVC - Support Vector Machine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One of the strongest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classifiers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for text data.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Finds the best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boundary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that separates spam from ham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with the maximum possible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margin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between classes.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from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sklearn.svm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import </a:t>
            </a:r>
            <a:r>
              <a:rPr sz="1400" b="1" dirty="0" err="1">
                <a:solidFill>
                  <a:srgbClr val="EC7955"/>
                </a:solidFill>
                <a:latin typeface="Source Code Pro"/>
              </a:rPr>
              <a:t>LinearSVC</a:t>
            </a:r>
            <a:endParaRPr sz="1400" b="1" dirty="0">
              <a:solidFill>
                <a:srgbClr val="EC7955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model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LinearSVC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max_iter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=2000)</a:t>
            </a: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model.fit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X_train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y_train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Best for: high-dimensional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text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data.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Note: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LinearSVC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does NOT support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predict_proba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().</a:t>
            </a:r>
          </a:p>
        </p:txBody>
      </p:sp>
    </p:spTree>
    <p:extLst>
      <p:ext uri="{BB962C8B-B14F-4D97-AF65-F5344CB8AC3E}">
        <p14:creationId xmlns:p14="http://schemas.microsoft.com/office/powerpoint/2010/main" val="23199271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3283F099-0F97-B6B9-F989-139BFAA89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accuracy_score and classification_report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EC7955"/>
              </a:solidFill>
              <a:latin typeface="Source Code Pro"/>
            </a:endParaRPr>
          </a:p>
          <a:p>
            <a:pPr algn="l"/>
            <a:r>
              <a:rPr sz="1400" b="1" dirty="0" err="1">
                <a:solidFill>
                  <a:srgbClr val="EC7955"/>
                </a:solidFill>
                <a:latin typeface="Source Code Pro"/>
              </a:rPr>
              <a:t>accuracy_score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correct predictions / total predictions.</a:t>
            </a: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accuracy_score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y_test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y_pred) → 0.97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Weakness: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misleading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on imbalanced data.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 err="1">
                <a:solidFill>
                  <a:srgbClr val="94EE6B"/>
                </a:solidFill>
                <a:latin typeface="Source Code Pro"/>
              </a:rPr>
              <a:t>classification_report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gives full table per class: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Precision,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Recall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F1 for each label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print(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classification_report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y_test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y_pred,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 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target_names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=['Ham', '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Spam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']))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Always use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classification_report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over accuracy alone.</a:t>
            </a:r>
          </a:p>
        </p:txBody>
      </p:sp>
    </p:spTree>
    <p:extLst>
      <p:ext uri="{BB962C8B-B14F-4D97-AF65-F5344CB8AC3E}">
        <p14:creationId xmlns:p14="http://schemas.microsoft.com/office/powerpoint/2010/main" val="6528468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1D811694-FB03-8F93-7A35-B487F5A81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precision_score and recall_score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94EE6B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94EE6B"/>
                </a:solidFill>
                <a:latin typeface="Source Code Pro"/>
              </a:rPr>
              <a:t>Precision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of everything predicted spam, how many truly were?</a:t>
            </a: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precision_score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y_test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y_pred) → 0.95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Use when: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false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alarms are costly (spam filter).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4CAE97"/>
                </a:solidFill>
                <a:latin typeface="Source Code Pro"/>
              </a:rPr>
              <a:t>Recall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of all real spam, how many did model catch?</a:t>
            </a: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recall_score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y_test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y_pred) → 0.92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Use when: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missing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cases is costly (cancer detection).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tradeoff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you cannot maximize both at the same time.</a:t>
            </a:r>
          </a:p>
        </p:txBody>
      </p:sp>
    </p:spTree>
    <p:extLst>
      <p:ext uri="{BB962C8B-B14F-4D97-AF65-F5344CB8AC3E}">
        <p14:creationId xmlns:p14="http://schemas.microsoft.com/office/powerpoint/2010/main" val="1506029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85C70654-2A9F-257A-1CFB-7E31D8209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f1_score - Balancing Both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4CAE9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4CAE97"/>
                </a:solidFill>
                <a:latin typeface="Source Code Pro"/>
              </a:rPr>
              <a:t>F1</a:t>
            </a:r>
            <a:r>
              <a:rPr lang="en-US" sz="1400" b="1" dirty="0">
                <a:solidFill>
                  <a:srgbClr val="4CAE9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Score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the balance between Precision and Recall.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Formula: 2 × (Precision × Recall) / (Precision +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Recall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  <a:br>
              <a:rPr lang="en-US" sz="1400" dirty="0">
                <a:solidFill>
                  <a:srgbClr val="E7E7E7"/>
                </a:solidFill>
                <a:latin typeface="Source Code Pro"/>
              </a:rPr>
            </a:b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f1_score(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y_test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y_pred) → 0.93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F1 = 1.0 →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perfect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model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F1 = 0.0 → completely broken model</a:t>
            </a:r>
          </a:p>
          <a:p>
            <a:pPr algn="l"/>
            <a:br>
              <a:rPr lang="en-US" sz="1400" dirty="0">
                <a:solidFill>
                  <a:srgbClr val="E7E7E7"/>
                </a:solidFill>
                <a:latin typeface="Source Code Pro"/>
              </a:rPr>
            </a:br>
            <a:r>
              <a:rPr sz="1400" dirty="0">
                <a:solidFill>
                  <a:srgbClr val="E7E7E7"/>
                </a:solidFill>
                <a:latin typeface="Source Code Pro"/>
              </a:rPr>
              <a:t>Use F1 when: BOTH false alarms AND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missed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cases matter.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Best default metric for any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imbalanced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text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36844493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CFE52EE-A45E-390B-D365-1944DD8EA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confusion_matrix - The Breakdown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E81A81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81A81"/>
                </a:solidFill>
                <a:latin typeface="Source Code Pro"/>
              </a:rPr>
              <a:t>Confusion</a:t>
            </a:r>
            <a:r>
              <a:rPr lang="en-US" sz="1400" b="1" dirty="0">
                <a:solidFill>
                  <a:srgbClr val="E81A81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Matrix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shows the 4 types of predictions.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cm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confusion_matrix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(y_test, y_pred)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Result: [[TN, FP], [FN,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TP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]]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TP → spam caught correctly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TN → ham passed correctly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FP → ham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wrongly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flagged as spam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FN → spam that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slipped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through (most dangerous)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Every metric (Precision, Recall, F1) is calculated from this table.</a:t>
            </a:r>
          </a:p>
        </p:txBody>
      </p:sp>
    </p:spTree>
    <p:extLst>
      <p:ext uri="{BB962C8B-B14F-4D97-AF65-F5344CB8AC3E}">
        <p14:creationId xmlns:p14="http://schemas.microsoft.com/office/powerpoint/2010/main" val="37627483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A94CEECC-7D96-2CD0-D9EA-8825054C8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roc_auc_score and roc_curve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BD64B5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BD64B5"/>
                </a:solidFill>
                <a:latin typeface="Source Code Pro"/>
              </a:rPr>
              <a:t>AUCROC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measures overall model quality across all thresholds.</a:t>
            </a: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roc_auc_score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(y_test,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y_prob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 → 0.98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AUC = 1.0 →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perfect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model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AUC = 0.5 → random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guessing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(useless)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 err="1">
                <a:solidFill>
                  <a:srgbClr val="E81A81"/>
                </a:solidFill>
                <a:latin typeface="Source Code Pro"/>
              </a:rPr>
              <a:t>roc_curve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returns points to draw the ROC graph.</a:t>
            </a: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fpr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tpr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thresholds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roc_curve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(y_test,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y_prob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Use AUC when: dataset is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imbalanced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or you need to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compare multiple models fairly on one chart.</a:t>
            </a:r>
          </a:p>
        </p:txBody>
      </p:sp>
    </p:spTree>
    <p:extLst>
      <p:ext uri="{BB962C8B-B14F-4D97-AF65-F5344CB8AC3E}">
        <p14:creationId xmlns:p14="http://schemas.microsoft.com/office/powerpoint/2010/main" val="30172547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07B45628-350C-26E3-F8E8-AAE1ABF9E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SMOTE - Fixing Class Imbalance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4CAE9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4CAE97"/>
                </a:solidFill>
                <a:latin typeface="Source Code Pro"/>
              </a:rPr>
              <a:t>SMOTE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Synthetic Minority Oversampling Technique.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Creates brand NEW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synthetic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minority samples.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NOT just copies → avoids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overfitting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How it works: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Finds nearest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neighbors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 minority class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Generates new points between them in feature space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from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imblearn.over_sampling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import SMOTE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smote = SMOTE(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random_state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=42)</a:t>
            </a: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X_bal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y_bal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smote.fit_resample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(X, y)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Before: spam=747. After: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spam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=4825. Perfectly balanced.</a:t>
            </a:r>
          </a:p>
        </p:txBody>
      </p:sp>
    </p:spTree>
    <p:extLst>
      <p:ext uri="{BB962C8B-B14F-4D97-AF65-F5344CB8AC3E}">
        <p14:creationId xmlns:p14="http://schemas.microsoft.com/office/powerpoint/2010/main" val="42836462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 txBox="1">
            <a:spLocks noGrp="1"/>
          </p:cNvSpPr>
          <p:nvPr>
            <p:ph type="title"/>
          </p:nvPr>
        </p:nvSpPr>
        <p:spPr>
          <a:xfrm>
            <a:off x="5662782" y="748501"/>
            <a:ext cx="5544039" cy="706416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sz="1867" dirty="0"/>
              <a:t>Thank You for Your Focus Today!</a:t>
            </a:r>
            <a:endParaRPr sz="1867" dirty="0"/>
          </a:p>
        </p:txBody>
      </p:sp>
      <p:sp>
        <p:nvSpPr>
          <p:cNvPr id="353" name="Google Shape;353;p34"/>
          <p:cNvSpPr txBox="1">
            <a:spLocks noGrp="1"/>
          </p:cNvSpPr>
          <p:nvPr>
            <p:ph type="subTitle" idx="1"/>
          </p:nvPr>
        </p:nvSpPr>
        <p:spPr>
          <a:xfrm>
            <a:off x="5459796" y="4751364"/>
            <a:ext cx="5608000" cy="174000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400" dirty="0"/>
              <a:t>Waleed Khan</a:t>
            </a:r>
            <a:br>
              <a:rPr lang="en-US" sz="1400" dirty="0"/>
            </a:br>
            <a:r>
              <a:rPr lang="en-US" sz="1400" dirty="0"/>
              <a:t>(</a:t>
            </a:r>
            <a:r>
              <a:rPr lang="en-US" sz="1200" dirty="0"/>
              <a:t>Robotics Engineer | Senior Python Developer)</a:t>
            </a:r>
            <a:br>
              <a:rPr lang="en-US" sz="1400" dirty="0"/>
            </a:br>
            <a:endParaRPr lang="en-US" sz="1400" dirty="0"/>
          </a:p>
          <a:p>
            <a:pPr marL="0" indent="0"/>
            <a:r>
              <a:rPr lang="en-US" sz="1400" dirty="0"/>
              <a:t>Email: 0xcloudcoder@gmail.com</a:t>
            </a:r>
            <a:br>
              <a:rPr lang="en-US" sz="1867" dirty="0"/>
            </a:br>
            <a:r>
              <a:rPr lang="en-US" sz="1400" dirty="0"/>
              <a:t>Contact: +923126008702</a:t>
            </a:r>
            <a:endParaRPr sz="1400" dirty="0"/>
          </a:p>
        </p:txBody>
      </p:sp>
      <p:sp>
        <p:nvSpPr>
          <p:cNvPr id="354" name="Google Shape;354;p34"/>
          <p:cNvSpPr txBox="1"/>
          <p:nvPr/>
        </p:nvSpPr>
        <p:spPr>
          <a:xfrm>
            <a:off x="11106533" y="53044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 dirty="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 dirty="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355" name="Google Shape;355;p34"/>
          <p:cNvGrpSpPr/>
          <p:nvPr/>
        </p:nvGrpSpPr>
        <p:grpSpPr>
          <a:xfrm>
            <a:off x="447523" y="928586"/>
            <a:ext cx="3909392" cy="5210084"/>
            <a:chOff x="335642" y="696438"/>
            <a:chExt cx="2932044" cy="3907563"/>
          </a:xfrm>
        </p:grpSpPr>
        <p:sp>
          <p:nvSpPr>
            <p:cNvPr id="356" name="Google Shape;356;p34"/>
            <p:cNvSpPr/>
            <p:nvPr/>
          </p:nvSpPr>
          <p:spPr>
            <a:xfrm>
              <a:off x="335642" y="70501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7" name="Google Shape;357;p34"/>
            <p:cNvSpPr/>
            <p:nvPr/>
          </p:nvSpPr>
          <p:spPr>
            <a:xfrm>
              <a:off x="821967" y="6964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335642" y="10172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335642" y="1343950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0" name="Google Shape;360;p34"/>
            <p:cNvSpPr/>
            <p:nvPr/>
          </p:nvSpPr>
          <p:spPr>
            <a:xfrm>
              <a:off x="335642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1" name="Google Shape;361;p34"/>
            <p:cNvSpPr/>
            <p:nvPr/>
          </p:nvSpPr>
          <p:spPr>
            <a:xfrm>
              <a:off x="770496" y="1670688"/>
              <a:ext cx="45446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2" name="Google Shape;362;p34"/>
            <p:cNvSpPr/>
            <p:nvPr/>
          </p:nvSpPr>
          <p:spPr>
            <a:xfrm>
              <a:off x="1304877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3" name="Google Shape;363;p34"/>
            <p:cNvSpPr/>
            <p:nvPr/>
          </p:nvSpPr>
          <p:spPr>
            <a:xfrm>
              <a:off x="335642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335642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335642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335642" y="29419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349364" y="37229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770496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731557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770496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1" name="Google Shape;371;p34"/>
            <p:cNvSpPr/>
            <p:nvPr/>
          </p:nvSpPr>
          <p:spPr>
            <a:xfrm>
              <a:off x="770496" y="2958925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770496" y="32848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1174186" y="1981263"/>
              <a:ext cx="63339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1174186" y="2324113"/>
              <a:ext cx="88477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1205349" y="26330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1205349" y="29775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1205349" y="3284813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1883777" y="1981263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2174096" y="2307150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2342750" y="26330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2342750" y="32848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349364" y="39620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731557" y="42455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1224956" y="4245513"/>
              <a:ext cx="52434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5" name="Google Shape;385;p34"/>
            <p:cNvSpPr/>
            <p:nvPr/>
          </p:nvSpPr>
          <p:spPr>
            <a:xfrm>
              <a:off x="1883777" y="4245513"/>
              <a:ext cx="661931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6" name="Google Shape;386;p34"/>
            <p:cNvSpPr/>
            <p:nvPr/>
          </p:nvSpPr>
          <p:spPr>
            <a:xfrm>
              <a:off x="2634075" y="4245513"/>
              <a:ext cx="241501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731557" y="4454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1224956" y="4454038"/>
              <a:ext cx="83390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2169156" y="44540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1250486" y="7083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821986" y="10172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2" name="Google Shape;392;p34"/>
            <p:cNvSpPr/>
            <p:nvPr/>
          </p:nvSpPr>
          <p:spPr>
            <a:xfrm>
              <a:off x="1555286" y="10131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3" name="Google Shape;393;p34"/>
            <p:cNvSpPr/>
            <p:nvPr/>
          </p:nvSpPr>
          <p:spPr>
            <a:xfrm>
              <a:off x="821979" y="13439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1739729" y="166862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2342754" y="29775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2537025" y="19812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7" name="Google Shape;397;p34"/>
            <p:cNvSpPr/>
            <p:nvPr/>
          </p:nvSpPr>
          <p:spPr>
            <a:xfrm>
              <a:off x="2805050" y="263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8" name="Google Shape;398;p34"/>
            <p:cNvSpPr/>
            <p:nvPr/>
          </p:nvSpPr>
          <p:spPr>
            <a:xfrm>
              <a:off x="2634386" y="44561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9" name="Google Shape;399;p34"/>
            <p:cNvSpPr/>
            <p:nvPr/>
          </p:nvSpPr>
          <p:spPr>
            <a:xfrm>
              <a:off x="770511" y="39365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770511" y="37064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401" name="Google Shape;401;p34"/>
          <p:cNvSpPr txBox="1"/>
          <p:nvPr/>
        </p:nvSpPr>
        <p:spPr>
          <a:xfrm>
            <a:off x="8854201" y="5162812"/>
            <a:ext cx="692400" cy="11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E2DD26-B17A-503C-A9CA-D2B6DDAE5AF0}"/>
              </a:ext>
            </a:extLst>
          </p:cNvPr>
          <p:cNvSpPr txBox="1"/>
          <p:nvPr/>
        </p:nvSpPr>
        <p:spPr>
          <a:xfrm>
            <a:off x="5387008" y="2407058"/>
            <a:ext cx="641192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What was the most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6000" dirty="0">
                <a:solidFill>
                  <a:schemeClr val="accent5">
                    <a:lumMod val="5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confusing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part of today's lab?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en-US" sz="16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y 6">
  <a:themeElements>
    <a:clrScheme name="Simple Light">
      <a:dk1>
        <a:srgbClr val="E7E7E7"/>
      </a:dk1>
      <a:lt1>
        <a:srgbClr val="10111A"/>
      </a:lt1>
      <a:dk2>
        <a:srgbClr val="FD4A4A"/>
      </a:dk2>
      <a:lt2>
        <a:srgbClr val="EC7955"/>
      </a:lt2>
      <a:accent1>
        <a:srgbClr val="E81A81"/>
      </a:accent1>
      <a:accent2>
        <a:srgbClr val="94EE6B"/>
      </a:accent2>
      <a:accent3>
        <a:srgbClr val="4CAE97"/>
      </a:accent3>
      <a:accent4>
        <a:srgbClr val="BD64B5"/>
      </a:accent4>
      <a:accent5>
        <a:srgbClr val="FFFF99"/>
      </a:accent5>
      <a:accent6>
        <a:srgbClr val="2C293A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y 6" id="{035ED6D3-E824-4B6B-AAF7-CA8C606A2217}" vid="{7F810BC9-F9DE-4B77-994F-C9059B10EE5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2323</Words>
  <Application>Microsoft Office PowerPoint</Application>
  <PresentationFormat>Widescreen</PresentationFormat>
  <Paragraphs>366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41" baseType="lpstr">
      <vt:lpstr>Arial</vt:lpstr>
      <vt:lpstr>Bebas Neue</vt:lpstr>
      <vt:lpstr>Calibri</vt:lpstr>
      <vt:lpstr>Comfortaa</vt:lpstr>
      <vt:lpstr>Fira Code</vt:lpstr>
      <vt:lpstr>Nunito Light</vt:lpstr>
      <vt:lpstr>PT Sans</vt:lpstr>
      <vt:lpstr>Source Code Pro</vt:lpstr>
      <vt:lpstr>Source Code Pro Medium</vt:lpstr>
      <vt:lpstr>Office 主题</vt:lpstr>
      <vt:lpstr>day 6</vt:lpstr>
      <vt:lpstr>Artificial Intelligence (Machine Learning &amp; Deep Learning)</vt:lpstr>
      <vt:lpstr>Contents of Day 27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Your Focus Today!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Master Mind</dc:creator>
  <cp:lastModifiedBy>Master Mind</cp:lastModifiedBy>
  <cp:revision>53</cp:revision>
  <dcterms:created xsi:type="dcterms:W3CDTF">2026-03-05T18:59:57Z</dcterms:created>
  <dcterms:modified xsi:type="dcterms:W3CDTF">2026-03-27T11:41:18Z</dcterms:modified>
</cp:coreProperties>
</file>