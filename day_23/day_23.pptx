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notesMasterIdLst>
    <p:notesMasterId r:id="rId5"/>
  </p:notesMasterIdLst>
  <p:sldIdLst>
    <p:sldId id="258" r:id="rId4"/>
    <p:sldId id="257" r:id="rId6"/>
    <p:sldId id="275" r:id="rId7"/>
    <p:sldId id="288" r:id="rId8"/>
    <p:sldId id="289" r:id="rId9"/>
    <p:sldId id="290" r:id="rId10"/>
    <p:sldId id="291" r:id="rId11"/>
    <p:sldId id="292" r:id="rId12"/>
    <p:sldId id="293" r:id="rId13"/>
    <p:sldId id="294" r:id="rId14"/>
    <p:sldId id="295" r:id="rId15"/>
    <p:sldId id="296" r:id="rId16"/>
    <p:sldId id="259" r:id="rId1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9" d="100"/>
          <a:sy n="119" d="100"/>
        </p:scale>
        <p:origin x="6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C99B2F-13C3-4916-9AE2-773954F7FF95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32A58F-A9F4-4EDD-94B3-A9547EE997E3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236" name="Google Shape;236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213be7910b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295" name="Google Shape;295;g213be7910ba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54dda1946d_6_2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350" name="Google Shape;350;g54dda1946d_6_2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 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title"/>
          </p:nvPr>
        </p:nvSpPr>
        <p:spPr>
          <a:xfrm>
            <a:off x="2047651" y="3021933"/>
            <a:ext cx="8847600" cy="1603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5335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3" name="Google Shape;13;p3"/>
          <p:cNvSpPr txBox="1">
            <a:spLocks noGrp="1"/>
          </p:cNvSpPr>
          <p:nvPr>
            <p:ph type="title" idx="2" hasCustomPrompt="1"/>
          </p:nvPr>
        </p:nvSpPr>
        <p:spPr>
          <a:xfrm>
            <a:off x="1317484" y="1800733"/>
            <a:ext cx="2202800" cy="1221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4" name="Google Shape;14;p3"/>
          <p:cNvSpPr txBox="1">
            <a:spLocks noGrp="1"/>
          </p:cNvSpPr>
          <p:nvPr>
            <p:ph type="subTitle" idx="1"/>
          </p:nvPr>
        </p:nvSpPr>
        <p:spPr>
          <a:xfrm>
            <a:off x="2773533" y="4625133"/>
            <a:ext cx="8058400" cy="37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2135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15" name="Google Shape;15;p3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6" name="Google Shape;16;p3"/>
          <p:cNvGrpSpPr/>
          <p:nvPr/>
        </p:nvGrpSpPr>
        <p:grpSpPr>
          <a:xfrm>
            <a:off x="11085100" y="470668"/>
            <a:ext cx="630800" cy="248667"/>
            <a:chOff x="7059675" y="514525"/>
            <a:chExt cx="473100" cy="186500"/>
          </a:xfrm>
        </p:grpSpPr>
        <p:cxnSp>
          <p:nvCxnSpPr>
            <p:cNvPr id="17" name="Google Shape;17;p3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" name="Google Shape;18;p3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" name="Google Shape;19;p3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 matchingName="Title and body">
  <p:cSld name="Title and 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22" name="Google Shape;22;p4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23" name="Google Shape;23;p4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" name="Google Shape;24;p4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" name="Google Shape;25;p4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26" name="Google Shape;26;p4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7" name="Google Shape;27;p4"/>
          <p:cNvSpPr txBox="1">
            <a:spLocks noGrp="1"/>
          </p:cNvSpPr>
          <p:nvPr>
            <p:ph type="body" idx="1"/>
          </p:nvPr>
        </p:nvSpPr>
        <p:spPr>
          <a:xfrm>
            <a:off x="960000" y="1621000"/>
            <a:ext cx="10272000" cy="375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600" lvl="0" indent="-423545" rtl="0"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 sz="1600"/>
            </a:lvl1pPr>
            <a:lvl2pPr marL="1219200" lvl="1" indent="-42354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2pPr>
            <a:lvl3pPr marL="1828800" lvl="2" indent="-42354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3pPr>
            <a:lvl4pPr marL="2438400" lvl="3" indent="-42354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4pPr>
            <a:lvl5pPr marL="3048000" lvl="4" indent="-42354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marL="3657600" lvl="5" indent="-42354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marL="4267200" lvl="6" indent="-42354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7pPr>
            <a:lvl8pPr marL="4876800" lvl="7" indent="-42354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8pPr>
            <a:lvl9pPr marL="5486400" lvl="8" indent="-42354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 matchingName="Title and two columns">
  <p:cSld name="Title and two columns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30" name="Google Shape;30;p5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31" name="Google Shape;31;p5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2" name="Google Shape;32;p5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3" name="Google Shape;33;p5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34" name="Google Shape;34;p5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5" name="Google Shape;35;p5"/>
          <p:cNvSpPr txBox="1">
            <a:spLocks noGrp="1"/>
          </p:cNvSpPr>
          <p:nvPr>
            <p:ph type="subTitle" idx="1"/>
          </p:nvPr>
        </p:nvSpPr>
        <p:spPr>
          <a:xfrm>
            <a:off x="7056729" y="4843465"/>
            <a:ext cx="3566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1865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5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5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5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5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5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5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5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5"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36" name="Google Shape;36;p5"/>
          <p:cNvSpPr txBox="1">
            <a:spLocks noGrp="1"/>
          </p:cNvSpPr>
          <p:nvPr>
            <p:ph type="subTitle" idx="2"/>
          </p:nvPr>
        </p:nvSpPr>
        <p:spPr>
          <a:xfrm>
            <a:off x="2114269" y="4843465"/>
            <a:ext cx="3566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1865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5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5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5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5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5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5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5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5"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37" name="Google Shape;37;p5"/>
          <p:cNvSpPr txBox="1">
            <a:spLocks noGrp="1"/>
          </p:cNvSpPr>
          <p:nvPr>
            <p:ph type="subTitle" idx="3"/>
          </p:nvPr>
        </p:nvSpPr>
        <p:spPr>
          <a:xfrm>
            <a:off x="6651249" y="4267600"/>
            <a:ext cx="3566800" cy="76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38" name="Google Shape;38;p5"/>
          <p:cNvSpPr txBox="1">
            <a:spLocks noGrp="1"/>
          </p:cNvSpPr>
          <p:nvPr>
            <p:ph type="subTitle" idx="4"/>
          </p:nvPr>
        </p:nvSpPr>
        <p:spPr>
          <a:xfrm>
            <a:off x="1708483" y="4267600"/>
            <a:ext cx="3566800" cy="76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1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 only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6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41" name="Google Shape;41;p6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42" name="Google Shape;42;p6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3" name="Google Shape;43;p6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4" name="Google Shape;44;p6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45" name="Google Shape;45;p6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/>
          <p:nvPr/>
        </p:nvSpPr>
        <p:spPr>
          <a:xfrm>
            <a:off x="5018000" y="-2400"/>
            <a:ext cx="71740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56" name="Google Shape;56;p8"/>
          <p:cNvGrpSpPr/>
          <p:nvPr/>
        </p:nvGrpSpPr>
        <p:grpSpPr>
          <a:xfrm>
            <a:off x="10746533" y="595001"/>
            <a:ext cx="630800" cy="248667"/>
            <a:chOff x="7059675" y="514525"/>
            <a:chExt cx="473100" cy="186500"/>
          </a:xfrm>
        </p:grpSpPr>
        <p:cxnSp>
          <p:nvCxnSpPr>
            <p:cNvPr id="57" name="Google Shape;57;p8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8" name="Google Shape;58;p8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9" name="Google Shape;59;p8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60" name="Google Shape;60;p8"/>
          <p:cNvSpPr txBox="1">
            <a:spLocks noGrp="1"/>
          </p:cNvSpPr>
          <p:nvPr>
            <p:ph type="title"/>
          </p:nvPr>
        </p:nvSpPr>
        <p:spPr>
          <a:xfrm>
            <a:off x="5807000" y="1742800"/>
            <a:ext cx="5434000" cy="337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96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r>
              <a:rPr lang="en-US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0"/>
          <p:cNvSpPr>
            <a:spLocks noGrp="1"/>
          </p:cNvSpPr>
          <p:nvPr>
            <p:ph type="pic" idx="2"/>
          </p:nvPr>
        </p:nvSpPr>
        <p:spPr>
          <a:xfrm>
            <a:off x="-33" y="-18300"/>
            <a:ext cx="12192000" cy="68764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  <a:endParaRPr lang="en-US"/>
          </a:p>
        </p:txBody>
      </p:sp>
      <p:sp>
        <p:nvSpPr>
          <p:cNvPr id="71" name="Google Shape;71;p10"/>
          <p:cNvSpPr txBox="1">
            <a:spLocks noGrp="1"/>
          </p:cNvSpPr>
          <p:nvPr>
            <p:ph type="title"/>
          </p:nvPr>
        </p:nvSpPr>
        <p:spPr>
          <a:xfrm>
            <a:off x="960000" y="5352600"/>
            <a:ext cx="10272000" cy="7636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sz="3735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>
            <a:spLocks noGrp="1"/>
          </p:cNvSpPr>
          <p:nvPr>
            <p:ph type="title" hasCustomPrompt="1"/>
          </p:nvPr>
        </p:nvSpPr>
        <p:spPr>
          <a:xfrm>
            <a:off x="1360817" y="1780133"/>
            <a:ext cx="9470400" cy="210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>
                <a:solidFill>
                  <a:schemeClr val="accent4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9pPr>
          </a:lstStyle>
          <a:p>
            <a:r>
              <a:t>xx%</a:t>
            </a:r>
          </a:p>
        </p:txBody>
      </p:sp>
      <p:sp>
        <p:nvSpPr>
          <p:cNvPr id="74" name="Google Shape;74;p11"/>
          <p:cNvSpPr txBox="1">
            <a:spLocks noGrp="1"/>
          </p:cNvSpPr>
          <p:nvPr>
            <p:ph type="subTitle" idx="1"/>
          </p:nvPr>
        </p:nvSpPr>
        <p:spPr>
          <a:xfrm>
            <a:off x="1360784" y="4125967"/>
            <a:ext cx="9470400" cy="6204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535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5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5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5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5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5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5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5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5"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75" name="Google Shape;75;p11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76" name="Google Shape;76;p11"/>
          <p:cNvGrpSpPr/>
          <p:nvPr/>
        </p:nvGrpSpPr>
        <p:grpSpPr>
          <a:xfrm>
            <a:off x="10746533" y="595001"/>
            <a:ext cx="630800" cy="248667"/>
            <a:chOff x="7059675" y="514525"/>
            <a:chExt cx="473100" cy="186500"/>
          </a:xfrm>
        </p:grpSpPr>
        <p:cxnSp>
          <p:nvCxnSpPr>
            <p:cNvPr id="77" name="Google Shape;77;p11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8" name="Google Shape;78;p11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9" name="Google Shape;79;p11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bg>
      <p:bgPr>
        <a:noFill/>
        <a:effectLst/>
      </p:bgPr>
    </p:bg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Table of contents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3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83" name="Google Shape;83;p13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84" name="Google Shape;84;p13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5" name="Google Shape;85;p13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6" name="Google Shape;86;p13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87" name="Google Shape;87;p13"/>
          <p:cNvSpPr txBox="1">
            <a:spLocks noGrp="1"/>
          </p:cNvSpPr>
          <p:nvPr>
            <p:ph type="title"/>
          </p:nvPr>
        </p:nvSpPr>
        <p:spPr>
          <a:xfrm>
            <a:off x="950967" y="593367"/>
            <a:ext cx="1028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88" name="Google Shape;88;p13"/>
          <p:cNvSpPr txBox="1">
            <a:spLocks noGrp="1"/>
          </p:cNvSpPr>
          <p:nvPr>
            <p:ph type="subTitle" idx="1"/>
          </p:nvPr>
        </p:nvSpPr>
        <p:spPr>
          <a:xfrm>
            <a:off x="3296000" y="2443933"/>
            <a:ext cx="5612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5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89" name="Google Shape;89;p13"/>
          <p:cNvSpPr txBox="1">
            <a:spLocks noGrp="1"/>
          </p:cNvSpPr>
          <p:nvPr>
            <p:ph type="subTitle" idx="2"/>
          </p:nvPr>
        </p:nvSpPr>
        <p:spPr>
          <a:xfrm>
            <a:off x="4234001" y="3777903"/>
            <a:ext cx="5612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5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90" name="Google Shape;90;p13"/>
          <p:cNvSpPr txBox="1">
            <a:spLocks noGrp="1"/>
          </p:cNvSpPr>
          <p:nvPr>
            <p:ph type="subTitle" idx="3"/>
          </p:nvPr>
        </p:nvSpPr>
        <p:spPr>
          <a:xfrm>
            <a:off x="4672036" y="5112331"/>
            <a:ext cx="5612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5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91" name="Google Shape;91;p13"/>
          <p:cNvSpPr txBox="1">
            <a:spLocks noGrp="1"/>
          </p:cNvSpPr>
          <p:nvPr>
            <p:ph type="title" idx="4" hasCustomPrompt="1"/>
          </p:nvPr>
        </p:nvSpPr>
        <p:spPr>
          <a:xfrm>
            <a:off x="2493200" y="1960700"/>
            <a:ext cx="802800" cy="522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2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92" name="Google Shape;92;p13"/>
          <p:cNvSpPr txBox="1">
            <a:spLocks noGrp="1"/>
          </p:cNvSpPr>
          <p:nvPr>
            <p:ph type="title" idx="5" hasCustomPrompt="1"/>
          </p:nvPr>
        </p:nvSpPr>
        <p:spPr>
          <a:xfrm>
            <a:off x="3431200" y="3309900"/>
            <a:ext cx="802800" cy="522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2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93" name="Google Shape;93;p13"/>
          <p:cNvSpPr txBox="1">
            <a:spLocks noGrp="1"/>
          </p:cNvSpPr>
          <p:nvPr>
            <p:ph type="title" idx="6" hasCustomPrompt="1"/>
          </p:nvPr>
        </p:nvSpPr>
        <p:spPr>
          <a:xfrm>
            <a:off x="3855033" y="4659100"/>
            <a:ext cx="802800" cy="438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2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94" name="Google Shape;94;p13"/>
          <p:cNvSpPr txBox="1">
            <a:spLocks noGrp="1"/>
          </p:cNvSpPr>
          <p:nvPr>
            <p:ph type="subTitle" idx="7"/>
          </p:nvPr>
        </p:nvSpPr>
        <p:spPr>
          <a:xfrm>
            <a:off x="3296000" y="1960700"/>
            <a:ext cx="5612800" cy="64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95" name="Google Shape;95;p13"/>
          <p:cNvSpPr txBox="1">
            <a:spLocks noGrp="1"/>
          </p:cNvSpPr>
          <p:nvPr>
            <p:ph type="subTitle" idx="8"/>
          </p:nvPr>
        </p:nvSpPr>
        <p:spPr>
          <a:xfrm>
            <a:off x="4234000" y="3309900"/>
            <a:ext cx="5612800" cy="64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2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96" name="Google Shape;96;p13"/>
          <p:cNvSpPr txBox="1">
            <a:spLocks noGrp="1"/>
          </p:cNvSpPr>
          <p:nvPr>
            <p:ph type="subTitle" idx="9"/>
          </p:nvPr>
        </p:nvSpPr>
        <p:spPr>
          <a:xfrm>
            <a:off x="4672033" y="4659100"/>
            <a:ext cx="5612800" cy="64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3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Quote"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4"/>
          <p:cNvSpPr txBox="1">
            <a:spLocks noGrp="1"/>
          </p:cNvSpPr>
          <p:nvPr>
            <p:ph type="title"/>
          </p:nvPr>
        </p:nvSpPr>
        <p:spPr>
          <a:xfrm>
            <a:off x="3583367" y="4619000"/>
            <a:ext cx="7658000" cy="88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99" name="Google Shape;99;p14"/>
          <p:cNvSpPr txBox="1">
            <a:spLocks noGrp="1"/>
          </p:cNvSpPr>
          <p:nvPr>
            <p:ph type="subTitle" idx="1"/>
          </p:nvPr>
        </p:nvSpPr>
        <p:spPr>
          <a:xfrm>
            <a:off x="3583219" y="2134600"/>
            <a:ext cx="7658000" cy="248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3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100" name="Google Shape;100;p14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01" name="Google Shape;101;p14"/>
          <p:cNvGrpSpPr/>
          <p:nvPr/>
        </p:nvGrpSpPr>
        <p:grpSpPr>
          <a:xfrm>
            <a:off x="10746533" y="595001"/>
            <a:ext cx="630800" cy="248667"/>
            <a:chOff x="7059675" y="514525"/>
            <a:chExt cx="473100" cy="186500"/>
          </a:xfrm>
        </p:grpSpPr>
        <p:cxnSp>
          <p:nvCxnSpPr>
            <p:cNvPr id="102" name="Google Shape;102;p14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3" name="Google Shape;103;p14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4" name="Google Shape;104;p14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Title and text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5"/>
          <p:cNvSpPr/>
          <p:nvPr/>
        </p:nvSpPr>
        <p:spPr>
          <a:xfrm>
            <a:off x="5657333" y="-2400"/>
            <a:ext cx="65348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07" name="Google Shape;107;p15"/>
          <p:cNvGrpSpPr/>
          <p:nvPr/>
        </p:nvGrpSpPr>
        <p:grpSpPr>
          <a:xfrm>
            <a:off x="10746533" y="595001"/>
            <a:ext cx="630800" cy="248667"/>
            <a:chOff x="7059675" y="514525"/>
            <a:chExt cx="473100" cy="186500"/>
          </a:xfrm>
        </p:grpSpPr>
        <p:cxnSp>
          <p:nvCxnSpPr>
            <p:cNvPr id="108" name="Google Shape;108;p15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9" name="Google Shape;109;p15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0" name="Google Shape;110;p15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11" name="Google Shape;111;p15"/>
          <p:cNvSpPr txBox="1">
            <a:spLocks noGrp="1"/>
          </p:cNvSpPr>
          <p:nvPr>
            <p:ph type="title"/>
          </p:nvPr>
        </p:nvSpPr>
        <p:spPr>
          <a:xfrm>
            <a:off x="950967" y="714200"/>
            <a:ext cx="4221200" cy="3171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12" name="Google Shape;112;p15"/>
          <p:cNvSpPr txBox="1">
            <a:spLocks noGrp="1"/>
          </p:cNvSpPr>
          <p:nvPr>
            <p:ph type="subTitle" idx="1"/>
          </p:nvPr>
        </p:nvSpPr>
        <p:spPr>
          <a:xfrm>
            <a:off x="950967" y="3885400"/>
            <a:ext cx="4221200" cy="225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113" name="Google Shape;113;p15"/>
          <p:cNvSpPr>
            <a:spLocks noGrp="1"/>
          </p:cNvSpPr>
          <p:nvPr>
            <p:ph type="pic" idx="2"/>
          </p:nvPr>
        </p:nvSpPr>
        <p:spPr>
          <a:xfrm>
            <a:off x="6377667" y="709417"/>
            <a:ext cx="3880000" cy="54344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  <a:endParaRPr 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Title and text 1"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6"/>
          <p:cNvSpPr/>
          <p:nvPr/>
        </p:nvSpPr>
        <p:spPr>
          <a:xfrm>
            <a:off x="5657333" y="-2400"/>
            <a:ext cx="65348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6" name="Google Shape;116;p16"/>
          <p:cNvSpPr txBox="1">
            <a:spLocks noGrp="1"/>
          </p:cNvSpPr>
          <p:nvPr>
            <p:ph type="title"/>
          </p:nvPr>
        </p:nvSpPr>
        <p:spPr>
          <a:xfrm>
            <a:off x="950967" y="1870467"/>
            <a:ext cx="4332000" cy="141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17" name="Google Shape;117;p16"/>
          <p:cNvSpPr txBox="1">
            <a:spLocks noGrp="1"/>
          </p:cNvSpPr>
          <p:nvPr>
            <p:ph type="subTitle" idx="1"/>
          </p:nvPr>
        </p:nvSpPr>
        <p:spPr>
          <a:xfrm>
            <a:off x="950967" y="3288067"/>
            <a:ext cx="4332000" cy="186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Title and text 2"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7"/>
          <p:cNvSpPr/>
          <p:nvPr/>
        </p:nvSpPr>
        <p:spPr>
          <a:xfrm>
            <a:off x="0" y="0"/>
            <a:ext cx="65348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20" name="Google Shape;120;p17"/>
          <p:cNvSpPr txBox="1">
            <a:spLocks noGrp="1"/>
          </p:cNvSpPr>
          <p:nvPr>
            <p:ph type="title"/>
          </p:nvPr>
        </p:nvSpPr>
        <p:spPr>
          <a:xfrm>
            <a:off x="6449600" y="2001600"/>
            <a:ext cx="4791200" cy="141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21" name="Google Shape;121;p17"/>
          <p:cNvSpPr txBox="1">
            <a:spLocks noGrp="1"/>
          </p:cNvSpPr>
          <p:nvPr>
            <p:ph type="subTitle" idx="1"/>
          </p:nvPr>
        </p:nvSpPr>
        <p:spPr>
          <a:xfrm>
            <a:off x="6449828" y="3416000"/>
            <a:ext cx="4791200" cy="144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Title and two columns 1"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8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24" name="Google Shape;124;p18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125" name="Google Shape;125;p18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6" name="Google Shape;126;p18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7" name="Google Shape;127;p18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28" name="Google Shape;128;p18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29" name="Google Shape;129;p18"/>
          <p:cNvSpPr txBox="1">
            <a:spLocks noGrp="1"/>
          </p:cNvSpPr>
          <p:nvPr>
            <p:ph type="subTitle" idx="1"/>
          </p:nvPr>
        </p:nvSpPr>
        <p:spPr>
          <a:xfrm>
            <a:off x="6985135" y="2994735"/>
            <a:ext cx="3719200" cy="197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130" name="Google Shape;130;p18"/>
          <p:cNvSpPr txBox="1">
            <a:spLocks noGrp="1"/>
          </p:cNvSpPr>
          <p:nvPr>
            <p:ph type="subTitle" idx="2"/>
          </p:nvPr>
        </p:nvSpPr>
        <p:spPr>
          <a:xfrm>
            <a:off x="2276900" y="2994735"/>
            <a:ext cx="3719200" cy="197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131" name="Google Shape;131;p18"/>
          <p:cNvSpPr txBox="1">
            <a:spLocks noGrp="1"/>
          </p:cNvSpPr>
          <p:nvPr>
            <p:ph type="subTitle" idx="3"/>
          </p:nvPr>
        </p:nvSpPr>
        <p:spPr>
          <a:xfrm>
            <a:off x="1882268" y="2249533"/>
            <a:ext cx="3719200" cy="74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dk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132" name="Google Shape;132;p18"/>
          <p:cNvSpPr txBox="1">
            <a:spLocks noGrp="1"/>
          </p:cNvSpPr>
          <p:nvPr>
            <p:ph type="subTitle" idx="4"/>
          </p:nvPr>
        </p:nvSpPr>
        <p:spPr>
          <a:xfrm>
            <a:off x="6590509" y="2249533"/>
            <a:ext cx="3719200" cy="74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Title and two columns 2"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9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35" name="Google Shape;135;p19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136" name="Google Shape;136;p19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7" name="Google Shape;137;p19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8" name="Google Shape;138;p19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39" name="Google Shape;139;p19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40" name="Google Shape;140;p19"/>
          <p:cNvSpPr txBox="1">
            <a:spLocks noGrp="1"/>
          </p:cNvSpPr>
          <p:nvPr>
            <p:ph type="subTitle" idx="1"/>
          </p:nvPr>
        </p:nvSpPr>
        <p:spPr>
          <a:xfrm>
            <a:off x="6429197" y="1924167"/>
            <a:ext cx="4802800" cy="324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141" name="Google Shape;141;p19"/>
          <p:cNvSpPr txBox="1">
            <a:spLocks noGrp="1"/>
          </p:cNvSpPr>
          <p:nvPr>
            <p:ph type="subTitle" idx="2"/>
          </p:nvPr>
        </p:nvSpPr>
        <p:spPr>
          <a:xfrm>
            <a:off x="858667" y="1924167"/>
            <a:ext cx="4802800" cy="324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Title and three columns"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0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44" name="Google Shape;144;p20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145" name="Google Shape;145;p20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6" name="Google Shape;146;p20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7" name="Google Shape;147;p20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48" name="Google Shape;148;p20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49" name="Google Shape;149;p20"/>
          <p:cNvSpPr txBox="1">
            <a:spLocks noGrp="1"/>
          </p:cNvSpPr>
          <p:nvPr>
            <p:ph type="subTitle" idx="1"/>
          </p:nvPr>
        </p:nvSpPr>
        <p:spPr>
          <a:xfrm>
            <a:off x="1330267" y="2795167"/>
            <a:ext cx="3164000" cy="181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5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150" name="Google Shape;150;p20"/>
          <p:cNvSpPr txBox="1">
            <a:spLocks noGrp="1"/>
          </p:cNvSpPr>
          <p:nvPr>
            <p:ph type="subTitle" idx="2"/>
          </p:nvPr>
        </p:nvSpPr>
        <p:spPr>
          <a:xfrm>
            <a:off x="4697316" y="3675167"/>
            <a:ext cx="3164000" cy="181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5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151" name="Google Shape;151;p20"/>
          <p:cNvSpPr txBox="1">
            <a:spLocks noGrp="1"/>
          </p:cNvSpPr>
          <p:nvPr>
            <p:ph type="subTitle" idx="3"/>
          </p:nvPr>
        </p:nvSpPr>
        <p:spPr>
          <a:xfrm>
            <a:off x="8068311" y="4323467"/>
            <a:ext cx="3164000" cy="181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5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152" name="Google Shape;152;p20"/>
          <p:cNvSpPr txBox="1">
            <a:spLocks noGrp="1"/>
          </p:cNvSpPr>
          <p:nvPr>
            <p:ph type="subTitle" idx="4"/>
          </p:nvPr>
        </p:nvSpPr>
        <p:spPr>
          <a:xfrm>
            <a:off x="960000" y="1915167"/>
            <a:ext cx="3222400" cy="88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dk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153" name="Google Shape;153;p20"/>
          <p:cNvSpPr txBox="1">
            <a:spLocks noGrp="1"/>
          </p:cNvSpPr>
          <p:nvPr>
            <p:ph type="subTitle" idx="5"/>
          </p:nvPr>
        </p:nvSpPr>
        <p:spPr>
          <a:xfrm>
            <a:off x="4389396" y="2795167"/>
            <a:ext cx="3222400" cy="88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3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154" name="Google Shape;154;p20"/>
          <p:cNvSpPr txBox="1">
            <a:spLocks noGrp="1"/>
          </p:cNvSpPr>
          <p:nvPr>
            <p:ph type="subTitle" idx="6"/>
          </p:nvPr>
        </p:nvSpPr>
        <p:spPr>
          <a:xfrm>
            <a:off x="7822725" y="3443467"/>
            <a:ext cx="3222400" cy="88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5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Title and four columns"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1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57" name="Google Shape;157;p21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158" name="Google Shape;158;p21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9" name="Google Shape;159;p21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0" name="Google Shape;160;p21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61" name="Google Shape;161;p21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62" name="Google Shape;162;p21"/>
          <p:cNvSpPr txBox="1">
            <a:spLocks noGrp="1"/>
          </p:cNvSpPr>
          <p:nvPr>
            <p:ph type="subTitle" idx="1"/>
          </p:nvPr>
        </p:nvSpPr>
        <p:spPr>
          <a:xfrm>
            <a:off x="4667467" y="2565033"/>
            <a:ext cx="2637600" cy="110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5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163" name="Google Shape;163;p21"/>
          <p:cNvSpPr txBox="1">
            <a:spLocks noGrp="1"/>
          </p:cNvSpPr>
          <p:nvPr>
            <p:ph type="subTitle" idx="2"/>
          </p:nvPr>
        </p:nvSpPr>
        <p:spPr>
          <a:xfrm>
            <a:off x="8594388" y="2565033"/>
            <a:ext cx="2637600" cy="110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5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164" name="Google Shape;164;p21"/>
          <p:cNvSpPr txBox="1">
            <a:spLocks noGrp="1"/>
          </p:cNvSpPr>
          <p:nvPr>
            <p:ph type="subTitle" idx="3"/>
          </p:nvPr>
        </p:nvSpPr>
        <p:spPr>
          <a:xfrm>
            <a:off x="4667467" y="4755667"/>
            <a:ext cx="2637600" cy="110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5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165" name="Google Shape;165;p21"/>
          <p:cNvSpPr txBox="1">
            <a:spLocks noGrp="1"/>
          </p:cNvSpPr>
          <p:nvPr>
            <p:ph type="subTitle" idx="4"/>
          </p:nvPr>
        </p:nvSpPr>
        <p:spPr>
          <a:xfrm>
            <a:off x="8594388" y="4755667"/>
            <a:ext cx="2637600" cy="110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5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166" name="Google Shape;166;p21"/>
          <p:cNvSpPr txBox="1">
            <a:spLocks noGrp="1"/>
          </p:cNvSpPr>
          <p:nvPr>
            <p:ph type="subTitle" idx="5"/>
          </p:nvPr>
        </p:nvSpPr>
        <p:spPr>
          <a:xfrm>
            <a:off x="4259248" y="1891033"/>
            <a:ext cx="2637600" cy="67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lt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167" name="Google Shape;167;p21"/>
          <p:cNvSpPr txBox="1">
            <a:spLocks noGrp="1"/>
          </p:cNvSpPr>
          <p:nvPr>
            <p:ph type="subTitle" idx="6"/>
          </p:nvPr>
        </p:nvSpPr>
        <p:spPr>
          <a:xfrm>
            <a:off x="4259248" y="4081667"/>
            <a:ext cx="2637600" cy="67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168" name="Google Shape;168;p21"/>
          <p:cNvSpPr txBox="1">
            <a:spLocks noGrp="1"/>
          </p:cNvSpPr>
          <p:nvPr>
            <p:ph type="subTitle" idx="7"/>
          </p:nvPr>
        </p:nvSpPr>
        <p:spPr>
          <a:xfrm>
            <a:off x="8186148" y="1891033"/>
            <a:ext cx="2637600" cy="67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4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169" name="Google Shape;169;p21"/>
          <p:cNvSpPr txBox="1">
            <a:spLocks noGrp="1"/>
          </p:cNvSpPr>
          <p:nvPr>
            <p:ph type="subTitle" idx="8"/>
          </p:nvPr>
        </p:nvSpPr>
        <p:spPr>
          <a:xfrm>
            <a:off x="8186148" y="4081667"/>
            <a:ext cx="2637600" cy="67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5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Title and six columns"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2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72" name="Google Shape;172;p22"/>
          <p:cNvSpPr txBox="1">
            <a:spLocks noGrp="1"/>
          </p:cNvSpPr>
          <p:nvPr>
            <p:ph type="subTitle" idx="1"/>
          </p:nvPr>
        </p:nvSpPr>
        <p:spPr>
          <a:xfrm>
            <a:off x="1859867" y="2471333"/>
            <a:ext cx="2648000" cy="117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5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173" name="Google Shape;173;p22"/>
          <p:cNvSpPr txBox="1">
            <a:spLocks noGrp="1"/>
          </p:cNvSpPr>
          <p:nvPr>
            <p:ph type="subTitle" idx="2"/>
          </p:nvPr>
        </p:nvSpPr>
        <p:spPr>
          <a:xfrm>
            <a:off x="5153000" y="2471333"/>
            <a:ext cx="2648000" cy="117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5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174" name="Google Shape;174;p22"/>
          <p:cNvSpPr txBox="1">
            <a:spLocks noGrp="1"/>
          </p:cNvSpPr>
          <p:nvPr>
            <p:ph type="subTitle" idx="3"/>
          </p:nvPr>
        </p:nvSpPr>
        <p:spPr>
          <a:xfrm>
            <a:off x="1859867" y="4378267"/>
            <a:ext cx="2648000" cy="117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5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175" name="Google Shape;175;p22"/>
          <p:cNvSpPr txBox="1">
            <a:spLocks noGrp="1"/>
          </p:cNvSpPr>
          <p:nvPr>
            <p:ph type="subTitle" idx="4"/>
          </p:nvPr>
        </p:nvSpPr>
        <p:spPr>
          <a:xfrm>
            <a:off x="5153000" y="4378267"/>
            <a:ext cx="2648000" cy="117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5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176" name="Google Shape;176;p22"/>
          <p:cNvSpPr txBox="1">
            <a:spLocks noGrp="1"/>
          </p:cNvSpPr>
          <p:nvPr>
            <p:ph type="subTitle" idx="5"/>
          </p:nvPr>
        </p:nvSpPr>
        <p:spPr>
          <a:xfrm>
            <a:off x="8446132" y="2471333"/>
            <a:ext cx="2648000" cy="117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5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177" name="Google Shape;177;p22"/>
          <p:cNvSpPr txBox="1">
            <a:spLocks noGrp="1"/>
          </p:cNvSpPr>
          <p:nvPr>
            <p:ph type="subTitle" idx="6"/>
          </p:nvPr>
        </p:nvSpPr>
        <p:spPr>
          <a:xfrm>
            <a:off x="8446132" y="4378267"/>
            <a:ext cx="2648000" cy="117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5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178" name="Google Shape;178;p22"/>
          <p:cNvSpPr txBox="1">
            <a:spLocks noGrp="1"/>
          </p:cNvSpPr>
          <p:nvPr>
            <p:ph type="subTitle" idx="7"/>
          </p:nvPr>
        </p:nvSpPr>
        <p:spPr>
          <a:xfrm>
            <a:off x="1484069" y="1814532"/>
            <a:ext cx="2637600" cy="65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179" name="Google Shape;179;p22"/>
          <p:cNvSpPr txBox="1">
            <a:spLocks noGrp="1"/>
          </p:cNvSpPr>
          <p:nvPr>
            <p:ph type="subTitle" idx="8"/>
          </p:nvPr>
        </p:nvSpPr>
        <p:spPr>
          <a:xfrm>
            <a:off x="4777200" y="1814532"/>
            <a:ext cx="2637600" cy="65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dk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180" name="Google Shape;180;p22"/>
          <p:cNvSpPr txBox="1">
            <a:spLocks noGrp="1"/>
          </p:cNvSpPr>
          <p:nvPr>
            <p:ph type="subTitle" idx="9"/>
          </p:nvPr>
        </p:nvSpPr>
        <p:spPr>
          <a:xfrm>
            <a:off x="8070331" y="1814532"/>
            <a:ext cx="2637600" cy="65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5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181" name="Google Shape;181;p22"/>
          <p:cNvSpPr txBox="1">
            <a:spLocks noGrp="1"/>
          </p:cNvSpPr>
          <p:nvPr>
            <p:ph type="subTitle" idx="13"/>
          </p:nvPr>
        </p:nvSpPr>
        <p:spPr>
          <a:xfrm>
            <a:off x="1484069" y="3721467"/>
            <a:ext cx="2637600" cy="65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1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182" name="Google Shape;182;p22"/>
          <p:cNvSpPr txBox="1">
            <a:spLocks noGrp="1"/>
          </p:cNvSpPr>
          <p:nvPr>
            <p:ph type="subTitle" idx="14"/>
          </p:nvPr>
        </p:nvSpPr>
        <p:spPr>
          <a:xfrm>
            <a:off x="4777200" y="3721467"/>
            <a:ext cx="2637600" cy="65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lt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183" name="Google Shape;183;p22"/>
          <p:cNvSpPr txBox="1">
            <a:spLocks noGrp="1"/>
          </p:cNvSpPr>
          <p:nvPr>
            <p:ph type="subTitle" idx="15"/>
          </p:nvPr>
        </p:nvSpPr>
        <p:spPr>
          <a:xfrm>
            <a:off x="8070331" y="3721467"/>
            <a:ext cx="2637600" cy="65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3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Numbers and text"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3"/>
          <p:cNvSpPr/>
          <p:nvPr/>
        </p:nvSpPr>
        <p:spPr>
          <a:xfrm>
            <a:off x="5018000" y="-2400"/>
            <a:ext cx="71740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86" name="Google Shape;186;p23"/>
          <p:cNvGrpSpPr/>
          <p:nvPr/>
        </p:nvGrpSpPr>
        <p:grpSpPr>
          <a:xfrm>
            <a:off x="10746533" y="595001"/>
            <a:ext cx="630800" cy="248667"/>
            <a:chOff x="7059675" y="514525"/>
            <a:chExt cx="473100" cy="186500"/>
          </a:xfrm>
        </p:grpSpPr>
        <p:cxnSp>
          <p:nvCxnSpPr>
            <p:cNvPr id="187" name="Google Shape;187;p23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8" name="Google Shape;188;p23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9" name="Google Shape;189;p23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90" name="Google Shape;190;p23"/>
          <p:cNvSpPr txBox="1">
            <a:spLocks noGrp="1"/>
          </p:cNvSpPr>
          <p:nvPr>
            <p:ph type="title" hasCustomPrompt="1"/>
          </p:nvPr>
        </p:nvSpPr>
        <p:spPr>
          <a:xfrm>
            <a:off x="5402633" y="840767"/>
            <a:ext cx="5362800" cy="1025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91" name="Google Shape;191;p23"/>
          <p:cNvSpPr txBox="1">
            <a:spLocks noGrp="1"/>
          </p:cNvSpPr>
          <p:nvPr>
            <p:ph type="subTitle" idx="1"/>
          </p:nvPr>
        </p:nvSpPr>
        <p:spPr>
          <a:xfrm>
            <a:off x="5878073" y="1734227"/>
            <a:ext cx="5362800" cy="79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192" name="Google Shape;192;p23"/>
          <p:cNvSpPr txBox="1">
            <a:spLocks noGrp="1"/>
          </p:cNvSpPr>
          <p:nvPr>
            <p:ph type="title" idx="2" hasCustomPrompt="1"/>
          </p:nvPr>
        </p:nvSpPr>
        <p:spPr>
          <a:xfrm>
            <a:off x="5402633" y="2643787"/>
            <a:ext cx="5362800" cy="1025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93" name="Google Shape;193;p23"/>
          <p:cNvSpPr txBox="1">
            <a:spLocks noGrp="1"/>
          </p:cNvSpPr>
          <p:nvPr>
            <p:ph type="subTitle" idx="3"/>
          </p:nvPr>
        </p:nvSpPr>
        <p:spPr>
          <a:xfrm>
            <a:off x="5878073" y="3537247"/>
            <a:ext cx="5362800" cy="79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194" name="Google Shape;194;p23"/>
          <p:cNvSpPr txBox="1">
            <a:spLocks noGrp="1"/>
          </p:cNvSpPr>
          <p:nvPr>
            <p:ph type="title" idx="4" hasCustomPrompt="1"/>
          </p:nvPr>
        </p:nvSpPr>
        <p:spPr>
          <a:xfrm>
            <a:off x="5402633" y="4446807"/>
            <a:ext cx="5362800" cy="1025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accent5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95" name="Google Shape;195;p23"/>
          <p:cNvSpPr txBox="1">
            <a:spLocks noGrp="1"/>
          </p:cNvSpPr>
          <p:nvPr>
            <p:ph type="subTitle" idx="5"/>
          </p:nvPr>
        </p:nvSpPr>
        <p:spPr>
          <a:xfrm>
            <a:off x="5878073" y="5340267"/>
            <a:ext cx="5362800" cy="79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 1">
  <p:cSld name="Numbers and text 1"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4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98" name="Google Shape;198;p24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199" name="Google Shape;199;p24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0" name="Google Shape;200;p24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1" name="Google Shape;201;p24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202" name="Google Shape;202;p24"/>
          <p:cNvSpPr txBox="1">
            <a:spLocks noGrp="1"/>
          </p:cNvSpPr>
          <p:nvPr>
            <p:ph type="title" hasCustomPrompt="1"/>
          </p:nvPr>
        </p:nvSpPr>
        <p:spPr>
          <a:xfrm>
            <a:off x="1179800" y="2520933"/>
            <a:ext cx="1407600" cy="542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03" name="Google Shape;203;p24"/>
          <p:cNvSpPr txBox="1">
            <a:spLocks noGrp="1"/>
          </p:cNvSpPr>
          <p:nvPr>
            <p:ph type="subTitle" idx="1"/>
          </p:nvPr>
        </p:nvSpPr>
        <p:spPr>
          <a:xfrm>
            <a:off x="1307167" y="4585667"/>
            <a:ext cx="2968000" cy="138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204" name="Google Shape;204;p24"/>
          <p:cNvSpPr txBox="1">
            <a:spLocks noGrp="1"/>
          </p:cNvSpPr>
          <p:nvPr>
            <p:ph type="subTitle" idx="2"/>
          </p:nvPr>
        </p:nvSpPr>
        <p:spPr>
          <a:xfrm>
            <a:off x="960000" y="3875633"/>
            <a:ext cx="3072000" cy="79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accent5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205" name="Google Shape;205;p24"/>
          <p:cNvSpPr txBox="1">
            <a:spLocks noGrp="1"/>
          </p:cNvSpPr>
          <p:nvPr>
            <p:ph type="title" idx="3" hasCustomPrompt="1"/>
          </p:nvPr>
        </p:nvSpPr>
        <p:spPr>
          <a:xfrm>
            <a:off x="4787984" y="2521267"/>
            <a:ext cx="1407600" cy="542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06" name="Google Shape;206;p24"/>
          <p:cNvSpPr txBox="1">
            <a:spLocks noGrp="1"/>
          </p:cNvSpPr>
          <p:nvPr>
            <p:ph type="subTitle" idx="4"/>
          </p:nvPr>
        </p:nvSpPr>
        <p:spPr>
          <a:xfrm>
            <a:off x="4785591" y="4585667"/>
            <a:ext cx="2968000" cy="138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207" name="Google Shape;207;p24"/>
          <p:cNvSpPr txBox="1">
            <a:spLocks noGrp="1"/>
          </p:cNvSpPr>
          <p:nvPr>
            <p:ph type="subTitle" idx="5"/>
          </p:nvPr>
        </p:nvSpPr>
        <p:spPr>
          <a:xfrm>
            <a:off x="4560001" y="3875633"/>
            <a:ext cx="3072000" cy="79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accent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208" name="Google Shape;208;p24"/>
          <p:cNvSpPr txBox="1">
            <a:spLocks noGrp="1"/>
          </p:cNvSpPr>
          <p:nvPr>
            <p:ph type="title" idx="6" hasCustomPrompt="1"/>
          </p:nvPr>
        </p:nvSpPr>
        <p:spPr>
          <a:xfrm>
            <a:off x="8395700" y="2521433"/>
            <a:ext cx="1407600" cy="542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09" name="Google Shape;209;p24"/>
          <p:cNvSpPr txBox="1">
            <a:spLocks noGrp="1"/>
          </p:cNvSpPr>
          <p:nvPr>
            <p:ph type="subTitle" idx="7"/>
          </p:nvPr>
        </p:nvSpPr>
        <p:spPr>
          <a:xfrm>
            <a:off x="8264015" y="4585667"/>
            <a:ext cx="2968000" cy="138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210" name="Google Shape;210;p24"/>
          <p:cNvSpPr txBox="1">
            <a:spLocks noGrp="1"/>
          </p:cNvSpPr>
          <p:nvPr>
            <p:ph type="subTitle" idx="8"/>
          </p:nvPr>
        </p:nvSpPr>
        <p:spPr>
          <a:xfrm>
            <a:off x="8160003" y="3875633"/>
            <a:ext cx="3072000" cy="79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accent4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211" name="Google Shape;211;p24"/>
          <p:cNvSpPr txBox="1">
            <a:spLocks noGrp="1"/>
          </p:cNvSpPr>
          <p:nvPr>
            <p:ph type="title" idx="9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ackground"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6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218" name="Google Shape;218;p26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219" name="Google Shape;219;p26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0" name="Google Shape;220;p26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1" name="Google Shape;221;p26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ackground 1"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7"/>
          <p:cNvSpPr/>
          <p:nvPr/>
        </p:nvSpPr>
        <p:spPr>
          <a:xfrm>
            <a:off x="5899667" y="-2400"/>
            <a:ext cx="62924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224" name="Google Shape;224;p27"/>
          <p:cNvGrpSpPr/>
          <p:nvPr/>
        </p:nvGrpSpPr>
        <p:grpSpPr>
          <a:xfrm>
            <a:off x="10924156" y="595001"/>
            <a:ext cx="553275" cy="248667"/>
            <a:chOff x="7059675" y="514525"/>
            <a:chExt cx="473100" cy="186500"/>
          </a:xfrm>
        </p:grpSpPr>
        <p:cxnSp>
          <p:nvCxnSpPr>
            <p:cNvPr id="225" name="Google Shape;225;p27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6" name="Google Shape;226;p27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7" name="Google Shape;227;p27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 slid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3647333" y="1678467"/>
            <a:ext cx="7730000" cy="271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335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5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5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5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5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5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5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5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5">
                <a:solidFill>
                  <a:srgbClr val="191919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3647333" y="4396867"/>
            <a:ext cx="7730000" cy="5876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2135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5018000" y="-2400"/>
            <a:ext cx="71740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63" name="Google Shape;63;p9"/>
          <p:cNvGrpSpPr/>
          <p:nvPr/>
        </p:nvGrpSpPr>
        <p:grpSpPr>
          <a:xfrm>
            <a:off x="10746533" y="595001"/>
            <a:ext cx="630800" cy="248667"/>
            <a:chOff x="7059675" y="514525"/>
            <a:chExt cx="473100" cy="186500"/>
          </a:xfrm>
        </p:grpSpPr>
        <p:cxnSp>
          <p:nvCxnSpPr>
            <p:cNvPr id="64" name="Google Shape;64;p9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5" name="Google Shape;65;p9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6" name="Google Shape;66;p9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67" name="Google Shape;67;p9"/>
          <p:cNvSpPr txBox="1">
            <a:spLocks noGrp="1"/>
          </p:cNvSpPr>
          <p:nvPr>
            <p:ph type="title"/>
          </p:nvPr>
        </p:nvSpPr>
        <p:spPr>
          <a:xfrm>
            <a:off x="5630800" y="1597933"/>
            <a:ext cx="5608000" cy="2619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 sz="12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68" name="Google Shape;68;p9"/>
          <p:cNvSpPr txBox="1">
            <a:spLocks noGrp="1"/>
          </p:cNvSpPr>
          <p:nvPr>
            <p:ph type="subTitle" idx="1"/>
          </p:nvPr>
        </p:nvSpPr>
        <p:spPr>
          <a:xfrm>
            <a:off x="5630800" y="4217133"/>
            <a:ext cx="5608000" cy="14216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2135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48" name="Google Shape;48;p7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49" name="Google Shape;49;p7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0" name="Google Shape;50;p7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1" name="Google Shape;51;p7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52" name="Google Shape;52;p7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812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3" name="Google Shape;53;p7"/>
          <p:cNvSpPr txBox="1">
            <a:spLocks noGrp="1"/>
          </p:cNvSpPr>
          <p:nvPr>
            <p:ph type="subTitle" idx="1"/>
          </p:nvPr>
        </p:nvSpPr>
        <p:spPr>
          <a:xfrm>
            <a:off x="4620300" y="2038667"/>
            <a:ext cx="6620800" cy="410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6" Type="http://schemas.openxmlformats.org/officeDocument/2006/relationships/theme" Target="../theme/theme2.xml"/><Relationship Id="rId25" Type="http://schemas.openxmlformats.org/officeDocument/2006/relationships/slideLayout" Target="../slideLayouts/slideLayout36.xml"/><Relationship Id="rId24" Type="http://schemas.openxmlformats.org/officeDocument/2006/relationships/slideLayout" Target="../slideLayouts/slideLayout35.xml"/><Relationship Id="rId23" Type="http://schemas.openxmlformats.org/officeDocument/2006/relationships/slideLayout" Target="../slideLayouts/slideLayout34.xml"/><Relationship Id="rId22" Type="http://schemas.openxmlformats.org/officeDocument/2006/relationships/slideLayout" Target="../slideLayouts/slideLayout33.xml"/><Relationship Id="rId21" Type="http://schemas.openxmlformats.org/officeDocument/2006/relationships/slideLayout" Target="../slideLayouts/slideLayout32.xml"/><Relationship Id="rId20" Type="http://schemas.openxmlformats.org/officeDocument/2006/relationships/slideLayout" Target="../slideLayouts/slideLayout31.xml"/><Relationship Id="rId2" Type="http://schemas.openxmlformats.org/officeDocument/2006/relationships/slideLayout" Target="../slideLayouts/slideLayout13.xml"/><Relationship Id="rId19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29.xml"/><Relationship Id="rId17" Type="http://schemas.openxmlformats.org/officeDocument/2006/relationships/slideLayout" Target="../slideLayouts/slideLayout28.xml"/><Relationship Id="rId16" Type="http://schemas.openxmlformats.org/officeDocument/2006/relationships/slideLayout" Target="../slideLayouts/slideLayout27.xml"/><Relationship Id="rId15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25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950967" y="593367"/>
            <a:ext cx="102900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/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950967" y="1536633"/>
            <a:ext cx="102900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●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○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■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●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○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■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●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○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■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5.xml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5.xml"/><Relationship Id="rId1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1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r>
              <a:rPr lang="en-US" sz="5400" dirty="0"/>
              <a:t>Artificial Intelligence</a:t>
            </a:r>
            <a:br>
              <a:rPr lang="en-US" sz="6000" dirty="0"/>
            </a:br>
            <a:r>
              <a:rPr lang="en-GB" sz="2800" dirty="0">
                <a:solidFill>
                  <a:schemeClr val="accent4"/>
                </a:solidFill>
              </a:rPr>
              <a:t>(Machine Learning &amp; Deep Learning)</a:t>
            </a:r>
            <a:endParaRPr sz="2800" dirty="0"/>
          </a:p>
        </p:txBody>
      </p:sp>
      <p:sp>
        <p:nvSpPr>
          <p:cNvPr id="239" name="Google Shape;239;p31"/>
          <p:cNvSpPr txBox="1">
            <a:spLocks noGrp="1"/>
          </p:cNvSpPr>
          <p:nvPr>
            <p:ph type="subTitle" idx="1"/>
          </p:nvPr>
        </p:nvSpPr>
        <p:spPr>
          <a:xfrm>
            <a:off x="3217849" y="4473517"/>
            <a:ext cx="8487720" cy="567052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/>
            <a:r>
              <a:rPr lang="en-US" sz="1865" dirty="0"/>
              <a:t>Multivariate Logistic Regression</a:t>
            </a:r>
            <a:endParaRPr lang="en-US" sz="1865" dirty="0"/>
          </a:p>
        </p:txBody>
      </p:sp>
      <p:sp>
        <p:nvSpPr>
          <p:cNvPr id="240" name="Google Shape;240;p31"/>
          <p:cNvSpPr txBox="1"/>
          <p:nvPr/>
        </p:nvSpPr>
        <p:spPr>
          <a:xfrm>
            <a:off x="2796400" y="761333"/>
            <a:ext cx="939600" cy="11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defRPr/>
            </a:pPr>
            <a:r>
              <a:rPr kumimoji="0" lang="en-GB" sz="6665" b="0" i="0" u="none" strike="noStrike" kern="0" cap="none" spc="0" normalizeH="0" baseline="0" noProof="0">
                <a:ln>
                  <a:noFill/>
                </a:ln>
                <a:solidFill>
                  <a:srgbClr val="E81A81"/>
                </a:solidFill>
                <a:effectLst/>
                <a:uLnTx/>
                <a:uFillTx/>
                <a:latin typeface="Comfortaa"/>
                <a:ea typeface="Comfortaa"/>
                <a:cs typeface="Comfortaa"/>
                <a:sym typeface="Comfortaa"/>
              </a:rPr>
              <a:t>{</a:t>
            </a:r>
            <a:endParaRPr kumimoji="0" sz="6665" b="0" i="0" u="none" strike="noStrike" kern="0" cap="none" spc="0" normalizeH="0" baseline="0" noProof="0">
              <a:ln>
                <a:noFill/>
              </a:ln>
              <a:solidFill>
                <a:srgbClr val="E81A81"/>
              </a:solidFill>
              <a:effectLst/>
              <a:uLnTx/>
              <a:uFillTx/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41" name="Google Shape;241;p31"/>
          <p:cNvSpPr txBox="1"/>
          <p:nvPr/>
        </p:nvSpPr>
        <p:spPr>
          <a:xfrm>
            <a:off x="11450667" y="5335900"/>
            <a:ext cx="692400" cy="101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defRPr/>
            </a:pPr>
            <a:r>
              <a:rPr kumimoji="0" lang="en-GB" sz="6665" b="0" i="0" u="none" strike="noStrike" kern="0" cap="none" spc="0" normalizeH="0" baseline="0" noProof="0">
                <a:ln>
                  <a:noFill/>
                </a:ln>
                <a:solidFill>
                  <a:srgbClr val="4CAE97"/>
                </a:solidFill>
                <a:effectLst/>
                <a:uLnTx/>
                <a:uFillTx/>
                <a:latin typeface="Comfortaa"/>
                <a:ea typeface="Comfortaa"/>
                <a:cs typeface="Comfortaa"/>
                <a:sym typeface="Comfortaa"/>
              </a:rPr>
              <a:t>}</a:t>
            </a:r>
            <a:endParaRPr kumimoji="0" sz="6665" b="0" i="0" u="none" strike="noStrike" kern="0" cap="none" spc="0" normalizeH="0" baseline="0" noProof="0">
              <a:ln>
                <a:noFill/>
              </a:ln>
              <a:solidFill>
                <a:srgbClr val="4CAE97"/>
              </a:solidFill>
              <a:effectLst/>
              <a:uLnTx/>
              <a:uFillTx/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42" name="Google Shape;242;p31"/>
          <p:cNvSpPr txBox="1"/>
          <p:nvPr/>
        </p:nvSpPr>
        <p:spPr>
          <a:xfrm>
            <a:off x="3796500" y="5477887"/>
            <a:ext cx="1930000" cy="72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marL="0" marR="0" lvl="0" indent="0" algn="r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defRPr/>
            </a:pPr>
            <a:r>
              <a:rPr kumimoji="0" lang="en-GB" sz="6665" b="0" i="0" u="none" strike="noStrike" kern="0" cap="none" spc="0" normalizeH="0" baseline="0" noProof="0">
                <a:ln>
                  <a:noFill/>
                </a:ln>
                <a:solidFill>
                  <a:srgbClr val="94EE6B"/>
                </a:solidFill>
                <a:effectLst/>
                <a:uLnTx/>
                <a:uFillTx/>
                <a:latin typeface="Fira Code"/>
                <a:ea typeface="Fira Code"/>
                <a:cs typeface="Fira Code"/>
                <a:sym typeface="Fira Code"/>
              </a:rPr>
              <a:t>...</a:t>
            </a:r>
            <a:endParaRPr kumimoji="0" sz="6665" b="0" i="0" u="none" strike="noStrike" kern="0" cap="none" spc="0" normalizeH="0" baseline="0" noProof="0">
              <a:ln>
                <a:noFill/>
              </a:ln>
              <a:solidFill>
                <a:srgbClr val="94EE6B"/>
              </a:solidFill>
              <a:effectLst/>
              <a:uLnTx/>
              <a:uFillTx/>
              <a:latin typeface="Arial" panose="020B0604020202020204"/>
              <a:ea typeface="+mn-ea"/>
              <a:cs typeface="Arial" panose="020B0604020202020204"/>
              <a:sym typeface="Arial" panose="020B0604020202020204"/>
            </a:endParaRPr>
          </a:p>
        </p:txBody>
      </p:sp>
      <p:grpSp>
        <p:nvGrpSpPr>
          <p:cNvPr id="243" name="Google Shape;243;p31"/>
          <p:cNvGrpSpPr/>
          <p:nvPr/>
        </p:nvGrpSpPr>
        <p:grpSpPr>
          <a:xfrm>
            <a:off x="10746533" y="595001"/>
            <a:ext cx="630800" cy="248667"/>
            <a:chOff x="7059675" y="514525"/>
            <a:chExt cx="473100" cy="186500"/>
          </a:xfrm>
        </p:grpSpPr>
        <p:cxnSp>
          <p:nvCxnSpPr>
            <p:cNvPr id="244" name="Google Shape;244;p31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5" name="Google Shape;245;p31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6" name="Google Shape;246;p31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247" name="Google Shape;247;p31"/>
          <p:cNvGrpSpPr/>
          <p:nvPr/>
        </p:nvGrpSpPr>
        <p:grpSpPr>
          <a:xfrm>
            <a:off x="340175" y="928586"/>
            <a:ext cx="3170543" cy="5210084"/>
            <a:chOff x="5" y="747463"/>
            <a:chExt cx="2377907" cy="3907563"/>
          </a:xfrm>
        </p:grpSpPr>
        <p:sp>
          <p:nvSpPr>
            <p:cNvPr id="248" name="Google Shape;248;p31"/>
            <p:cNvSpPr/>
            <p:nvPr/>
          </p:nvSpPr>
          <p:spPr>
            <a:xfrm>
              <a:off x="5" y="756038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49" name="Google Shape;249;p31"/>
            <p:cNvSpPr/>
            <p:nvPr/>
          </p:nvSpPr>
          <p:spPr>
            <a:xfrm>
              <a:off x="486329" y="747463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50" name="Google Shape;250;p31"/>
            <p:cNvSpPr/>
            <p:nvPr/>
          </p:nvSpPr>
          <p:spPr>
            <a:xfrm>
              <a:off x="5" y="1068263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51" name="Google Shape;251;p31"/>
            <p:cNvSpPr/>
            <p:nvPr/>
          </p:nvSpPr>
          <p:spPr>
            <a:xfrm>
              <a:off x="5" y="1394975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52" name="Google Shape;252;p31"/>
            <p:cNvSpPr/>
            <p:nvPr/>
          </p:nvSpPr>
          <p:spPr>
            <a:xfrm>
              <a:off x="5" y="1721713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53" name="Google Shape;253;p31"/>
            <p:cNvSpPr/>
            <p:nvPr/>
          </p:nvSpPr>
          <p:spPr>
            <a:xfrm>
              <a:off x="434858" y="1721713"/>
              <a:ext cx="4545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54" name="Google Shape;254;p31"/>
            <p:cNvSpPr/>
            <p:nvPr/>
          </p:nvSpPr>
          <p:spPr>
            <a:xfrm>
              <a:off x="934654" y="1721722"/>
              <a:ext cx="2607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55" name="Google Shape;255;p31"/>
            <p:cNvSpPr/>
            <p:nvPr/>
          </p:nvSpPr>
          <p:spPr>
            <a:xfrm>
              <a:off x="5" y="203228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56" name="Google Shape;256;p31"/>
            <p:cNvSpPr/>
            <p:nvPr/>
          </p:nvSpPr>
          <p:spPr>
            <a:xfrm>
              <a:off x="5" y="237513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57" name="Google Shape;257;p31"/>
            <p:cNvSpPr/>
            <p:nvPr/>
          </p:nvSpPr>
          <p:spPr>
            <a:xfrm>
              <a:off x="5" y="2684063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58" name="Google Shape;258;p31"/>
            <p:cNvSpPr/>
            <p:nvPr/>
          </p:nvSpPr>
          <p:spPr>
            <a:xfrm>
              <a:off x="5" y="299298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59" name="Google Shape;259;p31"/>
            <p:cNvSpPr/>
            <p:nvPr/>
          </p:nvSpPr>
          <p:spPr>
            <a:xfrm>
              <a:off x="13726" y="3773963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60" name="Google Shape;260;p31"/>
            <p:cNvSpPr/>
            <p:nvPr/>
          </p:nvSpPr>
          <p:spPr>
            <a:xfrm>
              <a:off x="434858" y="203228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61" name="Google Shape;261;p31"/>
            <p:cNvSpPr/>
            <p:nvPr/>
          </p:nvSpPr>
          <p:spPr>
            <a:xfrm>
              <a:off x="395919" y="237513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62" name="Google Shape;262;p31"/>
            <p:cNvSpPr/>
            <p:nvPr/>
          </p:nvSpPr>
          <p:spPr>
            <a:xfrm>
              <a:off x="434858" y="2684063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63" name="Google Shape;263;p31"/>
            <p:cNvSpPr/>
            <p:nvPr/>
          </p:nvSpPr>
          <p:spPr>
            <a:xfrm>
              <a:off x="434858" y="3009950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64" name="Google Shape;264;p31"/>
            <p:cNvSpPr/>
            <p:nvPr/>
          </p:nvSpPr>
          <p:spPr>
            <a:xfrm>
              <a:off x="434858" y="333583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65" name="Google Shape;265;p31"/>
            <p:cNvSpPr/>
            <p:nvPr/>
          </p:nvSpPr>
          <p:spPr>
            <a:xfrm>
              <a:off x="838550" y="2032296"/>
              <a:ext cx="4656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66" name="Google Shape;266;p31"/>
            <p:cNvSpPr/>
            <p:nvPr/>
          </p:nvSpPr>
          <p:spPr>
            <a:xfrm>
              <a:off x="838550" y="2375145"/>
              <a:ext cx="6507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67" name="Google Shape;267;p31"/>
            <p:cNvSpPr/>
            <p:nvPr/>
          </p:nvSpPr>
          <p:spPr>
            <a:xfrm>
              <a:off x="861466" y="2684069"/>
              <a:ext cx="7572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68" name="Google Shape;268;p31"/>
            <p:cNvSpPr/>
            <p:nvPr/>
          </p:nvSpPr>
          <p:spPr>
            <a:xfrm>
              <a:off x="861466" y="3028567"/>
              <a:ext cx="7572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69" name="Google Shape;269;p31"/>
            <p:cNvSpPr/>
            <p:nvPr/>
          </p:nvSpPr>
          <p:spPr>
            <a:xfrm>
              <a:off x="861466" y="3335841"/>
              <a:ext cx="7572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70" name="Google Shape;270;p31"/>
            <p:cNvSpPr/>
            <p:nvPr/>
          </p:nvSpPr>
          <p:spPr>
            <a:xfrm>
              <a:off x="1360349" y="2032296"/>
              <a:ext cx="4242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71" name="Google Shape;271;p31"/>
            <p:cNvSpPr/>
            <p:nvPr/>
          </p:nvSpPr>
          <p:spPr>
            <a:xfrm>
              <a:off x="1573836" y="2358182"/>
              <a:ext cx="4242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72" name="Google Shape;272;p31"/>
            <p:cNvSpPr/>
            <p:nvPr/>
          </p:nvSpPr>
          <p:spPr>
            <a:xfrm>
              <a:off x="1697856" y="2684094"/>
              <a:ext cx="2607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73" name="Google Shape;273;p31"/>
            <p:cNvSpPr/>
            <p:nvPr/>
          </p:nvSpPr>
          <p:spPr>
            <a:xfrm>
              <a:off x="1697856" y="3335891"/>
              <a:ext cx="260700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74" name="Google Shape;274;p31"/>
            <p:cNvSpPr/>
            <p:nvPr/>
          </p:nvSpPr>
          <p:spPr>
            <a:xfrm>
              <a:off x="13726" y="401303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75" name="Google Shape;275;p31"/>
            <p:cNvSpPr/>
            <p:nvPr/>
          </p:nvSpPr>
          <p:spPr>
            <a:xfrm>
              <a:off x="395919" y="429653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76" name="Google Shape;276;p31"/>
            <p:cNvSpPr/>
            <p:nvPr/>
          </p:nvSpPr>
          <p:spPr>
            <a:xfrm>
              <a:off x="875884" y="4296538"/>
              <a:ext cx="3855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77" name="Google Shape;277;p31"/>
            <p:cNvSpPr/>
            <p:nvPr/>
          </p:nvSpPr>
          <p:spPr>
            <a:xfrm>
              <a:off x="1360349" y="4296538"/>
              <a:ext cx="486900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78" name="Google Shape;278;p31"/>
            <p:cNvSpPr/>
            <p:nvPr/>
          </p:nvSpPr>
          <p:spPr>
            <a:xfrm>
              <a:off x="1912083" y="4296538"/>
              <a:ext cx="1776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79" name="Google Shape;279;p31"/>
            <p:cNvSpPr/>
            <p:nvPr/>
          </p:nvSpPr>
          <p:spPr>
            <a:xfrm>
              <a:off x="395919" y="4505063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80" name="Google Shape;280;p31"/>
            <p:cNvSpPr/>
            <p:nvPr/>
          </p:nvSpPr>
          <p:spPr>
            <a:xfrm>
              <a:off x="875884" y="4505063"/>
              <a:ext cx="6135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81" name="Google Shape;281;p31"/>
            <p:cNvSpPr/>
            <p:nvPr/>
          </p:nvSpPr>
          <p:spPr>
            <a:xfrm>
              <a:off x="1570204" y="4505063"/>
              <a:ext cx="2607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82" name="Google Shape;282;p31"/>
            <p:cNvSpPr/>
            <p:nvPr/>
          </p:nvSpPr>
          <p:spPr>
            <a:xfrm>
              <a:off x="894657" y="759375"/>
              <a:ext cx="4656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83" name="Google Shape;283;p31"/>
            <p:cNvSpPr/>
            <p:nvPr/>
          </p:nvSpPr>
          <p:spPr>
            <a:xfrm>
              <a:off x="486348" y="1068288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84" name="Google Shape;284;p31"/>
            <p:cNvSpPr/>
            <p:nvPr/>
          </p:nvSpPr>
          <p:spPr>
            <a:xfrm>
              <a:off x="1169818" y="1064149"/>
              <a:ext cx="4656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85" name="Google Shape;285;p31"/>
            <p:cNvSpPr/>
            <p:nvPr/>
          </p:nvSpPr>
          <p:spPr>
            <a:xfrm>
              <a:off x="486342" y="1395013"/>
              <a:ext cx="402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86" name="Google Shape;286;p31"/>
            <p:cNvSpPr/>
            <p:nvPr/>
          </p:nvSpPr>
          <p:spPr>
            <a:xfrm>
              <a:off x="1254423" y="1719659"/>
              <a:ext cx="2964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87" name="Google Shape;287;p31"/>
            <p:cNvSpPr/>
            <p:nvPr/>
          </p:nvSpPr>
          <p:spPr>
            <a:xfrm>
              <a:off x="1697859" y="3028567"/>
              <a:ext cx="2964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88" name="Google Shape;288;p31"/>
            <p:cNvSpPr/>
            <p:nvPr/>
          </p:nvSpPr>
          <p:spPr>
            <a:xfrm>
              <a:off x="1840717" y="2032296"/>
              <a:ext cx="240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89" name="Google Shape;289;p31"/>
            <p:cNvSpPr/>
            <p:nvPr/>
          </p:nvSpPr>
          <p:spPr>
            <a:xfrm>
              <a:off x="2037810" y="2684069"/>
              <a:ext cx="240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90" name="Google Shape;290;p31"/>
            <p:cNvSpPr/>
            <p:nvPr/>
          </p:nvSpPr>
          <p:spPr>
            <a:xfrm>
              <a:off x="1912311" y="4507125"/>
              <a:ext cx="4656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91" name="Google Shape;291;p31"/>
            <p:cNvSpPr/>
            <p:nvPr/>
          </p:nvSpPr>
          <p:spPr>
            <a:xfrm>
              <a:off x="434873" y="3987600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92" name="Google Shape;292;p31"/>
            <p:cNvSpPr/>
            <p:nvPr/>
          </p:nvSpPr>
          <p:spPr>
            <a:xfrm>
              <a:off x="434873" y="3757500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Arial" panose="020B0604020202020204"/>
                <a:sym typeface="Arial" panose="020B0604020202020204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3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-GB" dirty="0"/>
              <a:t>Contents </a:t>
            </a:r>
            <a:r>
              <a:rPr lang="en-GB" dirty="0">
                <a:solidFill>
                  <a:schemeClr val="accent4"/>
                </a:solidFill>
              </a:rPr>
              <a:t>of Day 23</a:t>
            </a:r>
            <a:br>
              <a:rPr lang="en-GB" dirty="0">
                <a:solidFill>
                  <a:schemeClr val="accent4"/>
                </a:solidFill>
              </a:rPr>
            </a:br>
            <a:br>
              <a:rPr lang="en-GB" dirty="0">
                <a:solidFill>
                  <a:schemeClr val="accent4"/>
                </a:solidFill>
              </a:rPr>
            </a:br>
            <a:endParaRPr dirty="0">
              <a:solidFill>
                <a:schemeClr val="accent4"/>
              </a:solidFill>
            </a:endParaRPr>
          </a:p>
        </p:txBody>
      </p:sp>
      <p:sp>
        <p:nvSpPr>
          <p:cNvPr id="298" name="Google Shape;298;p3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299" name="Google Shape;299;p32"/>
          <p:cNvGraphicFramePr/>
          <p:nvPr/>
        </p:nvGraphicFramePr>
        <p:xfrm>
          <a:off x="968901" y="2328148"/>
          <a:ext cx="10272000" cy="3563292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326100"/>
                <a:gridCol w="6945900"/>
              </a:tblGrid>
              <a:tr h="58602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 dirty="0">
                          <a:solidFill>
                            <a:schemeClr val="dk2"/>
                          </a:solidFill>
                          <a:uFill>
                            <a:noFill/>
                          </a:u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Recap &amp; introduction</a:t>
                      </a:r>
                      <a:endParaRPr sz="1500" dirty="0">
                        <a:solidFill>
                          <a:schemeClr val="dk2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Moving from Python OOP to Data Science &amp; Machine Learning.</a:t>
                      </a:r>
                      <a:br>
                        <a:rPr lang="en-US" sz="1300" dirty="0"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</a:br>
                      <a:endParaRPr lang="en-US" sz="1300" dirty="0">
                        <a:latin typeface="Source Code Pro" panose="020B0509030403020204" pitchFamily="49" charset="0"/>
                        <a:ea typeface="Source Code Pro" panose="020B0509030403020204" pitchFamily="49" charset="0"/>
                      </a:endParaRP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12192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 dirty="0">
                          <a:solidFill>
                            <a:schemeClr val="accent2"/>
                          </a:solidFill>
                          <a:uFill>
                            <a:noFill/>
                          </a:u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Core Thoery</a:t>
                      </a:r>
                      <a:endParaRPr sz="1500" dirty="0">
                        <a:solidFill>
                          <a:schemeClr val="accent2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Logistic Regression (Binary Classification).</a:t>
                      </a:r>
                      <a:endParaRPr lang="en-US" sz="1300" b="1" dirty="0">
                        <a:solidFill>
                          <a:schemeClr val="tx1"/>
                        </a:solidFill>
                        <a:latin typeface="Source Code Pro" panose="020B0509030403020204" pitchFamily="49" charset="0"/>
                        <a:ea typeface="Source Code Pro" panose="020B0509030403020204" pitchFamily="49" charset="0"/>
                      </a:endParaRPr>
                    </a:p>
                    <a:p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Predicting Categories (0 or 1), Not Continuous Numbers.</a:t>
                      </a:r>
                      <a:endParaRPr lang="en-US" sz="1300" b="1" dirty="0">
                        <a:solidFill>
                          <a:schemeClr val="tx1"/>
                        </a:solidFill>
                        <a:latin typeface="Source Code Pro" panose="020B0509030403020204" pitchFamily="49" charset="0"/>
                        <a:ea typeface="Source Code Pro" panose="020B0509030403020204" pitchFamily="49" charset="0"/>
                      </a:endParaRPr>
                    </a:p>
                    <a:p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The Sigmoid Activation Function.</a:t>
                      </a:r>
                      <a:endParaRPr lang="en-US" sz="1300" b="1" dirty="0">
                        <a:solidFill>
                          <a:schemeClr val="tx1"/>
                        </a:solidFill>
                        <a:latin typeface="Source Code Pro" panose="020B0509030403020204" pitchFamily="49" charset="0"/>
                        <a:ea typeface="Source Code Pro" panose="020B0509030403020204" pitchFamily="49" charset="0"/>
                      </a:endParaRP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58602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 dirty="0">
                          <a:solidFill>
                            <a:schemeClr val="accent4"/>
                          </a:solidFill>
                          <a:uFill>
                            <a:noFill/>
                          </a:u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Lab Practice</a:t>
                      </a:r>
                      <a:endParaRPr sz="1500" dirty="0">
                        <a:solidFill>
                          <a:schemeClr val="accent4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US" sz="1300" dirty="0">
                          <a:solidFill>
                            <a:schemeClr val="dk1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Practical coding tasks implementing method</a:t>
                      </a:r>
                      <a:endParaRPr sz="1300" dirty="0">
                        <a:solidFill>
                          <a:schemeClr val="dk1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58602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solidFill>
                            <a:schemeClr val="accent5"/>
                          </a:solidFill>
                          <a:uFill>
                            <a:noFill/>
                          </a:u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Advance Lab</a:t>
                      </a:r>
                      <a:endParaRPr sz="1500" dirty="0">
                        <a:solidFill>
                          <a:schemeClr val="accent5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US" sz="1300" dirty="0">
                          <a:solidFill>
                            <a:schemeClr val="dk1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Understanding the logic with real world examples.</a:t>
                      </a:r>
                      <a:endParaRPr lang="en-US" sz="1300" dirty="0">
                        <a:solidFill>
                          <a:schemeClr val="dk1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58602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solidFill>
                            <a:schemeClr val="accent1"/>
                          </a:solidFill>
                          <a:uFill>
                            <a:noFill/>
                          </a:u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Wrap-up &amp; Q&amp;A</a:t>
                      </a:r>
                      <a:endParaRPr sz="1500" dirty="0">
                        <a:solidFill>
                          <a:schemeClr val="accent1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dirty="0">
                          <a:solidFill>
                            <a:schemeClr val="dk1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Debugging tips along with Q&amp;A and suggestion</a:t>
                      </a:r>
                      <a:endParaRPr sz="1300" dirty="0">
                        <a:solidFill>
                          <a:schemeClr val="dk1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300" name="Google Shape;300;p32"/>
          <p:cNvSpPr txBox="1"/>
          <p:nvPr/>
        </p:nvSpPr>
        <p:spPr>
          <a:xfrm>
            <a:off x="951099" y="5523067"/>
            <a:ext cx="40852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endParaRPr sz="1465" dirty="0">
              <a:solidFill>
                <a:schemeClr val="accent3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Source Code Pro"/>
              </a:rPr>
              <a:t>From Numbers to Categories</a:t>
            </a:r>
            <a:endParaRPr sz="3200" b="0">
              <a:solidFill>
                <a:srgbClr val="FFFFFF"/>
              </a:solidFill>
              <a:latin typeface="Source Code Pro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56032" y="1463040"/>
            <a:ext cx="822960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Last lesson: We predicted </a:t>
            </a:r>
            <a:r>
              <a:rPr sz="1400" b="1" dirty="0">
                <a:solidFill>
                  <a:srgbClr val="FF0000"/>
                </a:solidFill>
                <a:latin typeface="Source Code Pro"/>
              </a:rPr>
              <a:t>continuous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FF0000"/>
                </a:solidFill>
                <a:latin typeface="Source Code Pro"/>
              </a:rPr>
              <a:t>numbers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(house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price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= $350k).</a:t>
            </a:r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Today: We predict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categories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(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Safe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or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DDoS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EC7955"/>
                </a:solidFill>
                <a:latin typeface="Source Code Pro"/>
              </a:rPr>
              <a:t>Attack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, </a:t>
            </a:r>
            <a:r>
              <a:rPr sz="1400" b="1" dirty="0">
                <a:solidFill>
                  <a:srgbClr val="BD64B5"/>
                </a:solidFill>
                <a:latin typeface="Source Code Pro"/>
              </a:rPr>
              <a:t>Spam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or </a:t>
            </a:r>
            <a:r>
              <a:rPr sz="1400" b="1" dirty="0">
                <a:solidFill>
                  <a:srgbClr val="BD64B5"/>
                </a:solidFill>
                <a:latin typeface="Source Code Pro"/>
              </a:rPr>
              <a:t>Legitimate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).</a:t>
            </a:r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Challenge: How do you force a model to output only 0 or 1?</a:t>
            </a:r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The </a:t>
            </a:r>
            <a:r>
              <a:rPr sz="1400" b="1" dirty="0">
                <a:solidFill>
                  <a:srgbClr val="EC7955"/>
                </a:solidFill>
                <a:latin typeface="Source Code Pro"/>
              </a:rPr>
              <a:t>answer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: The </a:t>
            </a:r>
            <a:r>
              <a:rPr sz="1400" b="1" dirty="0">
                <a:solidFill>
                  <a:srgbClr val="00B0F0"/>
                </a:solidFill>
                <a:latin typeface="Source Code Pro"/>
              </a:rPr>
              <a:t>Sigmoid</a:t>
            </a:r>
            <a:r>
              <a:rPr sz="1400" dirty="0">
                <a:solidFill>
                  <a:srgbClr val="00B0F0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00B0F0"/>
                </a:solidFill>
                <a:latin typeface="Source Code Pro"/>
              </a:rPr>
              <a:t>function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  <a:endParaRPr sz="1400" dirty="0">
              <a:solidFill>
                <a:srgbClr val="E7E7E7"/>
              </a:solidFill>
              <a:latin typeface="Source Code Pr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Source Code Pro"/>
              </a:rPr>
              <a:t>The Classification Problem</a:t>
            </a:r>
            <a:endParaRPr sz="3200" b="0">
              <a:solidFill>
                <a:srgbClr val="FFFFFF"/>
              </a:solidFill>
              <a:latin typeface="Source Code Pro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56032" y="1463040"/>
            <a:ext cx="8229600" cy="26765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b="1" dirty="0">
                <a:solidFill>
                  <a:schemeClr val="accent3"/>
                </a:solidFill>
                <a:latin typeface="Source Code Pro"/>
              </a:rPr>
              <a:t>L</a:t>
            </a:r>
            <a:r>
              <a:rPr lang="en-US" sz="1400" b="1" dirty="0">
                <a:solidFill>
                  <a:schemeClr val="accent3"/>
                </a:solidFill>
                <a:latin typeface="Source Code Pro"/>
              </a:rPr>
              <a:t>ogistic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4CAE97"/>
                </a:solidFill>
                <a:latin typeface="Source Code Pro"/>
              </a:rPr>
              <a:t>Regression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:</a:t>
            </a:r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Predicts continuous values (any number).</a:t>
            </a:r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Server load at 85.5%, house price at $350,127, temperature at 72.3°C.</a:t>
            </a:r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Binary </a:t>
            </a:r>
            <a:r>
              <a:rPr sz="1400" b="1" dirty="0">
                <a:solidFill>
                  <a:srgbClr val="BD64B5"/>
                </a:solidFill>
                <a:latin typeface="Source Code Pro"/>
              </a:rPr>
              <a:t>Classification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:</a:t>
            </a:r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Predicts strict </a:t>
            </a:r>
            <a:r>
              <a:rPr sz="1400" b="1" dirty="0">
                <a:solidFill>
                  <a:srgbClr val="4CAE97"/>
                </a:solidFill>
                <a:latin typeface="Source Code Pro"/>
              </a:rPr>
              <a:t>categories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(only 0 or 1).</a:t>
            </a:r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Safe traffic [0] or DDoS attack [1].</a:t>
            </a:r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Spam email [0] or legitimate [1].</a:t>
            </a:r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Approved [0] or rejected [1].</a:t>
            </a:r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We moved from "how much" to "</a:t>
            </a:r>
            <a:r>
              <a:rPr sz="1400" b="1" dirty="0">
                <a:solidFill>
                  <a:schemeClr val="tx2"/>
                </a:solidFill>
                <a:latin typeface="Source Code Pro"/>
              </a:rPr>
              <a:t>which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EC7955"/>
                </a:solidFill>
                <a:latin typeface="Source Code Pro"/>
              </a:rPr>
              <a:t>one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."</a:t>
            </a:r>
            <a:endParaRPr sz="1400" dirty="0">
              <a:solidFill>
                <a:srgbClr val="E7E7E7"/>
              </a:solidFill>
              <a:latin typeface="Source Code Pr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199" y="365760"/>
            <a:ext cx="11587655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 dirty="0">
                <a:solidFill>
                  <a:srgbClr val="FFFFFF"/>
                </a:solidFill>
                <a:latin typeface="Source Code Pro"/>
              </a:rPr>
              <a:t>Why </a:t>
            </a:r>
            <a:r>
              <a:rPr lang="en-US" sz="3200" b="0" dirty="0">
                <a:solidFill>
                  <a:srgbClr val="FFFFFF"/>
                </a:solidFill>
                <a:latin typeface="Source Code Pro"/>
              </a:rPr>
              <a:t>Logistic </a:t>
            </a:r>
            <a:r>
              <a:rPr sz="3200" b="0" dirty="0">
                <a:solidFill>
                  <a:srgbClr val="FFFFFF"/>
                </a:solidFill>
                <a:latin typeface="Source Code Pro"/>
              </a:rPr>
              <a:t>Regression Fails at Classification</a:t>
            </a:r>
            <a:endParaRPr sz="3200" b="0" dirty="0">
              <a:solidFill>
                <a:srgbClr val="FFFFFF"/>
              </a:solidFill>
              <a:latin typeface="Source Code Pro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56032" y="1463040"/>
            <a:ext cx="8229600" cy="28917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lang="en-US" sz="1400" dirty="0">
                <a:solidFill>
                  <a:srgbClr val="FFFFFF"/>
                </a:solidFill>
                <a:latin typeface="Source Code Pro"/>
                <a:sym typeface="+mn-ea"/>
              </a:rPr>
              <a:t>Logistic </a:t>
            </a:r>
            <a:r>
              <a:rPr sz="1400" b="1" dirty="0">
                <a:solidFill>
                  <a:srgbClr val="94EE6B"/>
                </a:solidFill>
                <a:latin typeface="Source Code Pro"/>
              </a:rPr>
              <a:t>Regression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draws a straight </a:t>
            </a:r>
            <a:r>
              <a:rPr sz="1400" b="1" dirty="0">
                <a:solidFill>
                  <a:srgbClr val="94EE6B"/>
                </a:solidFill>
                <a:latin typeface="Source Code Pro"/>
              </a:rPr>
              <a:t>line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through </a:t>
            </a:r>
            <a:r>
              <a:rPr sz="1400" b="1" dirty="0">
                <a:solidFill>
                  <a:srgbClr val="FD4A4A"/>
                </a:solidFill>
                <a:latin typeface="Source Code Pro"/>
              </a:rPr>
              <a:t>data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The </a:t>
            </a:r>
            <a:r>
              <a:rPr sz="1400" b="1" dirty="0">
                <a:solidFill>
                  <a:srgbClr val="94EE6B"/>
                </a:solidFill>
                <a:latin typeface="Source Code Pro"/>
              </a:rPr>
              <a:t>Problem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:</a:t>
            </a:r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A straight line has no boundaries.</a:t>
            </a:r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It predicts impossible values: -5, +10, +999.</a:t>
            </a:r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But probabilities must be 0% to 100% (0.0 to 1.0).</a:t>
            </a:r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Example:</a:t>
            </a:r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Linear model predicts: -2.5 (impossible as probability)</a:t>
            </a:r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Linear model predicts: +8.3 (impossible as probability)</a:t>
            </a:r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A straight line is the wrong </a:t>
            </a:r>
            <a:r>
              <a:rPr sz="1400" b="1" dirty="0">
                <a:solidFill>
                  <a:srgbClr val="BD64B5"/>
                </a:solidFill>
                <a:latin typeface="Source Code Pro"/>
              </a:rPr>
              <a:t>tool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for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classification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  <a:endParaRPr sz="1400" dirty="0">
              <a:solidFill>
                <a:srgbClr val="E7E7E7"/>
              </a:solidFill>
              <a:latin typeface="Source Code Pr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052190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 dirty="0">
                <a:solidFill>
                  <a:srgbClr val="FFFFFF"/>
                </a:solidFill>
                <a:latin typeface="Source Code Pro"/>
              </a:rPr>
              <a:t>The Sigmoid Function - The Solution</a:t>
            </a:r>
            <a:endParaRPr sz="3200" b="0" dirty="0">
              <a:solidFill>
                <a:srgbClr val="FFFFFF"/>
              </a:solidFill>
              <a:latin typeface="Source Code Pro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/>
              <p:cNvSpPr txBox="1"/>
              <p:nvPr/>
            </p:nvSpPr>
            <p:spPr>
              <a:xfrm>
                <a:off x="256032" y="1463040"/>
                <a:ext cx="8229600" cy="440120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endParaRPr lang="en-US" sz="1400" dirty="0">
                  <a:solidFill>
                    <a:srgbClr val="E7E7E7"/>
                  </a:solidFill>
                  <a:latin typeface="Source Code Pro"/>
                </a:endParaRPr>
              </a:p>
              <a:p>
                <a:pPr algn="l"/>
                <a:r>
                  <a:rPr sz="1400" dirty="0">
                    <a:solidFill>
                      <a:srgbClr val="E7E7E7"/>
                    </a:solidFill>
                    <a:latin typeface="Source Code Pro"/>
                  </a:rPr>
                  <a:t>The </a:t>
                </a:r>
                <a:r>
                  <a:rPr sz="1400" b="1" dirty="0">
                    <a:solidFill>
                      <a:schemeClr val="bg2"/>
                    </a:solidFill>
                    <a:latin typeface="Source Code Pro"/>
                  </a:rPr>
                  <a:t>Sigmoid</a:t>
                </a:r>
                <a:r>
                  <a:rPr sz="1400" dirty="0">
                    <a:solidFill>
                      <a:srgbClr val="E7E7E7"/>
                    </a:solidFill>
                    <a:latin typeface="Source Code Pro"/>
                  </a:rPr>
                  <a:t> </a:t>
                </a:r>
                <a:r>
                  <a:rPr sz="1400" b="1" dirty="0">
                    <a:solidFill>
                      <a:srgbClr val="FD4A4A"/>
                    </a:solidFill>
                    <a:latin typeface="Source Code Pro"/>
                  </a:rPr>
                  <a:t>function</a:t>
                </a:r>
                <a:r>
                  <a:rPr sz="1400" dirty="0">
                    <a:solidFill>
                      <a:srgbClr val="E7E7E7"/>
                    </a:solidFill>
                    <a:latin typeface="Source Code Pro"/>
                  </a:rPr>
                  <a:t> takes any number and squashes it into 0-1 </a:t>
                </a:r>
                <a:r>
                  <a:rPr sz="1400" b="1" dirty="0">
                    <a:solidFill>
                      <a:srgbClr val="EC7955"/>
                    </a:solidFill>
                    <a:latin typeface="Source Code Pro"/>
                  </a:rPr>
                  <a:t>range</a:t>
                </a:r>
                <a:r>
                  <a:rPr sz="1400" dirty="0">
                    <a:solidFill>
                      <a:srgbClr val="E7E7E7"/>
                    </a:solidFill>
                    <a:latin typeface="Source Code Pro"/>
                  </a:rPr>
                  <a:t>.</a:t>
                </a:r>
                <a:endParaRPr sz="1400" dirty="0">
                  <a:solidFill>
                    <a:srgbClr val="E7E7E7"/>
                  </a:solidFill>
                  <a:latin typeface="Source Code Pro"/>
                </a:endParaRPr>
              </a:p>
              <a:p>
                <a:pPr algn="l"/>
                <a:endParaRPr sz="1400" dirty="0">
                  <a:solidFill>
                    <a:srgbClr val="E7E7E7"/>
                  </a:solidFill>
                  <a:latin typeface="Source Code Pro"/>
                </a:endParaRPr>
              </a:p>
              <a:p>
                <a:r>
                  <a:rPr sz="1400" dirty="0">
                    <a:solidFill>
                      <a:srgbClr val="E7E7E7"/>
                    </a:solidFill>
                    <a:latin typeface="Source Code Pro"/>
                  </a:rPr>
                  <a:t>Formula: S(z) = 1 / (1 +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sz="1400" i="1">
                            <a:solidFill>
                              <a:srgbClr val="E7E7E7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sz="1400" i="1">
                            <a:solidFill>
                              <a:srgbClr val="E7E7E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ar-AE" sz="1400" i="1">
                            <a:solidFill>
                              <a:srgbClr val="E7E7E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ar-AE" sz="1400" i="1">
                            <a:solidFill>
                              <a:srgbClr val="E7E7E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sup>
                    </m:sSup>
                  </m:oMath>
                </a14:m>
                <a:r>
                  <a:rPr sz="1400" dirty="0">
                    <a:solidFill>
                      <a:srgbClr val="E7E7E7"/>
                    </a:solidFill>
                    <a:latin typeface="Source Code Pro"/>
                  </a:rPr>
                  <a:t>)</a:t>
                </a:r>
                <a:endParaRPr lang="en-US" sz="1400" dirty="0">
                  <a:solidFill>
                    <a:srgbClr val="E7E7E7"/>
                  </a:solidFill>
                  <a:latin typeface="Source Code Pro"/>
                </a:endParaRPr>
              </a:p>
              <a:p>
                <a:endParaRPr lang="en-US" sz="1400" dirty="0">
                  <a:solidFill>
                    <a:srgbClr val="E7E7E7"/>
                  </a:solidFill>
                  <a:latin typeface="Source Code Pro"/>
                </a:endParaRPr>
              </a:p>
              <a:p>
                <a:endParaRPr lang="en-US" sz="1400" dirty="0">
                  <a:solidFill>
                    <a:srgbClr val="E7E7E7"/>
                  </a:solidFill>
                  <a:latin typeface="Source Code Pro"/>
                </a:endParaRPr>
              </a:p>
              <a:p>
                <a:r>
                  <a:rPr lang="en-US" sz="1400" dirty="0">
                    <a:solidFill>
                      <a:srgbClr val="E7E7E7"/>
                    </a:solidFill>
                    <a:latin typeface="Source Code Pro"/>
                  </a:rPr>
                  <a:t>z = any number from the linear equation (z = m*x + b)</a:t>
                </a:r>
                <a:endParaRPr lang="en-US" sz="1400" dirty="0">
                  <a:solidFill>
                    <a:srgbClr val="E7E7E7"/>
                  </a:solidFill>
                  <a:latin typeface="Source Code Pro"/>
                </a:endParaRPr>
              </a:p>
              <a:p>
                <a:r>
                  <a:rPr lang="en-US" sz="1400" dirty="0">
                    <a:solidFill>
                      <a:srgbClr val="E7E7E7"/>
                    </a:solidFill>
                    <a:latin typeface="Source Code Pro"/>
                  </a:rPr>
                  <a:t>e = Euler's constant ≈ 2.71828 (like π, but for exponentials)</a:t>
                </a:r>
                <a:endParaRPr lang="en-US" sz="1400" dirty="0">
                  <a:solidFill>
                    <a:srgbClr val="E7E7E7"/>
                  </a:solidFill>
                  <a:latin typeface="Source Code Pro"/>
                </a:endParaRPr>
              </a:p>
              <a:p>
                <a:r>
                  <a:rPr lang="en-US" sz="1400" dirty="0">
                    <a:solidFill>
                      <a:srgbClr val="E7E7E7"/>
                    </a:solidFill>
                    <a:latin typeface="Source Code Pro"/>
                  </a:rPr>
                  <a:t>-z = flip the sign of z (makes the formula work)</a:t>
                </a:r>
                <a:endParaRPr lang="en-US" sz="1400" dirty="0">
                  <a:solidFill>
                    <a:srgbClr val="E7E7E7"/>
                  </a:solidFill>
                  <a:latin typeface="Source Code Pro"/>
                </a:endParaRPr>
              </a:p>
              <a:p>
                <a:r>
                  <a:rPr lang="en-US" sz="1400" dirty="0">
                    <a:solidFill>
                      <a:srgbClr val="E7E7E7"/>
                    </a:solidFill>
                    <a:latin typeface="Source Code Pro"/>
                  </a:rPr>
                  <a:t>S(z) = output probability (always 0 to 1)</a:t>
                </a:r>
                <a:endParaRPr sz="1400" dirty="0">
                  <a:solidFill>
                    <a:srgbClr val="E7E7E7"/>
                  </a:solidFill>
                  <a:latin typeface="Source Code Pro"/>
                </a:endParaRPr>
              </a:p>
              <a:p>
                <a:pPr algn="l"/>
                <a:endParaRPr sz="1400" dirty="0">
                  <a:solidFill>
                    <a:srgbClr val="E7E7E7"/>
                  </a:solidFill>
                  <a:latin typeface="Source Code Pro"/>
                </a:endParaRPr>
              </a:p>
              <a:p>
                <a:pPr algn="l"/>
                <a:r>
                  <a:rPr sz="1400" dirty="0">
                    <a:solidFill>
                      <a:srgbClr val="E7E7E7"/>
                    </a:solidFill>
                    <a:latin typeface="Source Code Pro"/>
                  </a:rPr>
                  <a:t>What it does:</a:t>
                </a:r>
                <a:endParaRPr sz="1400" dirty="0">
                  <a:solidFill>
                    <a:srgbClr val="E7E7E7"/>
                  </a:solidFill>
                  <a:latin typeface="Source Code Pro"/>
                </a:endParaRPr>
              </a:p>
              <a:p>
                <a:pPr algn="l"/>
                <a:r>
                  <a:rPr sz="1400" dirty="0">
                    <a:solidFill>
                      <a:srgbClr val="E7E7E7"/>
                    </a:solidFill>
                    <a:latin typeface="Source Code Pro"/>
                  </a:rPr>
                  <a:t>- Input: Any number (negative, zero, </a:t>
                </a:r>
                <a:r>
                  <a:rPr sz="1400" b="1" dirty="0">
                    <a:solidFill>
                      <a:srgbClr val="FD4A4A"/>
                    </a:solidFill>
                    <a:latin typeface="Source Code Pro"/>
                  </a:rPr>
                  <a:t>positive</a:t>
                </a:r>
                <a:r>
                  <a:rPr sz="1400" dirty="0">
                    <a:solidFill>
                      <a:srgbClr val="E7E7E7"/>
                    </a:solidFill>
                    <a:latin typeface="Source Code Pro"/>
                  </a:rPr>
                  <a:t>, huge)</a:t>
                </a:r>
                <a:endParaRPr sz="1400" dirty="0">
                  <a:solidFill>
                    <a:srgbClr val="E7E7E7"/>
                  </a:solidFill>
                  <a:latin typeface="Source Code Pro"/>
                </a:endParaRPr>
              </a:p>
              <a:p>
                <a:pPr algn="l"/>
                <a:r>
                  <a:rPr sz="1400" dirty="0">
                    <a:solidFill>
                      <a:srgbClr val="E7E7E7"/>
                    </a:solidFill>
                    <a:latin typeface="Source Code Pro"/>
                  </a:rPr>
                  <a:t>- Output: Number between 0.0 and 1.0</a:t>
                </a:r>
                <a:endParaRPr sz="1400" dirty="0">
                  <a:solidFill>
                    <a:srgbClr val="E7E7E7"/>
                  </a:solidFill>
                  <a:latin typeface="Source Code Pro"/>
                </a:endParaRPr>
              </a:p>
              <a:p>
                <a:pPr algn="l"/>
                <a:r>
                  <a:rPr sz="1400" dirty="0">
                    <a:solidFill>
                      <a:srgbClr val="E7E7E7"/>
                    </a:solidFill>
                    <a:latin typeface="Source Code Pro"/>
                  </a:rPr>
                  <a:t>- Shape: S-curve (flat at extremes, steep in </a:t>
                </a:r>
                <a:r>
                  <a:rPr sz="1400" b="1" dirty="0">
                    <a:solidFill>
                      <a:srgbClr val="BD64B5"/>
                    </a:solidFill>
                    <a:latin typeface="Source Code Pro"/>
                  </a:rPr>
                  <a:t>middle</a:t>
                </a:r>
                <a:r>
                  <a:rPr sz="1400" dirty="0">
                    <a:solidFill>
                      <a:srgbClr val="E7E7E7"/>
                    </a:solidFill>
                    <a:latin typeface="Source Code Pro"/>
                  </a:rPr>
                  <a:t>)</a:t>
                </a:r>
                <a:endParaRPr sz="1400" dirty="0">
                  <a:solidFill>
                    <a:srgbClr val="E7E7E7"/>
                  </a:solidFill>
                  <a:latin typeface="Source Code Pro"/>
                </a:endParaRPr>
              </a:p>
              <a:p>
                <a:pPr algn="l"/>
                <a:endParaRPr sz="1400" dirty="0">
                  <a:solidFill>
                    <a:srgbClr val="E7E7E7"/>
                  </a:solidFill>
                  <a:latin typeface="Source Code Pro"/>
                </a:endParaRPr>
              </a:p>
              <a:p>
                <a:pPr algn="l"/>
                <a:r>
                  <a:rPr sz="1400" dirty="0">
                    <a:solidFill>
                      <a:srgbClr val="E7E7E7"/>
                    </a:solidFill>
                    <a:latin typeface="Source Code Pro"/>
                  </a:rPr>
                  <a:t>Example:</a:t>
                </a:r>
                <a:endParaRPr sz="1400" dirty="0">
                  <a:solidFill>
                    <a:srgbClr val="E7E7E7"/>
                  </a:solidFill>
                  <a:latin typeface="Source Code Pro"/>
                </a:endParaRPr>
              </a:p>
              <a:p>
                <a:pPr algn="l"/>
                <a:r>
                  <a:rPr sz="1400" dirty="0">
                    <a:solidFill>
                      <a:srgbClr val="E7E7E7"/>
                    </a:solidFill>
                    <a:latin typeface="Source Code Pro"/>
                  </a:rPr>
                  <a:t>z = -10 → S(z) = 0.00005 (almost 0)</a:t>
                </a:r>
                <a:endParaRPr sz="1400" dirty="0">
                  <a:solidFill>
                    <a:srgbClr val="E7E7E7"/>
                  </a:solidFill>
                  <a:latin typeface="Source Code Pro"/>
                </a:endParaRPr>
              </a:p>
              <a:p>
                <a:pPr algn="l"/>
                <a:r>
                  <a:rPr sz="1400" dirty="0">
                    <a:solidFill>
                      <a:srgbClr val="E7E7E7"/>
                    </a:solidFill>
                    <a:latin typeface="Source Code Pro"/>
                  </a:rPr>
                  <a:t>z = 0 → S(z) = 0.5 (exactly </a:t>
                </a:r>
                <a:r>
                  <a:rPr sz="1400" b="1" dirty="0">
                    <a:solidFill>
                      <a:srgbClr val="EC7955"/>
                    </a:solidFill>
                    <a:latin typeface="Source Code Pro"/>
                  </a:rPr>
                  <a:t>middle</a:t>
                </a:r>
                <a:r>
                  <a:rPr sz="1400" dirty="0">
                    <a:solidFill>
                      <a:srgbClr val="E7E7E7"/>
                    </a:solidFill>
                    <a:latin typeface="Source Code Pro"/>
                  </a:rPr>
                  <a:t>)</a:t>
                </a:r>
                <a:endParaRPr sz="1400" dirty="0">
                  <a:solidFill>
                    <a:srgbClr val="E7E7E7"/>
                  </a:solidFill>
                  <a:latin typeface="Source Code Pro"/>
                </a:endParaRPr>
              </a:p>
              <a:p>
                <a:pPr algn="l"/>
                <a:r>
                  <a:rPr sz="1400" dirty="0">
                    <a:solidFill>
                      <a:srgbClr val="E7E7E7"/>
                    </a:solidFill>
                    <a:latin typeface="Source Code Pro"/>
                  </a:rPr>
                  <a:t>z = +10 → S(z) = 0.99995 (almost 1)</a:t>
                </a:r>
                <a:endParaRPr sz="1400" dirty="0">
                  <a:solidFill>
                    <a:srgbClr val="E7E7E7"/>
                  </a:solidFill>
                  <a:latin typeface="Source Code Pro"/>
                </a:endParaRPr>
              </a:p>
            </p:txBody>
          </p:sp>
        </mc:Choice>
        <mc:Fallback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6032" y="1463040"/>
                <a:ext cx="8229600" cy="4401205"/>
              </a:xfrm>
              <a:prstGeom prst="rect">
                <a:avLst/>
              </a:prstGeom>
              <a:blipFill rotWithShape="1">
                <a:blip r:embed="rId1"/>
                <a:stretch>
                  <a:fillRect l="-2" t="-58" r="2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Source Code Pro"/>
              </a:rPr>
              <a:t>Visualizing the Sigmoid Curve</a:t>
            </a:r>
            <a:endParaRPr sz="3200" b="0">
              <a:solidFill>
                <a:srgbClr val="FFFFFF"/>
              </a:solidFill>
              <a:latin typeface="Source Code Pro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56032" y="1463040"/>
            <a:ext cx="8229600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The </a:t>
            </a:r>
            <a:r>
              <a:rPr sz="1400" b="1" dirty="0">
                <a:solidFill>
                  <a:schemeClr val="bg2"/>
                </a:solidFill>
                <a:latin typeface="Source Code Pro"/>
              </a:rPr>
              <a:t>Sigmoid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is an S-shaped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curve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Left side (z &lt; 0):</a:t>
            </a:r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Prediction approaches 0.</a:t>
            </a:r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Predicted class: 0 (</a:t>
            </a:r>
            <a:r>
              <a:rPr sz="1400" b="1" dirty="0">
                <a:solidFill>
                  <a:srgbClr val="94EE6B"/>
                </a:solidFill>
                <a:latin typeface="Source Code Pro"/>
              </a:rPr>
              <a:t>Safe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, </a:t>
            </a:r>
            <a:r>
              <a:rPr sz="1400" b="1" dirty="0">
                <a:solidFill>
                  <a:srgbClr val="BD64B5"/>
                </a:solidFill>
                <a:latin typeface="Source Code Pro"/>
              </a:rPr>
              <a:t>Legitimate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, </a:t>
            </a:r>
            <a:r>
              <a:rPr sz="1400" b="1" dirty="0">
                <a:solidFill>
                  <a:srgbClr val="E81A81"/>
                </a:solidFill>
                <a:latin typeface="Source Code Pro"/>
              </a:rPr>
              <a:t>Approved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).</a:t>
            </a:r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Middle (z = 0):</a:t>
            </a:r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Prediction exactly 0.5.</a:t>
            </a:r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Decision boundary.</a:t>
            </a:r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Right side (z &gt; 0):</a:t>
            </a:r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Prediction approaches 1.</a:t>
            </a:r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Predicted class: 1 (</a:t>
            </a:r>
            <a:r>
              <a:rPr sz="1400" b="1" dirty="0">
                <a:solidFill>
                  <a:srgbClr val="94EE6B"/>
                </a:solidFill>
                <a:latin typeface="Source Code Pro"/>
              </a:rPr>
              <a:t>DDoS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, </a:t>
            </a:r>
            <a:r>
              <a:rPr sz="1400" b="1" dirty="0">
                <a:solidFill>
                  <a:srgbClr val="4CAE97"/>
                </a:solidFill>
                <a:latin typeface="Source Code Pro"/>
              </a:rPr>
              <a:t>Spam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, </a:t>
            </a:r>
            <a:r>
              <a:rPr sz="1400" b="1" dirty="0">
                <a:solidFill>
                  <a:schemeClr val="bg2">
                    <a:lumMod val="75000"/>
                  </a:schemeClr>
                </a:solidFill>
                <a:latin typeface="Source Code Pro"/>
              </a:rPr>
              <a:t>Rejected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).</a:t>
            </a:r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The curve has no sharp edges - smooth transition from 0 to 1.</a:t>
            </a:r>
            <a:endParaRPr sz="1400" dirty="0">
              <a:solidFill>
                <a:srgbClr val="E7E7E7"/>
              </a:solidFill>
              <a:latin typeface="Source Code Pr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028227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 dirty="0">
                <a:solidFill>
                  <a:srgbClr val="FFFFFF"/>
                </a:solidFill>
                <a:latin typeface="Source Code Pro"/>
              </a:rPr>
              <a:t>From Probability to Classification</a:t>
            </a:r>
            <a:endParaRPr sz="3200" b="0" dirty="0">
              <a:solidFill>
                <a:srgbClr val="FFFFFF"/>
              </a:solidFill>
              <a:latin typeface="Source Code Pro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/>
              <p:cNvSpPr txBox="1"/>
              <p:nvPr/>
            </p:nvSpPr>
            <p:spPr>
              <a:xfrm>
                <a:off x="256032" y="1463040"/>
                <a:ext cx="8229600" cy="375487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endParaRPr lang="en-US" sz="1400" dirty="0">
                  <a:solidFill>
                    <a:srgbClr val="E7E7E7"/>
                  </a:solidFill>
                  <a:latin typeface="Source Code Pro"/>
                </a:endParaRPr>
              </a:p>
              <a:p>
                <a:pPr algn="l"/>
                <a:r>
                  <a:rPr lang="en-US" sz="1400" dirty="0">
                    <a:solidFill>
                      <a:srgbClr val="E7E7E7"/>
                    </a:solidFill>
                    <a:latin typeface="Source Code Pro"/>
                  </a:rPr>
                  <a:t>The </a:t>
                </a:r>
                <a:r>
                  <a:rPr lang="en-US" sz="1400" b="1" dirty="0">
                    <a:solidFill>
                      <a:srgbClr val="EC7955"/>
                    </a:solidFill>
                    <a:latin typeface="Source Code Pro"/>
                  </a:rPr>
                  <a:t>Sigmoid</a:t>
                </a:r>
                <a:r>
                  <a:rPr lang="en-US" sz="1400" dirty="0">
                    <a:solidFill>
                      <a:srgbClr val="E7E7E7"/>
                    </a:solidFill>
                    <a:latin typeface="Source Code Pro"/>
                  </a:rPr>
                  <a:t> outputs a </a:t>
                </a:r>
                <a:r>
                  <a:rPr lang="en-US" sz="1400" b="1" dirty="0">
                    <a:solidFill>
                      <a:srgbClr val="E7E7E7"/>
                    </a:solidFill>
                    <a:latin typeface="Source Code Pro"/>
                  </a:rPr>
                  <a:t>probability</a:t>
                </a:r>
                <a:r>
                  <a:rPr lang="en-US" sz="1400" dirty="0">
                    <a:solidFill>
                      <a:srgbClr val="E7E7E7"/>
                    </a:solidFill>
                    <a:latin typeface="Source Code Pro"/>
                  </a:rPr>
                  <a:t>, not a </a:t>
                </a:r>
                <a:r>
                  <a:rPr lang="en-US" sz="1400" b="1" dirty="0">
                    <a:solidFill>
                      <a:srgbClr val="E7E7E7"/>
                    </a:solidFill>
                    <a:latin typeface="Source Code Pro"/>
                  </a:rPr>
                  <a:t>class</a:t>
                </a:r>
                <a:r>
                  <a:rPr lang="en-US" sz="1400" dirty="0">
                    <a:solidFill>
                      <a:srgbClr val="E7E7E7"/>
                    </a:solidFill>
                    <a:latin typeface="Source Code Pro"/>
                  </a:rPr>
                  <a:t> </a:t>
                </a:r>
                <a:r>
                  <a:rPr lang="en-US" sz="1400" b="1" dirty="0">
                    <a:solidFill>
                      <a:srgbClr val="EC7955"/>
                    </a:solidFill>
                    <a:latin typeface="Source Code Pro"/>
                  </a:rPr>
                  <a:t>label</a:t>
                </a:r>
                <a:r>
                  <a:rPr lang="en-US" sz="1400" dirty="0">
                    <a:solidFill>
                      <a:srgbClr val="E7E7E7"/>
                    </a:solidFill>
                    <a:latin typeface="Source Code Pro"/>
                  </a:rPr>
                  <a:t>.</a:t>
                </a:r>
                <a:endParaRPr lang="en-US" sz="1400" dirty="0">
                  <a:solidFill>
                    <a:srgbClr val="E7E7E7"/>
                  </a:solidFill>
                  <a:latin typeface="Source Code Pro"/>
                </a:endParaRPr>
              </a:p>
              <a:p>
                <a:pPr algn="l"/>
                <a:endParaRPr lang="en-US" sz="1400" dirty="0">
                  <a:solidFill>
                    <a:srgbClr val="E7E7E7"/>
                  </a:solidFill>
                  <a:latin typeface="Source Code Pro"/>
                </a:endParaRPr>
              </a:p>
              <a:p>
                <a:pPr algn="l"/>
                <a:r>
                  <a:rPr lang="en-US" sz="1400" dirty="0">
                    <a:solidFill>
                      <a:srgbClr val="E7E7E7"/>
                    </a:solidFill>
                    <a:latin typeface="Source Code Pro"/>
                  </a:rPr>
                  <a:t>Process:</a:t>
                </a:r>
                <a:endParaRPr lang="en-US" sz="1400" dirty="0">
                  <a:solidFill>
                    <a:srgbClr val="E7E7E7"/>
                  </a:solidFill>
                  <a:latin typeface="Source Code Pro"/>
                </a:endParaRPr>
              </a:p>
              <a:p>
                <a:pPr algn="l"/>
                <a:r>
                  <a:rPr lang="en-US" sz="1400" dirty="0">
                    <a:solidFill>
                      <a:srgbClr val="E7E7E7"/>
                    </a:solidFill>
                    <a:latin typeface="Source Code Pro"/>
                  </a:rPr>
                  <a:t>Step 1: Calculate z = m*x + b (linear part, can be any number)</a:t>
                </a:r>
                <a:endParaRPr lang="en-US" sz="1400" dirty="0">
                  <a:solidFill>
                    <a:srgbClr val="E7E7E7"/>
                  </a:solidFill>
                  <a:latin typeface="Source Code Pro"/>
                </a:endParaRPr>
              </a:p>
              <a:p>
                <a:pPr algn="l"/>
                <a:endParaRPr lang="en-US" sz="1400" dirty="0">
                  <a:solidFill>
                    <a:srgbClr val="E7E7E7"/>
                  </a:solidFill>
                  <a:latin typeface="Source Code Pro"/>
                </a:endParaRPr>
              </a:p>
              <a:p>
                <a:r>
                  <a:rPr lang="en-US" sz="1400" dirty="0">
                    <a:solidFill>
                      <a:srgbClr val="E7E7E7"/>
                    </a:solidFill>
                    <a:latin typeface="Source Code Pro"/>
                  </a:rPr>
                  <a:t>Step 2: Apply </a:t>
                </a:r>
                <a:r>
                  <a:rPr lang="en-US" sz="1400" b="1" dirty="0">
                    <a:solidFill>
                      <a:srgbClr val="EC7955"/>
                    </a:solidFill>
                    <a:latin typeface="Source Code Pro"/>
                  </a:rPr>
                  <a:t>Sigmoid</a:t>
                </a:r>
                <a:r>
                  <a:rPr lang="en-US" sz="1400" dirty="0">
                    <a:solidFill>
                      <a:srgbClr val="E7E7E7"/>
                    </a:solidFill>
                    <a:latin typeface="Source Code Pro"/>
                  </a:rPr>
                  <a:t>: probability = 1 / 1 +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sz="1400" i="1" smtClean="0">
                            <a:solidFill>
                              <a:srgbClr val="E7E7E7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sz="1400" i="1">
                            <a:solidFill>
                              <a:srgbClr val="E7E7E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ar-AE" sz="1400" i="1">
                            <a:solidFill>
                              <a:srgbClr val="E7E7E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ar-AE" sz="1400" i="1">
                            <a:solidFill>
                              <a:srgbClr val="E7E7E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sup>
                    </m:sSup>
                  </m:oMath>
                </a14:m>
                <a:endParaRPr lang="ar-AE" sz="1400" dirty="0">
                  <a:solidFill>
                    <a:srgbClr val="E7E7E7"/>
                  </a:solidFill>
                  <a:latin typeface="Source Code Pro"/>
                </a:endParaRPr>
              </a:p>
              <a:p>
                <a:pPr algn="l"/>
                <a:endParaRPr lang="ar-AE" sz="1400" dirty="0">
                  <a:solidFill>
                    <a:srgbClr val="E7E7E7"/>
                  </a:solidFill>
                  <a:latin typeface="Source Code Pro"/>
                </a:endParaRPr>
              </a:p>
              <a:p>
                <a:pPr algn="l"/>
                <a:r>
                  <a:rPr lang="en-US" sz="1400" dirty="0">
                    <a:solidFill>
                      <a:srgbClr val="E7E7E7"/>
                    </a:solidFill>
                    <a:latin typeface="Source Code Pro"/>
                  </a:rPr>
                  <a:t>Step 3: Apply </a:t>
                </a:r>
                <a:r>
                  <a:rPr lang="en-US" sz="1400" b="1" dirty="0">
                    <a:solidFill>
                      <a:srgbClr val="4CAE97"/>
                    </a:solidFill>
                    <a:latin typeface="Source Code Pro"/>
                  </a:rPr>
                  <a:t>threshold</a:t>
                </a:r>
                <a:r>
                  <a:rPr lang="en-US" sz="1400" dirty="0">
                    <a:solidFill>
                      <a:srgbClr val="E7E7E7"/>
                    </a:solidFill>
                    <a:latin typeface="Source Code Pro"/>
                  </a:rPr>
                  <a:t> (usually 0.5):</a:t>
                </a:r>
                <a:endParaRPr lang="en-US" sz="1400" dirty="0">
                  <a:solidFill>
                    <a:srgbClr val="E7E7E7"/>
                  </a:solidFill>
                  <a:latin typeface="Source Code Pro"/>
                </a:endParaRPr>
              </a:p>
              <a:p>
                <a:pPr algn="l"/>
                <a:r>
                  <a:rPr lang="en-US" sz="1400" dirty="0">
                    <a:solidFill>
                      <a:srgbClr val="E7E7E7"/>
                    </a:solidFill>
                    <a:latin typeface="Source Code Pro"/>
                  </a:rPr>
                  <a:t>  - If probability &gt;= 0.5 → Predict Class 1</a:t>
                </a:r>
                <a:endParaRPr lang="en-US" sz="1400" dirty="0">
                  <a:solidFill>
                    <a:srgbClr val="E7E7E7"/>
                  </a:solidFill>
                  <a:latin typeface="Source Code Pro"/>
                </a:endParaRPr>
              </a:p>
              <a:p>
                <a:pPr algn="l"/>
                <a:r>
                  <a:rPr lang="en-US" sz="1400" dirty="0">
                    <a:solidFill>
                      <a:srgbClr val="E7E7E7"/>
                    </a:solidFill>
                    <a:latin typeface="Source Code Pro"/>
                  </a:rPr>
                  <a:t>  - If probability &lt; 0.5 → Predict Class 0</a:t>
                </a:r>
                <a:endParaRPr lang="en-US" sz="1400" dirty="0">
                  <a:solidFill>
                    <a:srgbClr val="E7E7E7"/>
                  </a:solidFill>
                  <a:latin typeface="Source Code Pro"/>
                </a:endParaRPr>
              </a:p>
              <a:p>
                <a:pPr algn="l"/>
                <a:endParaRPr lang="en-US" sz="1400" dirty="0">
                  <a:solidFill>
                    <a:srgbClr val="E7E7E7"/>
                  </a:solidFill>
                  <a:latin typeface="Source Code Pro"/>
                </a:endParaRPr>
              </a:p>
              <a:p>
                <a:pPr algn="l"/>
                <a:r>
                  <a:rPr lang="en-US" sz="1400" dirty="0">
                    <a:solidFill>
                      <a:srgbClr val="E7E7E7"/>
                    </a:solidFill>
                    <a:latin typeface="Source Code Pro"/>
                  </a:rPr>
                  <a:t>Example - DDoS </a:t>
                </a:r>
                <a:r>
                  <a:rPr lang="en-US" sz="1400" b="1" dirty="0">
                    <a:solidFill>
                      <a:srgbClr val="FD4A4A"/>
                    </a:solidFill>
                    <a:latin typeface="Source Code Pro"/>
                  </a:rPr>
                  <a:t>Detection</a:t>
                </a:r>
                <a:r>
                  <a:rPr lang="en-US" sz="1400" dirty="0">
                    <a:solidFill>
                      <a:srgbClr val="E7E7E7"/>
                    </a:solidFill>
                    <a:latin typeface="Source Code Pro"/>
                  </a:rPr>
                  <a:t>:</a:t>
                </a:r>
                <a:endParaRPr lang="en-US" sz="1400" dirty="0">
                  <a:solidFill>
                    <a:srgbClr val="E7E7E7"/>
                  </a:solidFill>
                  <a:latin typeface="Source Code Pro"/>
                </a:endParaRPr>
              </a:p>
              <a:p>
                <a:pPr algn="l"/>
                <a:endParaRPr lang="en-US" sz="1400" dirty="0">
                  <a:solidFill>
                    <a:srgbClr val="E7E7E7"/>
                  </a:solidFill>
                  <a:latin typeface="Source Code Pro"/>
                </a:endParaRPr>
              </a:p>
              <a:p>
                <a:pPr algn="l"/>
                <a:r>
                  <a:rPr lang="en-US" sz="1400" dirty="0">
                    <a:solidFill>
                      <a:srgbClr val="E7E7E7"/>
                    </a:solidFill>
                    <a:latin typeface="Source Code Pro"/>
                  </a:rPr>
                  <a:t>z = 0.8</a:t>
                </a:r>
                <a:endParaRPr lang="en-US" sz="1400" dirty="0">
                  <a:solidFill>
                    <a:srgbClr val="E7E7E7"/>
                  </a:solidFill>
                  <a:latin typeface="Source Code Pro"/>
                </a:endParaRPr>
              </a:p>
              <a:p>
                <a:r>
                  <a:rPr lang="en-US" sz="1400" dirty="0">
                    <a:solidFill>
                      <a:srgbClr val="E7E7E7"/>
                    </a:solidFill>
                    <a:latin typeface="Source Code Pro"/>
                  </a:rPr>
                  <a:t>probability = 1 / 1 +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sz="1400" i="1">
                            <a:solidFill>
                              <a:srgbClr val="E7E7E7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sz="1400" i="1">
                            <a:solidFill>
                              <a:srgbClr val="E7E7E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ar-AE" sz="1400" i="1">
                            <a:solidFill>
                              <a:srgbClr val="E7E7E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ar-AE" sz="1400" b="0" i="1" smtClean="0">
                            <a:solidFill>
                              <a:srgbClr val="E7E7E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sz="1400" b="0" i="1" smtClean="0">
                            <a:solidFill>
                              <a:srgbClr val="E7E7E7"/>
                            </a:solidFill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sz="1400" b="0" i="1" smtClean="0">
                            <a:solidFill>
                              <a:srgbClr val="E7E7E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</m:oMath>
                </a14:m>
                <a:r>
                  <a:rPr lang="en-US" sz="1400" dirty="0">
                    <a:solidFill>
                      <a:srgbClr val="E7E7E7"/>
                    </a:solidFill>
                    <a:latin typeface="Source Code Pro"/>
                  </a:rPr>
                  <a:t> = 0.69</a:t>
                </a:r>
                <a:endParaRPr lang="ar-AE" sz="1400" dirty="0">
                  <a:solidFill>
                    <a:srgbClr val="E7E7E7"/>
                  </a:solidFill>
                  <a:latin typeface="Source Code Pro"/>
                </a:endParaRPr>
              </a:p>
              <a:p>
                <a:pPr algn="l"/>
                <a:r>
                  <a:rPr lang="en-US" sz="1400" dirty="0">
                    <a:solidFill>
                      <a:srgbClr val="E7E7E7"/>
                    </a:solidFill>
                    <a:latin typeface="Source Code Pro"/>
                  </a:rPr>
                  <a:t>Since 0.69 &gt; 0.5 → Predict: [1] DDoS </a:t>
                </a:r>
                <a:r>
                  <a:rPr lang="en-US" sz="1400" b="1" dirty="0">
                    <a:solidFill>
                      <a:srgbClr val="E7E7E7"/>
                    </a:solidFill>
                    <a:latin typeface="Source Code Pro"/>
                  </a:rPr>
                  <a:t>Attack</a:t>
                </a:r>
                <a:endParaRPr sz="1400" b="1" dirty="0">
                  <a:solidFill>
                    <a:srgbClr val="E7E7E7"/>
                  </a:solidFill>
                  <a:latin typeface="Source Code Pro"/>
                </a:endParaRPr>
              </a:p>
            </p:txBody>
          </p:sp>
        </mc:Choice>
        <mc:Fallback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6032" y="1463040"/>
                <a:ext cx="8229600" cy="3754874"/>
              </a:xfrm>
              <a:prstGeom prst="rect">
                <a:avLst/>
              </a:prstGeom>
              <a:blipFill rotWithShape="1">
                <a:blip r:embed="rId1"/>
                <a:stretch>
                  <a:fillRect l="-2" t="-68" r="2" b="3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Source Code Pro"/>
              </a:rPr>
              <a:t>The Cost Function Changes</a:t>
            </a:r>
            <a:endParaRPr sz="3200" b="0">
              <a:solidFill>
                <a:srgbClr val="FFFFFF"/>
              </a:solidFill>
              <a:latin typeface="Source Code Pro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56032" y="1463040"/>
            <a:ext cx="822960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Linear </a:t>
            </a:r>
            <a:r>
              <a:rPr sz="1400" b="1" dirty="0">
                <a:solidFill>
                  <a:srgbClr val="94EE6B"/>
                </a:solidFill>
                <a:latin typeface="Source Code Pro"/>
              </a:rPr>
              <a:t>Regression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Cost Function:</a:t>
            </a:r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MSE = (1/n) × Σ(predicted - actual)²</a:t>
            </a:r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Logistic </a:t>
            </a:r>
            <a:r>
              <a:rPr sz="1400" b="1" dirty="0">
                <a:solidFill>
                  <a:srgbClr val="EC7955"/>
                </a:solidFill>
                <a:latin typeface="Source Code Pro"/>
              </a:rPr>
              <a:t>Regression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Cost Function:</a:t>
            </a:r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Binary Cross-Entropy = -(1/n) × Σ[y*log(p) + (1-y)*log(1-p)]</a:t>
            </a:r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Why change?</a:t>
            </a:r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b="1" dirty="0">
                <a:solidFill>
                  <a:srgbClr val="E81A81"/>
                </a:solidFill>
                <a:latin typeface="Source Code Pro"/>
              </a:rPr>
              <a:t>MSE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works for continuous values.</a:t>
            </a:r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Cross-Entropy works for </a:t>
            </a:r>
            <a:r>
              <a:rPr sz="1400" b="1" dirty="0">
                <a:solidFill>
                  <a:srgbClr val="EC7955"/>
                </a:solidFill>
                <a:latin typeface="Source Code Pro"/>
              </a:rPr>
              <a:t>probabilities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and </a:t>
            </a:r>
            <a:r>
              <a:rPr sz="1400" b="1" dirty="0">
                <a:solidFill>
                  <a:srgbClr val="E81A81"/>
                </a:solidFill>
                <a:latin typeface="Source Code Pro"/>
              </a:rPr>
              <a:t>categories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It penalizes confident wrong predictions more than uncertain ones.</a:t>
            </a:r>
            <a:endParaRPr sz="1400" dirty="0">
              <a:solidFill>
                <a:srgbClr val="E7E7E7"/>
              </a:solidFill>
              <a:latin typeface="Source Code Pr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Source Code Pro"/>
              </a:rPr>
              <a:t>Gradient Descent Still Works</a:t>
            </a:r>
            <a:endParaRPr sz="3200" b="0">
              <a:solidFill>
                <a:srgbClr val="FFFFFF"/>
              </a:solidFill>
              <a:latin typeface="Source Code Pro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56032" y="1463040"/>
            <a:ext cx="8229600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Good news: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Gradient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FD4A4A"/>
                </a:solidFill>
                <a:latin typeface="Source Code Pro"/>
              </a:rPr>
              <a:t>Descent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remains unchanged.</a:t>
            </a:r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We still:</a:t>
            </a:r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Step 1: Calculate </a:t>
            </a:r>
            <a:r>
              <a:rPr sz="1400" b="1" dirty="0">
                <a:solidFill>
                  <a:srgbClr val="E81A81"/>
                </a:solidFill>
                <a:latin typeface="Source Code Pro"/>
              </a:rPr>
              <a:t>predictions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(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now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using </a:t>
            </a:r>
            <a:r>
              <a:rPr sz="1400" b="1" dirty="0">
                <a:solidFill>
                  <a:srgbClr val="E81A81"/>
                </a:solidFill>
                <a:latin typeface="Source Code Pro"/>
              </a:rPr>
              <a:t>Sigmoid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)</a:t>
            </a:r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Step 2: Calculate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cost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(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now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using cross-entropy)</a:t>
            </a:r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Step 3: Calculate </a:t>
            </a:r>
            <a:r>
              <a:rPr sz="1400" b="1" dirty="0">
                <a:solidFill>
                  <a:srgbClr val="BD64B5"/>
                </a:solidFill>
                <a:latin typeface="Source Code Pro"/>
              </a:rPr>
              <a:t>gradients</a:t>
            </a:r>
            <a:endParaRPr sz="1400" b="1" dirty="0">
              <a:solidFill>
                <a:srgbClr val="BD64B5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Step 4: Update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weights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(m and b)</a:t>
            </a:r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The algorithm is the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same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Only the hypothesis and cost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function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changed.</a:t>
            </a:r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Everything you learned about </a:t>
            </a:r>
            <a:r>
              <a:rPr sz="1400" b="1" dirty="0">
                <a:solidFill>
                  <a:srgbClr val="94EE6B"/>
                </a:solidFill>
                <a:latin typeface="Source Code Pro"/>
              </a:rPr>
              <a:t>optimization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applies here.</a:t>
            </a:r>
            <a:endParaRPr sz="1400" dirty="0">
              <a:solidFill>
                <a:srgbClr val="E7E7E7"/>
              </a:solidFill>
              <a:latin typeface="Source Code Pr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199" y="365760"/>
            <a:ext cx="1048406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 dirty="0">
                <a:solidFill>
                  <a:srgbClr val="FFFFFF"/>
                </a:solidFill>
                <a:latin typeface="Source Code Pro"/>
              </a:rPr>
              <a:t>Real Example - Spam Email Detection</a:t>
            </a:r>
            <a:endParaRPr sz="3200" b="0" dirty="0">
              <a:solidFill>
                <a:srgbClr val="FFFFFF"/>
              </a:solidFill>
              <a:latin typeface="Source Code Pro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56032" y="1463040"/>
            <a:ext cx="8229600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Data: 10,000 historical emails</a:t>
            </a:r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X = email </a:t>
            </a:r>
            <a:r>
              <a:rPr sz="1400" b="1" dirty="0">
                <a:solidFill>
                  <a:srgbClr val="FD4A4A"/>
                </a:solidFill>
                <a:latin typeface="Source Code Pro"/>
              </a:rPr>
              <a:t>features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(number of links, sender reputation, keyword frequency)</a:t>
            </a:r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y =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label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(0 =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Legitimate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, 1 = </a:t>
            </a:r>
            <a:r>
              <a:rPr sz="1400" b="1" dirty="0">
                <a:solidFill>
                  <a:srgbClr val="94EE6B"/>
                </a:solidFill>
                <a:latin typeface="Source Code Pro"/>
              </a:rPr>
              <a:t>Spam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)</a:t>
            </a:r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Model learns:</a:t>
            </a:r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m and b </a:t>
            </a:r>
            <a:r>
              <a:rPr sz="1400" b="1" dirty="0">
                <a:solidFill>
                  <a:srgbClr val="FD4A4A"/>
                </a:solidFill>
                <a:latin typeface="Source Code Pro"/>
              </a:rPr>
              <a:t>values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that separate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legitimate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from </a:t>
            </a:r>
            <a:r>
              <a:rPr sz="1400" b="1" dirty="0">
                <a:solidFill>
                  <a:srgbClr val="4CAE97"/>
                </a:solidFill>
                <a:latin typeface="Source Code Pro"/>
              </a:rPr>
              <a:t>spam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emails.</a:t>
            </a:r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Prediction on new email:</a:t>
            </a:r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z = 2.5*links + 0.1*reputation + 1.2*keywords + bias</a:t>
            </a:r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probability = 1 / (1 + e^(-z)) = 0.87</a:t>
            </a:r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Since 0.87 &gt; 0.5 → Classify: [1] </a:t>
            </a:r>
            <a:r>
              <a:rPr sz="1400" b="1" dirty="0">
                <a:solidFill>
                  <a:srgbClr val="E81A81"/>
                </a:solidFill>
                <a:latin typeface="Source Code Pro"/>
              </a:rPr>
              <a:t>SPAM</a:t>
            </a:r>
            <a:endParaRPr sz="1400" b="1" dirty="0">
              <a:solidFill>
                <a:srgbClr val="E81A81"/>
              </a:solidFill>
              <a:latin typeface="Source Code Pr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Source Code Pro"/>
              </a:rPr>
              <a:t>Summary - The Big Picture</a:t>
            </a:r>
            <a:endParaRPr sz="3200" b="0">
              <a:solidFill>
                <a:srgbClr val="FFFFFF"/>
              </a:solidFill>
              <a:latin typeface="Source Code Pro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56032" y="1463040"/>
            <a:ext cx="8229600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Linear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Regression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predicted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numbers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(continuous output).</a:t>
            </a:r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Logistic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Regression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predicts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categories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(binary 0 or 1 output).</a:t>
            </a:r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The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Sigmoid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4CAE97"/>
                </a:solidFill>
                <a:latin typeface="Source Code Pro"/>
              </a:rPr>
              <a:t>function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is the </a:t>
            </a:r>
            <a:r>
              <a:rPr sz="1400" b="1" dirty="0">
                <a:solidFill>
                  <a:srgbClr val="EC7955"/>
                </a:solidFill>
                <a:latin typeface="Source Code Pro"/>
              </a:rPr>
              <a:t>secret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: it squashes any number into 0-1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range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b="1" dirty="0">
                <a:solidFill>
                  <a:srgbClr val="94EE6B"/>
                </a:solidFill>
                <a:latin typeface="Source Code Pro"/>
              </a:rPr>
              <a:t>Gradient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Descent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still optimizes the </a:t>
            </a:r>
            <a:r>
              <a:rPr sz="1400" b="1" dirty="0">
                <a:solidFill>
                  <a:srgbClr val="E81A81"/>
                </a:solidFill>
                <a:latin typeface="Source Code Pro"/>
              </a:rPr>
              <a:t>weights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Only the hypothesis (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Sigmoid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) and cost </a:t>
            </a:r>
            <a:r>
              <a:rPr sz="1400" b="1" dirty="0">
                <a:solidFill>
                  <a:srgbClr val="94EE6B"/>
                </a:solidFill>
                <a:latin typeface="Source Code Pro"/>
              </a:rPr>
              <a:t>function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(cross-entropy) are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different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Next: Implement logistic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regression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in </a:t>
            </a:r>
            <a:r>
              <a:rPr sz="1400" b="1" dirty="0">
                <a:solidFill>
                  <a:srgbClr val="EC7955"/>
                </a:solidFill>
                <a:latin typeface="Source Code Pro"/>
              </a:rPr>
              <a:t>Python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and train a real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classifier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  <a:endParaRPr sz="1400" dirty="0">
              <a:solidFill>
                <a:srgbClr val="E7E7E7"/>
              </a:solidFill>
              <a:latin typeface="Source Code Pr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34"/>
          <p:cNvSpPr txBox="1">
            <a:spLocks noGrp="1"/>
          </p:cNvSpPr>
          <p:nvPr>
            <p:ph type="title"/>
          </p:nvPr>
        </p:nvSpPr>
        <p:spPr>
          <a:xfrm>
            <a:off x="5662782" y="748501"/>
            <a:ext cx="5544039" cy="706416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lvl="0"/>
            <a:r>
              <a:rPr lang="en-US" sz="1865" dirty="0"/>
              <a:t>Thank You for Your Focus Today!</a:t>
            </a:r>
            <a:endParaRPr sz="1865" dirty="0"/>
          </a:p>
        </p:txBody>
      </p:sp>
      <p:sp>
        <p:nvSpPr>
          <p:cNvPr id="353" name="Google Shape;353;p34"/>
          <p:cNvSpPr txBox="1">
            <a:spLocks noGrp="1"/>
          </p:cNvSpPr>
          <p:nvPr>
            <p:ph type="subTitle" idx="1"/>
          </p:nvPr>
        </p:nvSpPr>
        <p:spPr>
          <a:xfrm>
            <a:off x="5459796" y="4751364"/>
            <a:ext cx="5608000" cy="1740008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/>
            <a:r>
              <a:rPr lang="en-US" sz="1400" dirty="0"/>
              <a:t>Waleed Khan</a:t>
            </a:r>
            <a:br>
              <a:rPr lang="en-US" sz="1400" dirty="0"/>
            </a:br>
            <a:r>
              <a:rPr lang="en-US" sz="1400" dirty="0"/>
              <a:t>(</a:t>
            </a:r>
            <a:r>
              <a:rPr lang="en-US" sz="1200" dirty="0"/>
              <a:t>Robotics Engineer | Senior Python Developer)</a:t>
            </a:r>
            <a:br>
              <a:rPr lang="en-US" sz="1400" dirty="0"/>
            </a:br>
            <a:endParaRPr lang="en-US" sz="1400" dirty="0"/>
          </a:p>
          <a:p>
            <a:pPr marL="0" indent="0"/>
            <a:r>
              <a:rPr lang="en-US" sz="1400" dirty="0"/>
              <a:t>Email: 0xcloudcoder@gmail.com</a:t>
            </a:r>
            <a:br>
              <a:rPr lang="en-US" sz="1865" dirty="0"/>
            </a:br>
            <a:r>
              <a:rPr lang="en-US" sz="1400" dirty="0"/>
              <a:t>Contact: +923126008702</a:t>
            </a:r>
            <a:endParaRPr sz="1400" dirty="0"/>
          </a:p>
        </p:txBody>
      </p:sp>
      <p:sp>
        <p:nvSpPr>
          <p:cNvPr id="354" name="Google Shape;354;p34"/>
          <p:cNvSpPr txBox="1"/>
          <p:nvPr/>
        </p:nvSpPr>
        <p:spPr>
          <a:xfrm>
            <a:off x="11106533" y="5304433"/>
            <a:ext cx="692400" cy="10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-GB" sz="12800" dirty="0">
                <a:solidFill>
                  <a:schemeClr val="accent1"/>
                </a:solidFill>
                <a:latin typeface="Comfortaa"/>
                <a:ea typeface="Comfortaa"/>
                <a:cs typeface="Comfortaa"/>
                <a:sym typeface="Comfortaa"/>
              </a:rPr>
              <a:t>*</a:t>
            </a:r>
            <a:endParaRPr sz="12800" dirty="0">
              <a:solidFill>
                <a:schemeClr val="accent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grpSp>
        <p:nvGrpSpPr>
          <p:cNvPr id="355" name="Google Shape;355;p34"/>
          <p:cNvGrpSpPr/>
          <p:nvPr/>
        </p:nvGrpSpPr>
        <p:grpSpPr>
          <a:xfrm>
            <a:off x="447523" y="928586"/>
            <a:ext cx="3909392" cy="5210084"/>
            <a:chOff x="335642" y="696438"/>
            <a:chExt cx="2932044" cy="3907563"/>
          </a:xfrm>
        </p:grpSpPr>
        <p:sp>
          <p:nvSpPr>
            <p:cNvPr id="356" name="Google Shape;356;p34"/>
            <p:cNvSpPr/>
            <p:nvPr/>
          </p:nvSpPr>
          <p:spPr>
            <a:xfrm>
              <a:off x="335642" y="705013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57" name="Google Shape;357;p34"/>
            <p:cNvSpPr/>
            <p:nvPr/>
          </p:nvSpPr>
          <p:spPr>
            <a:xfrm>
              <a:off x="821967" y="696438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58" name="Google Shape;358;p34"/>
            <p:cNvSpPr/>
            <p:nvPr/>
          </p:nvSpPr>
          <p:spPr>
            <a:xfrm>
              <a:off x="335642" y="1017238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59" name="Google Shape;359;p34"/>
            <p:cNvSpPr/>
            <p:nvPr/>
          </p:nvSpPr>
          <p:spPr>
            <a:xfrm>
              <a:off x="335642" y="1343950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0" name="Google Shape;360;p34"/>
            <p:cNvSpPr/>
            <p:nvPr/>
          </p:nvSpPr>
          <p:spPr>
            <a:xfrm>
              <a:off x="335642" y="1670688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1" name="Google Shape;361;p34"/>
            <p:cNvSpPr/>
            <p:nvPr/>
          </p:nvSpPr>
          <p:spPr>
            <a:xfrm>
              <a:off x="770496" y="1670688"/>
              <a:ext cx="45446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2" name="Google Shape;362;p34"/>
            <p:cNvSpPr/>
            <p:nvPr/>
          </p:nvSpPr>
          <p:spPr>
            <a:xfrm>
              <a:off x="1304877" y="1670688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3" name="Google Shape;363;p34"/>
            <p:cNvSpPr/>
            <p:nvPr/>
          </p:nvSpPr>
          <p:spPr>
            <a:xfrm>
              <a:off x="335642" y="198126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4" name="Google Shape;364;p34"/>
            <p:cNvSpPr/>
            <p:nvPr/>
          </p:nvSpPr>
          <p:spPr>
            <a:xfrm>
              <a:off x="335642" y="232411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5" name="Google Shape;365;p34"/>
            <p:cNvSpPr/>
            <p:nvPr/>
          </p:nvSpPr>
          <p:spPr>
            <a:xfrm>
              <a:off x="335642" y="2633038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6" name="Google Shape;366;p34"/>
            <p:cNvSpPr/>
            <p:nvPr/>
          </p:nvSpPr>
          <p:spPr>
            <a:xfrm>
              <a:off x="335642" y="294196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7" name="Google Shape;367;p34"/>
            <p:cNvSpPr/>
            <p:nvPr/>
          </p:nvSpPr>
          <p:spPr>
            <a:xfrm>
              <a:off x="349364" y="3722938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8" name="Google Shape;368;p34"/>
            <p:cNvSpPr/>
            <p:nvPr/>
          </p:nvSpPr>
          <p:spPr>
            <a:xfrm>
              <a:off x="770496" y="198126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9" name="Google Shape;369;p34"/>
            <p:cNvSpPr/>
            <p:nvPr/>
          </p:nvSpPr>
          <p:spPr>
            <a:xfrm>
              <a:off x="731557" y="232411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0" name="Google Shape;370;p34"/>
            <p:cNvSpPr/>
            <p:nvPr/>
          </p:nvSpPr>
          <p:spPr>
            <a:xfrm>
              <a:off x="770496" y="2633038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1" name="Google Shape;371;p34"/>
            <p:cNvSpPr/>
            <p:nvPr/>
          </p:nvSpPr>
          <p:spPr>
            <a:xfrm>
              <a:off x="770496" y="2958925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2" name="Google Shape;372;p34"/>
            <p:cNvSpPr/>
            <p:nvPr/>
          </p:nvSpPr>
          <p:spPr>
            <a:xfrm>
              <a:off x="770496" y="328481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3" name="Google Shape;373;p34"/>
            <p:cNvSpPr/>
            <p:nvPr/>
          </p:nvSpPr>
          <p:spPr>
            <a:xfrm>
              <a:off x="1174186" y="1981263"/>
              <a:ext cx="63339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4" name="Google Shape;374;p34"/>
            <p:cNvSpPr/>
            <p:nvPr/>
          </p:nvSpPr>
          <p:spPr>
            <a:xfrm>
              <a:off x="1174186" y="2324113"/>
              <a:ext cx="88477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5" name="Google Shape;375;p34"/>
            <p:cNvSpPr/>
            <p:nvPr/>
          </p:nvSpPr>
          <p:spPr>
            <a:xfrm>
              <a:off x="1205349" y="2633038"/>
              <a:ext cx="1030037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6" name="Google Shape;376;p34"/>
            <p:cNvSpPr/>
            <p:nvPr/>
          </p:nvSpPr>
          <p:spPr>
            <a:xfrm>
              <a:off x="1205349" y="2977538"/>
              <a:ext cx="1030037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7" name="Google Shape;377;p34"/>
            <p:cNvSpPr/>
            <p:nvPr/>
          </p:nvSpPr>
          <p:spPr>
            <a:xfrm>
              <a:off x="1205349" y="3284813"/>
              <a:ext cx="1030037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8" name="Google Shape;378;p34"/>
            <p:cNvSpPr/>
            <p:nvPr/>
          </p:nvSpPr>
          <p:spPr>
            <a:xfrm>
              <a:off x="1883777" y="1981263"/>
              <a:ext cx="57704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9" name="Google Shape;379;p34"/>
            <p:cNvSpPr/>
            <p:nvPr/>
          </p:nvSpPr>
          <p:spPr>
            <a:xfrm>
              <a:off x="2174096" y="2307150"/>
              <a:ext cx="57704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0" name="Google Shape;380;p34"/>
            <p:cNvSpPr/>
            <p:nvPr/>
          </p:nvSpPr>
          <p:spPr>
            <a:xfrm>
              <a:off x="2342750" y="2633063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1" name="Google Shape;381;p34"/>
            <p:cNvSpPr/>
            <p:nvPr/>
          </p:nvSpPr>
          <p:spPr>
            <a:xfrm>
              <a:off x="2342750" y="3284863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2" name="Google Shape;382;p34"/>
            <p:cNvSpPr/>
            <p:nvPr/>
          </p:nvSpPr>
          <p:spPr>
            <a:xfrm>
              <a:off x="349364" y="396201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3" name="Google Shape;383;p34"/>
            <p:cNvSpPr/>
            <p:nvPr/>
          </p:nvSpPr>
          <p:spPr>
            <a:xfrm>
              <a:off x="731557" y="424551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4" name="Google Shape;384;p34"/>
            <p:cNvSpPr/>
            <p:nvPr/>
          </p:nvSpPr>
          <p:spPr>
            <a:xfrm>
              <a:off x="1224956" y="4245513"/>
              <a:ext cx="524349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5" name="Google Shape;385;p34"/>
            <p:cNvSpPr/>
            <p:nvPr/>
          </p:nvSpPr>
          <p:spPr>
            <a:xfrm>
              <a:off x="1883777" y="4245513"/>
              <a:ext cx="661931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6" name="Google Shape;386;p34"/>
            <p:cNvSpPr/>
            <p:nvPr/>
          </p:nvSpPr>
          <p:spPr>
            <a:xfrm>
              <a:off x="2634075" y="4245513"/>
              <a:ext cx="241501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7" name="Google Shape;387;p34"/>
            <p:cNvSpPr/>
            <p:nvPr/>
          </p:nvSpPr>
          <p:spPr>
            <a:xfrm>
              <a:off x="731557" y="4454038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8" name="Google Shape;388;p34"/>
            <p:cNvSpPr/>
            <p:nvPr/>
          </p:nvSpPr>
          <p:spPr>
            <a:xfrm>
              <a:off x="1224956" y="4454038"/>
              <a:ext cx="833909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9" name="Google Shape;389;p34"/>
            <p:cNvSpPr/>
            <p:nvPr/>
          </p:nvSpPr>
          <p:spPr>
            <a:xfrm>
              <a:off x="2169156" y="4454038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0" name="Google Shape;390;p34"/>
            <p:cNvSpPr/>
            <p:nvPr/>
          </p:nvSpPr>
          <p:spPr>
            <a:xfrm>
              <a:off x="1250486" y="708338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1" name="Google Shape;391;p34"/>
            <p:cNvSpPr/>
            <p:nvPr/>
          </p:nvSpPr>
          <p:spPr>
            <a:xfrm>
              <a:off x="821986" y="1017263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2" name="Google Shape;392;p34"/>
            <p:cNvSpPr/>
            <p:nvPr/>
          </p:nvSpPr>
          <p:spPr>
            <a:xfrm>
              <a:off x="1555286" y="1013138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3" name="Google Shape;393;p34"/>
            <p:cNvSpPr/>
            <p:nvPr/>
          </p:nvSpPr>
          <p:spPr>
            <a:xfrm>
              <a:off x="821979" y="1343988"/>
              <a:ext cx="402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4" name="Google Shape;394;p34"/>
            <p:cNvSpPr/>
            <p:nvPr/>
          </p:nvSpPr>
          <p:spPr>
            <a:xfrm>
              <a:off x="1739729" y="1668625"/>
              <a:ext cx="402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5" name="Google Shape;395;p34"/>
            <p:cNvSpPr/>
            <p:nvPr/>
          </p:nvSpPr>
          <p:spPr>
            <a:xfrm>
              <a:off x="2342754" y="2977538"/>
              <a:ext cx="402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6" name="Google Shape;396;p34"/>
            <p:cNvSpPr/>
            <p:nvPr/>
          </p:nvSpPr>
          <p:spPr>
            <a:xfrm>
              <a:off x="2537025" y="1981263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7" name="Google Shape;397;p34"/>
            <p:cNvSpPr/>
            <p:nvPr/>
          </p:nvSpPr>
          <p:spPr>
            <a:xfrm>
              <a:off x="2805050" y="263303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8" name="Google Shape;398;p34"/>
            <p:cNvSpPr/>
            <p:nvPr/>
          </p:nvSpPr>
          <p:spPr>
            <a:xfrm>
              <a:off x="2634386" y="4456100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9" name="Google Shape;399;p34"/>
            <p:cNvSpPr/>
            <p:nvPr/>
          </p:nvSpPr>
          <p:spPr>
            <a:xfrm>
              <a:off x="770511" y="3936575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00" name="Google Shape;400;p34"/>
            <p:cNvSpPr/>
            <p:nvPr/>
          </p:nvSpPr>
          <p:spPr>
            <a:xfrm>
              <a:off x="770511" y="3706475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sp>
        <p:nvSpPr>
          <p:cNvPr id="401" name="Google Shape;401;p34"/>
          <p:cNvSpPr txBox="1"/>
          <p:nvPr/>
        </p:nvSpPr>
        <p:spPr>
          <a:xfrm>
            <a:off x="8854201" y="5162812"/>
            <a:ext cx="692400" cy="11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-GB" sz="6665" dirty="0">
                <a:solidFill>
                  <a:schemeClr val="accent3"/>
                </a:solidFill>
                <a:latin typeface="Comfortaa"/>
                <a:ea typeface="Comfortaa"/>
                <a:cs typeface="Comfortaa"/>
                <a:sym typeface="Comfortaa"/>
              </a:rPr>
              <a:t>}</a:t>
            </a:r>
            <a:endParaRPr sz="6665" dirty="0">
              <a:solidFill>
                <a:schemeClr val="accent3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5387008" y="2407058"/>
            <a:ext cx="6411925" cy="20005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What was the most </a:t>
            </a:r>
            <a:br>
              <a:rPr lang="en-US" sz="1600" dirty="0">
                <a:latin typeface="Source Code Pro" panose="020B0509030403020204" pitchFamily="49" charset="0"/>
                <a:ea typeface="Source Code Pro" panose="020B0509030403020204" pitchFamily="49" charset="0"/>
              </a:rPr>
            </a:br>
            <a:r>
              <a:rPr lang="en-US" sz="6000" dirty="0">
                <a:solidFill>
                  <a:schemeClr val="accent5">
                    <a:lumMod val="50000"/>
                  </a:schemeClr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confusing</a:t>
            </a:r>
            <a:r>
              <a:rPr lang="en-US" sz="16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br>
              <a:rPr lang="en-US" sz="1600" dirty="0">
                <a:latin typeface="Source Code Pro" panose="020B0509030403020204" pitchFamily="49" charset="0"/>
                <a:ea typeface="Source Code Pro" panose="020B0509030403020204" pitchFamily="49" charset="0"/>
              </a:rPr>
            </a:br>
            <a:r>
              <a:rPr lang="en-US" sz="16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part of today's lab?</a:t>
            </a:r>
            <a:br>
              <a:rPr lang="en-US" sz="1600" dirty="0">
                <a:latin typeface="Source Code Pro" panose="020B0509030403020204" pitchFamily="49" charset="0"/>
                <a:ea typeface="Source Code Pro" panose="020B0509030403020204" pitchFamily="49" charset="0"/>
              </a:rPr>
            </a:br>
            <a:br>
              <a:rPr lang="en-US" sz="1600" dirty="0">
                <a:latin typeface="Source Code Pro" panose="020B0509030403020204" pitchFamily="49" charset="0"/>
                <a:ea typeface="Source Code Pro" panose="020B0509030403020204" pitchFamily="49" charset="0"/>
              </a:rPr>
            </a:br>
            <a:endParaRPr lang="en-US" sz="1600" dirty="0">
              <a:latin typeface="Source Code Pro" panose="020B0509030403020204" pitchFamily="49" charset="0"/>
              <a:ea typeface="Source Code Pro" panose="020B0509030403020204" pitchFamily="49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day 6">
  <a:themeElements>
    <a:clrScheme name="Simple Light">
      <a:dk1>
        <a:srgbClr val="E7E7E7"/>
      </a:dk1>
      <a:lt1>
        <a:srgbClr val="10111A"/>
      </a:lt1>
      <a:dk2>
        <a:srgbClr val="FD4A4A"/>
      </a:dk2>
      <a:lt2>
        <a:srgbClr val="EC7955"/>
      </a:lt2>
      <a:accent1>
        <a:srgbClr val="E81A81"/>
      </a:accent1>
      <a:accent2>
        <a:srgbClr val="94EE6B"/>
      </a:accent2>
      <a:accent3>
        <a:srgbClr val="4CAE97"/>
      </a:accent3>
      <a:accent4>
        <a:srgbClr val="BD64B5"/>
      </a:accent4>
      <a:accent5>
        <a:srgbClr val="FFFF99"/>
      </a:accent5>
      <a:accent6>
        <a:srgbClr val="2C293A"/>
      </a:accent6>
      <a:hlink>
        <a:srgbClr val="F8F8F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4669</Words>
  <Application>WPS Presentation</Application>
  <PresentationFormat>Widescreen</PresentationFormat>
  <Paragraphs>201</Paragraphs>
  <Slides>13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13</vt:i4>
      </vt:variant>
    </vt:vector>
  </HeadingPairs>
  <TitlesOfParts>
    <vt:vector size="33" baseType="lpstr">
      <vt:lpstr>Arial</vt:lpstr>
      <vt:lpstr>SimSun</vt:lpstr>
      <vt:lpstr>Wingdings</vt:lpstr>
      <vt:lpstr>Source Code Pro</vt:lpstr>
      <vt:lpstr>Segoe Print</vt:lpstr>
      <vt:lpstr>Arial</vt:lpstr>
      <vt:lpstr>Fira Code</vt:lpstr>
      <vt:lpstr>Nunito Light</vt:lpstr>
      <vt:lpstr>Bebas Neue</vt:lpstr>
      <vt:lpstr>Source Code Pro Medium</vt:lpstr>
      <vt:lpstr>PT Sans</vt:lpstr>
      <vt:lpstr>Comfortaa</vt:lpstr>
      <vt:lpstr>Source Code Pro</vt:lpstr>
      <vt:lpstr>Cambria Math</vt:lpstr>
      <vt:lpstr>Microsoft YaHei</vt:lpstr>
      <vt:lpstr>Arial Unicode MS</vt:lpstr>
      <vt:lpstr>Calibri</vt:lpstr>
      <vt:lpstr>Yu Gothic UI</vt:lpstr>
      <vt:lpstr>Office 主题</vt:lpstr>
      <vt:lpstr>day 6</vt:lpstr>
      <vt:lpstr>Artificial Intelligence (Machine Learning &amp; Deep Learning)</vt:lpstr>
      <vt:lpstr>Contents of Day 23 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Thank You for Your Focus Today!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Master Mind</dc:creator>
  <cp:lastModifiedBy>bunny</cp:lastModifiedBy>
  <cp:revision>31</cp:revision>
  <dcterms:created xsi:type="dcterms:W3CDTF">2026-03-05T18:59:00Z</dcterms:created>
  <dcterms:modified xsi:type="dcterms:W3CDTF">2026-04-02T09:12:19Z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95B89CE0AE8344509BF45377F3761520_12</vt:lpwstr>
  </property>
  <property fmtid="{D5CDD505-2E9C-101B-9397-08002B2CF9AE}" pid="3" name="KSOProductBuildVer">
    <vt:lpwstr>1033-12.2.0.23196</vt:lpwstr>
  </property>
</Properties>
</file>