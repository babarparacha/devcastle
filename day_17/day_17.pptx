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8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5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6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7A3A1A6-B538-31BD-9011-7A01BF11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C8A09B3-27C4-104B-CFEC-C179ADDA8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EE572E-1F68-93D9-D7D4-3E0536A03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1488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D054197-C0A1-FDDF-57F9-1010DACC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0099D64-96D7-7F8E-1410-FCFE55B79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1EEB1AD-0EF7-AFD8-C548-41E856366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245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C022969-B5B1-B4BC-F6DB-703CDF2D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39ADCE8-7E95-8C44-4595-1FF8C1792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986FEC8-AC09-9563-FA37-D1D4C6B7E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78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316D913-BDAF-7EAD-00CB-69BF13DE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D830FD1-8B71-29F4-6375-8B3213A1D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3BEB10D-2B84-905D-8757-EC3A91B79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85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DFAE4191-F718-7349-497D-AFBFF569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CCDD6A0-3557-BEE0-2EE7-B8798F9C3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4159810-B5C9-2C2B-3E04-FB340A9AB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5689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C61DAF5-3C9B-3DCA-D6F0-3858ECED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7B98325-B7EA-7E39-392E-4007D5129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E55BA4-6D9B-D098-ACB0-0A6BCB5B02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250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24870B5-249C-BCFB-04B1-F7FB61CB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4B2A60C-8A0E-F266-A4CB-DFAFC02F7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D665502-0646-C5B5-7F19-9B608F0C9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3965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B5388E0-1155-84E7-71AF-FB38E7803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62164C2-5299-58F7-5AEC-147FE801F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908825C-212B-8215-2CE6-AFEFC297A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7594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847D2D6-767F-54E9-4E0C-E8EEB9AA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388EE08-AD46-DA0E-B9BD-23A262A1D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4473CD0-3D3F-0384-B40E-75B80A747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9413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Introduction to Seaborn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17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				Seaborn Plotting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160531648"/>
              </p:ext>
            </p:extLst>
          </p:nvPr>
        </p:nvGraphicFramePr>
        <p:xfrm>
          <a:off x="968901" y="2328148"/>
          <a:ext cx="10272000" cy="51177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Introduction to Seaborn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histplot and displot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for univariate distributions. jointplot and pairplot for bivariate relationships. rugplot and kdeplot for marginal distributions.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Categorical Data Plots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boxplot for quartile-based summaries. violinplot and stripplot for distribution shapes. barplot and countplot for categorical aggregation. swarmplot and catplot for detailed analysis.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Matrix Plots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heatmap for correlation matrices. clustermap for advanced matrix grouping with hierarchical clustering.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What is Seaborn?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19266"/>
            <a:ext cx="11094244" cy="3108543"/>
          </a:xfrm>
          <a:prstGeom prst="rect">
            <a:avLst/>
          </a:prstGeom>
          <a:noFill/>
        </p:spPr>
        <p:txBody>
          <a:bodyPr wrap="square" anchor="b" anchorCtr="0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Seaborn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 statistical visualization library built on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Matplotlib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integrates natively with pandas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DataFrames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creating publication-quality graphics with minimal code.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Why we use it: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b="1" dirty="0">
                <a:solidFill>
                  <a:srgbClr val="E81A81"/>
                </a:solidFill>
                <a:latin typeface="Source Code Pro"/>
              </a:rPr>
              <a:t>Matplotlib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requires extensive customization; </a:t>
            </a:r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Seaborn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provides professional, statistically accurate plots automatically. It handles the heavy lifting of mapping data to colors, shapes, and statistical aggregations. </a:t>
            </a: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rgbClr val="94EE6B"/>
                </a:solidFill>
                <a:latin typeface="Source Code Pro"/>
              </a:rPr>
              <a:t>Real-life usage: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A backend engineer analyzing quarterly API traffic across 10 microservices. Instead of writing 50 lines of 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Matplotlib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code to group and color everything, </a:t>
            </a:r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Seaborn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creates a professional multi-plot dashboard showing distributions, correlations, and trends in just 3 lines of code.</a:t>
            </a: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F99366C-ED50-A005-B421-F1F3A317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27543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histplot &amp; displot - Univariate Distribution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031" y="2502812"/>
            <a:ext cx="11941969" cy="275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histplot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visualizes the distribution of a continuous variable using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bins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displot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is the modern figure-level function that combines histograms with a smooth probability curve (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KDE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Understanding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shape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critical before applying optimizations. When analyzing database query latencies or request sizes, these plots reveal skewness, outliers, and modality.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 backend engineer analyzes API response times across 10,000 requests. 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bimodal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distribution reveals two different processing paths: fast cache hits (peak 1) and slower database queries (peak 2).</a:t>
            </a:r>
          </a:p>
        </p:txBody>
      </p:sp>
    </p:spTree>
    <p:extLst>
      <p:ext uri="{BB962C8B-B14F-4D97-AF65-F5344CB8AC3E}">
        <p14:creationId xmlns:p14="http://schemas.microsoft.com/office/powerpoint/2010/main" val="1137350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EA509FA-4974-2A2B-E6FF-9674F74A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jointplot &amp; pairplot - Bivariate &amp; Multivariate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1" y="2468880"/>
            <a:ext cx="1178833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jointplot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displays the relationship between two variables alongside their individual distributions.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pairplot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creates a grid showing all pairwise relationships in a dataset as a matrix of scatter plots.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Identifying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correlations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essential for performance tuning.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jointplot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if two metrics are linked, while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pairplot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quickly screens an entire database table for hidden relationships.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 DBA uses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pairplot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transaction logs. The grid instantly reveals that index count and query complexity correlate much more strongly with slow execution times than raw table size.</a:t>
            </a:r>
          </a:p>
        </p:txBody>
      </p:sp>
    </p:spTree>
    <p:extLst>
      <p:ext uri="{BB962C8B-B14F-4D97-AF65-F5344CB8AC3E}">
        <p14:creationId xmlns:p14="http://schemas.microsoft.com/office/powerpoint/2010/main" val="1221358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6465EFC-562C-DC0E-9F5F-1324F6786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rugplot &amp; kdeplot - Marginal Distributions &amp; Density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rugplot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displays individual data points as small ticks on an axis.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kdeplot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creates smooth probability density curves without the blocky artifacts of histogram bins.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rugplot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exactly where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concentrates.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kdeplot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perfect for overlaying multiple distributions to compare them cleanly.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Analyzing request batch sizes: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rugplot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clustering around common powers of two (64, 128, 256). Overlaying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kdeplot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curves for different time periods smoothly shows how traffic shifts.</a:t>
            </a:r>
          </a:p>
        </p:txBody>
      </p:sp>
    </p:spTree>
    <p:extLst>
      <p:ext uri="{BB962C8B-B14F-4D97-AF65-F5344CB8AC3E}">
        <p14:creationId xmlns:p14="http://schemas.microsoft.com/office/powerpoint/2010/main" val="40443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6CC9692-8AD8-4853-C3DD-30E672EC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4769" y="498191"/>
            <a:ext cx="12249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boxplot - Quartile-Based Distribution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boxplot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displays the distribution of continuous data across categories.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box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the middle 50% of data (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IQR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), the line is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median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and the dots are mathematical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outliers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Quickly compares performance across multiple categories while instantly flagging anomalies.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Comparing API response times across 5 database replicas.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boxplot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that Replica-3 has a consistently higher median latency and a massive cluster of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outliers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immediately flagging it for a hardware check.</a:t>
            </a:r>
          </a:p>
        </p:txBody>
      </p:sp>
    </p:spTree>
    <p:extLst>
      <p:ext uri="{BB962C8B-B14F-4D97-AF65-F5344CB8AC3E}">
        <p14:creationId xmlns:p14="http://schemas.microsoft.com/office/powerpoint/2010/main" val="359579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996D94E-8FAF-AF31-FEB1-26A49AEAB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9912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violinplot &amp; stripplot - Distribution Shape &amp; Individual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violinplot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shows the full probability density mirrored on both sides.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stripplot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overlays the actual individual data points as jittered dots on top.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Boxplots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hide the shape of the data; </a:t>
            </a:r>
            <a:r>
              <a:rPr sz="1400" b="1" dirty="0" err="1">
                <a:solidFill>
                  <a:srgbClr val="E81A81"/>
                </a:solidFill>
                <a:latin typeface="Source Code Pro"/>
              </a:rPr>
              <a:t>violinplots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 it.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stripplot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whether the data is sparse or dense.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Query cache analysis: A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violinplot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that certain endpoints have an hourglass shape (lots of fast cached hits, lots of slow misses, but nothing in between).</a:t>
            </a:r>
          </a:p>
        </p:txBody>
      </p:sp>
    </p:spTree>
    <p:extLst>
      <p:ext uri="{BB962C8B-B14F-4D97-AF65-F5344CB8AC3E}">
        <p14:creationId xmlns:p14="http://schemas.microsoft.com/office/powerpoint/2010/main" val="319323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0FB2F53-6EE9-0ED4-A57C-173B12E7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21930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barplot &amp; countplot - Categorical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barplot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calculates and plots the mean of a numerical variable for each category, automatically adding error bars for confidence intervals.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countplot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simply counts the frequency of categorical observations.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barplot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statistical uncertainty.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countplot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load distribution and class imbalances.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Error rates by service: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barplot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the mean error rate per microservice. If error bars don't overlap, one service is statistically failing worse.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countplot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which endpoints receive the highest traffic volume.</a:t>
            </a:r>
          </a:p>
        </p:txBody>
      </p:sp>
    </p:spTree>
    <p:extLst>
      <p:ext uri="{BB962C8B-B14F-4D97-AF65-F5344CB8AC3E}">
        <p14:creationId xmlns:p14="http://schemas.microsoft.com/office/powerpoint/2010/main" val="1218228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4E0E8B9-5264-839B-AF8E-8766183B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swarmplot &amp; catplot - Detailed Categorical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swarmplot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scatters points without overlap, showing every single observation.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catplot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creates faceted grids to compare categories across multiple conditions.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swarmplot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provides total transparency for smaller datasets.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catplot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ultimate tool for multi-dimensional backend analysis.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DB performance analysis: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catplot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generates a side-by-side grid showing query speeds across 3 different servers, broken down further by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READ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WRITE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operations.</a:t>
            </a:r>
          </a:p>
        </p:txBody>
      </p:sp>
    </p:spTree>
    <p:extLst>
      <p:ext uri="{BB962C8B-B14F-4D97-AF65-F5344CB8AC3E}">
        <p14:creationId xmlns:p14="http://schemas.microsoft.com/office/powerpoint/2010/main" val="289485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4DA7EF-7508-B2F6-717D-86782A30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heatmap - Correlation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heatmap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displays a 2D array of values as a color grid, where color intensity encodes the number's magnitude.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Instantly reveals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large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matrices that are impossible to read as raw numbers. Essential for spotting resource bottlenecks.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 correlation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heatmap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server metrics (CPU, Memory, Disk I/O, Network Tx, Query Time). Dark red squares highlight that Disk I/O spikes are highly correlated with slow Query Times, isolating the bottleneck.</a:t>
            </a:r>
          </a:p>
        </p:txBody>
      </p:sp>
    </p:spTree>
    <p:extLst>
      <p:ext uri="{BB962C8B-B14F-4D97-AF65-F5344CB8AC3E}">
        <p14:creationId xmlns:p14="http://schemas.microsoft.com/office/powerpoint/2010/main" val="2459182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clustermap - Advanced Matrix Grouping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clustermap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extends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heatmap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by adding hierarchical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clustering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It automatically shuffles rows and columns to group similar items together based on mathematical distance.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Raw correlation matrices can look like random noise.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Clustering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reorganizes the chaos into logical, grouped blocks.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Analyzing a massive matrix of API endpoints and their failure rates.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clustermap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automatically groups endpoints that fail together, revealing hidden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dependencies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exposing that all clustered endpoints rely on the same legacy authentication service.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7B45628-350C-26E3-F8E8-AAE1ABF9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025ACC-E6E8-DB2C-A887-C3C7AB697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486288"/>
              </p:ext>
            </p:extLst>
          </p:nvPr>
        </p:nvGraphicFramePr>
        <p:xfrm>
          <a:off x="2004162" y="1063347"/>
          <a:ext cx="8633787" cy="5740640"/>
        </p:xfrm>
        <a:graphic>
          <a:graphicData uri="http://schemas.openxmlformats.org/drawingml/2006/table">
            <a:tbl>
              <a:tblPr/>
              <a:tblGrid>
                <a:gridCol w="2877929">
                  <a:extLst>
                    <a:ext uri="{9D8B030D-6E8A-4147-A177-3AD203B41FA5}">
                      <a16:colId xmlns:a16="http://schemas.microsoft.com/office/drawing/2014/main" val="1397799978"/>
                    </a:ext>
                  </a:extLst>
                </a:gridCol>
                <a:gridCol w="2877929">
                  <a:extLst>
                    <a:ext uri="{9D8B030D-6E8A-4147-A177-3AD203B41FA5}">
                      <a16:colId xmlns:a16="http://schemas.microsoft.com/office/drawing/2014/main" val="327308687"/>
                    </a:ext>
                  </a:extLst>
                </a:gridCol>
                <a:gridCol w="2877929">
                  <a:extLst>
                    <a:ext uri="{9D8B030D-6E8A-4147-A177-3AD203B41FA5}">
                      <a16:colId xmlns:a16="http://schemas.microsoft.com/office/drawing/2014/main" val="3719739406"/>
                    </a:ext>
                  </a:extLst>
                </a:gridCol>
              </a:tblGrid>
              <a:tr h="28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Plot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B0F0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Use Case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Key Parameter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33397"/>
                  </a:ext>
                </a:extLst>
              </a:tr>
              <a:tr h="502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distplot</a:t>
                      </a: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/histplot()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Univariate distribution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kde</a:t>
                      </a: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=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True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202266"/>
                  </a:ext>
                </a:extLst>
              </a:tr>
              <a:tr h="502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Jointplot()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Two-variable correlation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kind=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'scatter'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879539"/>
                  </a:ext>
                </a:extLst>
              </a:tr>
              <a:tr h="502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Pairplot()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All pairwise relationships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hue= for colors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702134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Kdeplot()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Smooth density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cumulative=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True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726996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Boxplot()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Quartile comparison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hue= for groups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055001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Violinplot()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Distribution shape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split=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True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290774"/>
                  </a:ext>
                </a:extLst>
              </a:tr>
              <a:tr h="502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Stripplot()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Individual points (jittered)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jitter=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True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841255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Swarmplot()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Non-overlapping points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Automatic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410796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Barplot()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Mean + CI by category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errorbar</a:t>
                      </a: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=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'</a:t>
                      </a:r>
                      <a:r>
                        <a:rPr lang="en-US" sz="1600" dirty="0" err="1">
                          <a:solidFill>
                            <a:schemeClr val="accent4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sd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'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222729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Countplot()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Categorical frequency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hue= for stacking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838731"/>
                  </a:ext>
                </a:extLst>
              </a:tr>
              <a:tr h="502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catplot/factorplot()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Multi-faceted categorical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col=/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'row='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797456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Heatmap()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2D matrix values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annot</a:t>
                      </a: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=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True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391434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Clustermap()</a:t>
                      </a:r>
                      <a:endParaRPr lang="en-US" sz="16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Heatmap + clustering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method=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'ward'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571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FF3B777-F9DF-513C-D09B-98C90DBD588E}"/>
              </a:ext>
            </a:extLst>
          </p:cNvPr>
          <p:cNvSpPr txBox="1"/>
          <p:nvPr/>
        </p:nvSpPr>
        <p:spPr>
          <a:xfrm>
            <a:off x="4314825" y="694015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QUICK REFERENCE TABLE</a:t>
            </a:r>
          </a:p>
        </p:txBody>
      </p:sp>
    </p:spTree>
    <p:extLst>
      <p:ext uri="{BB962C8B-B14F-4D97-AF65-F5344CB8AC3E}">
        <p14:creationId xmlns:p14="http://schemas.microsoft.com/office/powerpoint/2010/main" val="4283646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1319</Words>
  <Application>Microsoft Office PowerPoint</Application>
  <PresentationFormat>Widescreen</PresentationFormat>
  <Paragraphs>160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17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22</cp:revision>
  <dcterms:created xsi:type="dcterms:W3CDTF">2026-03-05T18:59:57Z</dcterms:created>
  <dcterms:modified xsi:type="dcterms:W3CDTF">2026-03-09T14:30:46Z</dcterms:modified>
</cp:coreProperties>
</file>