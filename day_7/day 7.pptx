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731" r:id="rId2"/>
  </p:sldMasterIdLst>
  <p:notesMasterIdLst>
    <p:notesMasterId r:id="rId20"/>
  </p:notesMasterIdLst>
  <p:sldIdLst>
    <p:sldId id="258" r:id="rId3"/>
    <p:sldId id="271" r:id="rId4"/>
    <p:sldId id="257" r:id="rId5"/>
    <p:sldId id="261" r:id="rId6"/>
    <p:sldId id="263" r:id="rId7"/>
    <p:sldId id="277" r:id="rId8"/>
    <p:sldId id="278" r:id="rId9"/>
    <p:sldId id="280" r:id="rId10"/>
    <p:sldId id="279" r:id="rId11"/>
    <p:sldId id="281" r:id="rId12"/>
    <p:sldId id="282" r:id="rId13"/>
    <p:sldId id="270" r:id="rId14"/>
    <p:sldId id="283" r:id="rId15"/>
    <p:sldId id="284" r:id="rId16"/>
    <p:sldId id="285" r:id="rId17"/>
    <p:sldId id="286" r:id="rId18"/>
    <p:sldId id="259" r:id="rId19"/>
  </p:sldIdLst>
  <p:sldSz cx="9144000" cy="5143500" type="screen16x9"/>
  <p:notesSz cx="6858000" cy="9144000"/>
  <p:embeddedFontLst>
    <p:embeddedFont>
      <p:font typeface="Comfortaa" panose="020B0604020202020204" charset="0"/>
      <p:regular r:id="rId21"/>
      <p:bold r:id="rId22"/>
    </p:embeddedFont>
    <p:embeddedFont>
      <p:font typeface="Fira Code" panose="020B0809050000020004" pitchFamily="49" charset="0"/>
      <p:regular r:id="rId23"/>
      <p:bold r:id="rId24"/>
    </p:embeddedFont>
    <p:embeddedFont>
      <p:font typeface="Proxima Nova" panose="020B0604020202020204" charset="0"/>
      <p:regular r:id="rId25"/>
      <p:bold r:id="rId26"/>
      <p:italic r:id="rId27"/>
      <p:boldItalic r:id="rId28"/>
    </p:embeddedFont>
    <p:embeddedFont>
      <p:font typeface="Source Code Pro" panose="020B0509030403020204" pitchFamily="49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A0338D-C492-42D8-AE52-3BD7F1F4FAB3}">
  <a:tblStyle styleId="{19A0338D-C492-42D8-AE52-3BD7F1F4FA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B458B2F-A885-4CC7-B5A1-B0B2E0924A1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48" y="1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0" name="Google Shape;800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29" name="Google Shape;42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70183E1-5E85-12DC-3740-0DC692E03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181C792-C9C6-DE62-9C2E-27937A1BDF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D0AB646-400F-D172-9CD1-84E709F4C4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753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AC1B0FBA-6254-7BCC-0209-64FDB32E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5010CF2-538B-A5B1-ED96-12E25A5E66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79975C3-A304-1B57-9EA9-82BDFBA703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4914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0260A5D-E00E-12EC-8119-E2D8497A1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C0AF3E1D-E6E9-3656-C743-5C1C3A284B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F823BEB-0BC6-9035-086B-3D7D6BC997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4924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974241D-2517-168E-D5F3-27E159BA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F7E11EC0-70F7-1A85-E3BE-21E6EBD24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1811523-20CC-5193-0727-124AB88A2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9026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A62F914B-67D2-2A59-FBB8-B0EDA1BFD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CCC23C5F-B618-8EAB-ECEC-821733CC5F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E3A0DD-2626-8257-D633-57ACECBD4D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72084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0A723C6-A05C-19C3-9ACC-DCF389E6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3B70794-3208-2BBD-43A2-4E1FC8B684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2B7B416-7F72-AC4F-4C7F-9B60BA5EE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6077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8096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ECD0935A-0319-2015-DE3E-340CA500B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00BF921E-7D38-D1DC-B536-6781750625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644B79B3-5548-ACED-D6E3-123F85056E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0570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F91982E9-9BF4-1A9A-0F70-05607CE00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8BABF684-E075-13E1-D0EF-8436F70CF1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3F487D5E-9B51-ADDE-F6CA-753E893FC1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1444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68A566D7-DC79-0517-2FBF-EF20B1BB0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B1D0311F-EB07-03F8-B7A6-27F68220A2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F11F7DB8-2D50-6E73-8945-3C816F79E8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44889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BFC37C3F-D1E0-0498-FAED-B7B4DFBBA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CF0F302D-50D4-78EC-C906-CEF7D2C88D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6D60C78F-DF3A-0B9C-171C-48A2982056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45751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535738" y="2266450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988113" y="1350550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080150" y="3468850"/>
            <a:ext cx="6043800" cy="28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8313825" y="353001"/>
            <a:ext cx="473100" cy="186500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9275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28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378" lvl="1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566" lvl="2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754" lvl="3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5943" lvl="4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132" lvl="5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320" lvl="6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509" lvl="7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697" lvl="8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1265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5292547" y="3632599"/>
            <a:ext cx="267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1585702" y="3632599"/>
            <a:ext cx="267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4988437" y="3200700"/>
            <a:ext cx="2675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281362" y="3200700"/>
            <a:ext cx="2675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7074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6865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3763500" y="-1800"/>
            <a:ext cx="5380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8059900" y="446251"/>
            <a:ext cx="473100" cy="186500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4355250" y="1307100"/>
            <a:ext cx="4075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0330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6398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020613" y="1335100"/>
            <a:ext cx="7102800" cy="157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020588" y="3094475"/>
            <a:ext cx="7102800" cy="465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8059900" y="446251"/>
            <a:ext cx="473100" cy="186500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10748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378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2472000" y="1832950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3175501" y="2833427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3504027" y="3834248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1869900" y="1470525"/>
            <a:ext cx="602100" cy="39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2573400" y="2482425"/>
            <a:ext cx="602100" cy="39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2891275" y="3494325"/>
            <a:ext cx="602100" cy="32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2472000" y="14705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3175500" y="24824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3504025" y="34943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071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2687525" y="3464250"/>
            <a:ext cx="57435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2687414" y="1600950"/>
            <a:ext cx="57435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8059900" y="446251"/>
            <a:ext cx="473100" cy="186500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298008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4243000" y="-1800"/>
            <a:ext cx="4901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8059900" y="446251"/>
            <a:ext cx="473100" cy="186500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713225" y="535650"/>
            <a:ext cx="3165900" cy="23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713225" y="2914050"/>
            <a:ext cx="3165900" cy="16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4783250" y="532063"/>
            <a:ext cx="2910000" cy="4075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28106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4243000" y="-1800"/>
            <a:ext cx="4901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713225" y="1402850"/>
            <a:ext cx="32490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713225" y="2466050"/>
            <a:ext cx="3249000" cy="14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2089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4901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4837200" y="1501200"/>
            <a:ext cx="3593400" cy="10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4837371" y="2562000"/>
            <a:ext cx="3593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78791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5238851" y="2246051"/>
            <a:ext cx="2789400" cy="14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1707675" y="2246051"/>
            <a:ext cx="2789400" cy="14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411701" y="1687150"/>
            <a:ext cx="2789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4942882" y="1687150"/>
            <a:ext cx="2789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6172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4821898" y="1443125"/>
            <a:ext cx="3602100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644000" y="1443125"/>
            <a:ext cx="3602100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252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997700" y="2096375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3522987" y="2756375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6051233" y="3242600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720000" y="1436375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3292047" y="2096375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5867044" y="2582600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6301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3500600" y="1923775"/>
            <a:ext cx="1978200" cy="8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6445791" y="1923775"/>
            <a:ext cx="1978200" cy="8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3500600" y="3566750"/>
            <a:ext cx="1978200" cy="8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6445791" y="3566750"/>
            <a:ext cx="1978200" cy="8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3194436" y="14182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3194436" y="306125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6139611" y="14182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6139611" y="306125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09240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394900" y="18535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3864750" y="18535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394900" y="32837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3864750" y="32837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6334599" y="18535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6334599" y="32837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113052" y="13608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3582900" y="13608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6052748" y="13608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113052" y="27911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3582900" y="27911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6052748" y="27911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5270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3763500" y="-1800"/>
            <a:ext cx="5380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8059900" y="446251"/>
            <a:ext cx="473100" cy="186500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4051975" y="630575"/>
            <a:ext cx="40221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4408555" y="1300670"/>
            <a:ext cx="40221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4051975" y="1982840"/>
            <a:ext cx="40221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4408555" y="2652935"/>
            <a:ext cx="40221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4051975" y="3335105"/>
            <a:ext cx="40221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4408555" y="4005200"/>
            <a:ext cx="40221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72291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884850" y="1890700"/>
            <a:ext cx="1055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980375" y="3439250"/>
            <a:ext cx="2226000" cy="10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720000" y="2906725"/>
            <a:ext cx="2304000" cy="59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3590988" y="1890950"/>
            <a:ext cx="1055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3589193" y="3439250"/>
            <a:ext cx="2226000" cy="10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3420001" y="2906725"/>
            <a:ext cx="2304000" cy="59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6296775" y="1891075"/>
            <a:ext cx="1055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6198011" y="3439250"/>
            <a:ext cx="2226000" cy="10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6120002" y="2906725"/>
            <a:ext cx="2304000" cy="59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228082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2931674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4424750" y="-1800"/>
            <a:ext cx="47193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8193117" y="446251"/>
            <a:ext cx="414956" cy="186500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293765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735500" y="1258850"/>
            <a:ext cx="5797500" cy="20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735500" y="3297650"/>
            <a:ext cx="5797500" cy="440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077126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3763500" y="-1800"/>
            <a:ext cx="5380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8059900" y="446251"/>
            <a:ext cx="473100" cy="186500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223100" y="1198450"/>
            <a:ext cx="42060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4223100" y="3162850"/>
            <a:ext cx="4206000" cy="1066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523343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3465225" y="1529000"/>
            <a:ext cx="4965600" cy="30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8144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28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47173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  <p:sldLayoutId id="2147483757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050" dirty="0"/>
              <a:t>Artificial Intelligence</a:t>
            </a:r>
            <a:br>
              <a:rPr lang="en-US" sz="4500" dirty="0"/>
            </a:br>
            <a:r>
              <a:rPr lang="en" sz="2100" dirty="0">
                <a:solidFill>
                  <a:schemeClr val="accent4"/>
                </a:solidFill>
              </a:rPr>
              <a:t>(Machine Learning &amp; Deep Learning)</a:t>
            </a:r>
            <a:endParaRPr sz="21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400" dirty="0"/>
              <a:t>Implementation of OOP Principals in Python</a:t>
            </a:r>
            <a:endParaRPr sz="1350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097300" y="5710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8588000" y="40019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2847375" y="410841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5000">
              <a:solidFill>
                <a:schemeClr val="accent2"/>
              </a:solidFill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8059900" y="446251"/>
            <a:ext cx="473100" cy="186500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255131" y="696439"/>
            <a:ext cx="2377907" cy="3907563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6"/>
          <p:cNvSpPr txBox="1">
            <a:spLocks noGrp="1"/>
          </p:cNvSpPr>
          <p:nvPr>
            <p:ph type="subTitle" idx="1"/>
          </p:nvPr>
        </p:nvSpPr>
        <p:spPr>
          <a:xfrm>
            <a:off x="2198051" y="1726324"/>
            <a:ext cx="6046550" cy="18140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i="1" dirty="0"/>
              <a:t>"First, solve the problem. Then, write the code." – John Johnson</a:t>
            </a:r>
            <a:endParaRPr dirty="0"/>
          </a:p>
        </p:txBody>
      </p:sp>
      <p:grpSp>
        <p:nvGrpSpPr>
          <p:cNvPr id="804" name="Google Shape;804;p46"/>
          <p:cNvGrpSpPr/>
          <p:nvPr/>
        </p:nvGrpSpPr>
        <p:grpSpPr>
          <a:xfrm>
            <a:off x="358926" y="1867676"/>
            <a:ext cx="2142175" cy="2736325"/>
            <a:chOff x="358925" y="1867675"/>
            <a:chExt cx="2142175" cy="2736325"/>
          </a:xfrm>
        </p:grpSpPr>
        <p:sp>
          <p:nvSpPr>
            <p:cNvPr id="805" name="Google Shape;805;p46"/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06" name="Google Shape;806;p46"/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07" name="Google Shape;807;p46"/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08" name="Google Shape;808;p46"/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09" name="Google Shape;809;p46"/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0" name="Google Shape;810;p46"/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1" name="Google Shape;811;p46"/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2" name="Google Shape;812;p46"/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3" name="Google Shape;813;p46"/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4" name="Google Shape;814;p46"/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5" name="Google Shape;815;p46"/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6" name="Google Shape;816;p46"/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7" name="Google Shape;817;p46"/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8" name="Google Shape;818;p46"/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9" name="Google Shape;819;p46"/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0" name="Google Shape;820;p46"/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1" name="Google Shape;821;p46"/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2" name="Google Shape;822;p46"/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3" name="Google Shape;823;p46"/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4" name="Google Shape;824;p46"/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5" name="Google Shape;825;p46"/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6" name="Google Shape;826;p46"/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7" name="Google Shape;827;p46"/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32" name="Google Shape;832;p46"/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33" name="Google Shape;833;p46"/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</p:grpSp>
      <p:sp>
        <p:nvSpPr>
          <p:cNvPr id="836" name="Google Shape;836;p46"/>
          <p:cNvSpPr txBox="1"/>
          <p:nvPr/>
        </p:nvSpPr>
        <p:spPr>
          <a:xfrm>
            <a:off x="226313" y="29637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7" name="Google Shape;837;p46"/>
          <p:cNvSpPr txBox="1"/>
          <p:nvPr/>
        </p:nvSpPr>
        <p:spPr>
          <a:xfrm>
            <a:off x="7343775" y="415290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8" name="Google Shape;838;p46"/>
          <p:cNvSpPr txBox="1"/>
          <p:nvPr/>
        </p:nvSpPr>
        <p:spPr>
          <a:xfrm>
            <a:off x="7951750" y="4365900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839" name="Google Shape;839;p46"/>
          <p:cNvSpPr txBox="1"/>
          <p:nvPr/>
        </p:nvSpPr>
        <p:spPr>
          <a:xfrm>
            <a:off x="670663" y="511050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" sz="5000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7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Conditional Execution &amp; Loops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2123336935"/>
              </p:ext>
            </p:extLst>
          </p:nvPr>
        </p:nvGraphicFramePr>
        <p:xfrm>
          <a:off x="726676" y="1746111"/>
          <a:ext cx="7704000" cy="26724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9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5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1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Review of Functions &amp; Exception Handling.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5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1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• </a:t>
                      </a:r>
                      <a:r>
                        <a:rPr lang="en-US" sz="100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Classes, Objects, Constructors, Destructors, Instance vs. Class  Variables.</a:t>
                      </a:r>
                    </a:p>
                    <a:p>
                      <a:r>
                        <a:rPr lang="en-US" sz="10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• </a:t>
                      </a:r>
                      <a:r>
                        <a:rPr lang="en-US" sz="10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Inheritance (Multilevel, Hierarchical, Multiple) &amp; Method Resolution Order (MRO).</a:t>
                      </a:r>
                    </a:p>
                    <a:p>
                      <a:r>
                        <a:rPr lang="en-US" sz="10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• </a:t>
                      </a:r>
                      <a:r>
                        <a:rPr lang="en-US" sz="1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Access Specifiers (Private, Public, Protected) &amp; Name Mangling.</a:t>
                      </a:r>
                    </a:p>
                    <a:p>
                      <a:r>
                        <a:rPr lang="en-US" sz="10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• </a:t>
                      </a:r>
                      <a:r>
                        <a:rPr lang="en-US" sz="10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Association, Aggregation, and Composition.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5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1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creating classes, instantiating objects, defining methods, and using constructors/destructors.</a:t>
                      </a:r>
                      <a:endParaRPr sz="10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5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1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Implementing inheritance structures, using access specifiers to secure data, and coding object relationships.</a:t>
                      </a:r>
                      <a:endParaRPr sz="10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5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1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OOP logic, resolving MRO conflicts, and preparing for tomorrow's topic: Descriptive Statistics and Probability.</a:t>
                      </a:r>
                      <a:endParaRPr sz="10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713324" y="4142300"/>
            <a:ext cx="306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sz="1100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2550414" y="4373150"/>
            <a:ext cx="4406400" cy="1021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1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Important:</a:t>
            </a:r>
            <a:br>
              <a:rPr lang="en" sz="11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Use of AI for solving given task is now allowed.</a:t>
            </a:r>
            <a:br>
              <a:rPr lang="en-US" sz="1100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Cellphones must be put on silent.</a:t>
            </a:r>
            <a:br>
              <a:rPr lang="en-US" sz="1100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100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endParaRPr lang="en-US" sz="1100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/>
              <a:t>Today Objective - </a:t>
            </a:r>
            <a:r>
              <a:rPr lang="en-US" sz="2400" dirty="0">
                <a:solidFill>
                  <a:schemeClr val="tx2"/>
                </a:solidFill>
              </a:rPr>
              <a:t>Classes and Objects</a:t>
            </a:r>
            <a:endParaRPr sz="2400" dirty="0">
              <a:solidFill>
                <a:schemeClr val="tx2"/>
              </a:solidFill>
            </a:endParaRPr>
          </a:p>
        </p:txBody>
      </p:sp>
      <p:sp>
        <p:nvSpPr>
          <p:cNvPr id="432" name="Google Shape;432;p36"/>
          <p:cNvSpPr txBox="1">
            <a:spLocks noGrp="1"/>
          </p:cNvSpPr>
          <p:nvPr>
            <p:ph type="subTitle" idx="1"/>
          </p:nvPr>
        </p:nvSpPr>
        <p:spPr>
          <a:xfrm>
            <a:off x="4503420" y="1443125"/>
            <a:ext cx="3920578" cy="27564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200" dirty="0"/>
              <a:t>Yesterday, we built individual "machines" (</a:t>
            </a:r>
            <a:r>
              <a:rPr lang="en-US" sz="1200" dirty="0">
                <a:solidFill>
                  <a:schemeClr val="accent2"/>
                </a:solidFill>
              </a:rPr>
              <a:t>Functions</a:t>
            </a:r>
            <a:r>
              <a:rPr lang="en-US" sz="1200" dirty="0"/>
              <a:t>) to perform specific tasks. Today, we are building the entire factory. </a:t>
            </a:r>
          </a:p>
          <a:p>
            <a:pPr marL="0" indent="0"/>
            <a:endParaRPr lang="en-US" sz="1200" b="1" dirty="0"/>
          </a:p>
          <a:p>
            <a:pPr marL="0" indent="0"/>
            <a:r>
              <a:rPr lang="en-US" sz="1200" b="1" dirty="0">
                <a:solidFill>
                  <a:schemeClr val="accent4"/>
                </a:solidFill>
              </a:rPr>
              <a:t>Object-Oriented Programming (OOP)</a:t>
            </a:r>
            <a:r>
              <a:rPr lang="en-US" sz="1200" dirty="0">
                <a:solidFill>
                  <a:schemeClr val="accent4"/>
                </a:solidFill>
              </a:rPr>
              <a:t> </a:t>
            </a:r>
            <a:r>
              <a:rPr lang="en-US" sz="1200" dirty="0"/>
              <a:t>allows us to bundle our data (variables) and our machines (functions) together into one organized, smart package.</a:t>
            </a:r>
            <a:endParaRPr sz="1200" dirty="0"/>
          </a:p>
        </p:txBody>
      </p:sp>
      <p:sp>
        <p:nvSpPr>
          <p:cNvPr id="433" name="Google Shape;433;p36"/>
          <p:cNvSpPr txBox="1">
            <a:spLocks noGrp="1"/>
          </p:cNvSpPr>
          <p:nvPr>
            <p:ph type="subTitle" idx="2"/>
          </p:nvPr>
        </p:nvSpPr>
        <p:spPr>
          <a:xfrm>
            <a:off x="644000" y="1443125"/>
            <a:ext cx="3602100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/>
              <a:t>Why </a:t>
            </a:r>
            <a:r>
              <a:rPr lang="en-US" dirty="0">
                <a:solidFill>
                  <a:schemeClr val="accent1"/>
                </a:solidFill>
              </a:rPr>
              <a:t>OOP</a:t>
            </a:r>
            <a:r>
              <a:rPr lang="en" dirty="0">
                <a:solidFill>
                  <a:schemeClr val="tx2"/>
                </a:solidFill>
              </a:rPr>
              <a:t> </a:t>
            </a:r>
            <a:r>
              <a:rPr lang="en" dirty="0"/>
              <a:t>matters ?</a:t>
            </a:r>
            <a:br>
              <a:rPr lang="en" dirty="0"/>
            </a:br>
            <a:br>
              <a:rPr lang="en" dirty="0"/>
            </a:br>
            <a:r>
              <a:rPr lang="en-US" sz="1200" dirty="0"/>
              <a:t>When you use tools like PyTorch or </a:t>
            </a:r>
            <a:r>
              <a:rPr lang="en-US" sz="1200" dirty="0">
                <a:solidFill>
                  <a:schemeClr val="accent4"/>
                </a:solidFill>
              </a:rPr>
              <a:t>TensorFlow</a:t>
            </a:r>
            <a:r>
              <a:rPr lang="en-US" sz="1200" dirty="0"/>
              <a:t>, </a:t>
            </a:r>
            <a:r>
              <a:rPr lang="en-US" sz="1200" i="1" dirty="0"/>
              <a:t>everything</a:t>
            </a:r>
            <a:r>
              <a:rPr lang="en-US" sz="1200" dirty="0"/>
              <a:t> is an object. A Neural Network is a Class. The layers inside it are Objects. If you don't understand </a:t>
            </a:r>
            <a:r>
              <a:rPr lang="en-US" sz="1200" dirty="0">
                <a:solidFill>
                  <a:schemeClr val="accent1"/>
                </a:solidFill>
              </a:rPr>
              <a:t>OOP</a:t>
            </a:r>
            <a:r>
              <a:rPr lang="en-US" sz="1200" dirty="0"/>
              <a:t>, you cannot build advanced AI architectures.</a:t>
            </a:r>
            <a:endParaRPr sz="1200" dirty="0"/>
          </a:p>
        </p:txBody>
      </p:sp>
      <p:grpSp>
        <p:nvGrpSpPr>
          <p:cNvPr id="434" name="Google Shape;434;p36"/>
          <p:cNvGrpSpPr/>
          <p:nvPr/>
        </p:nvGrpSpPr>
        <p:grpSpPr>
          <a:xfrm>
            <a:off x="350040" y="3944000"/>
            <a:ext cx="2536147" cy="887325"/>
            <a:chOff x="880714" y="3731738"/>
            <a:chExt cx="2536147" cy="887325"/>
          </a:xfrm>
        </p:grpSpPr>
        <p:sp>
          <p:nvSpPr>
            <p:cNvPr id="435" name="Google Shape;435;p36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</p:grpSp>
      <p:sp>
        <p:nvSpPr>
          <p:cNvPr id="448" name="Google Shape;448;p36"/>
          <p:cNvSpPr txBox="1"/>
          <p:nvPr/>
        </p:nvSpPr>
        <p:spPr>
          <a:xfrm>
            <a:off x="8292836" y="3824122"/>
            <a:ext cx="636985" cy="100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500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49" name="Google Shape;449;p36"/>
          <p:cNvSpPr txBox="1"/>
          <p:nvPr/>
        </p:nvSpPr>
        <p:spPr>
          <a:xfrm>
            <a:off x="5769715" y="4248050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" sz="5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/>
              <a:t>Core Concept </a:t>
            </a:r>
            <a:r>
              <a:rPr lang="en" sz="2400" dirty="0">
                <a:solidFill>
                  <a:schemeClr val="accent4"/>
                </a:solidFill>
              </a:rPr>
              <a:t>(</a:t>
            </a:r>
            <a:r>
              <a:rPr lang="en-US" sz="2400" dirty="0">
                <a:solidFill>
                  <a:schemeClr val="accent4"/>
                </a:solidFill>
              </a:rPr>
              <a:t>Definition</a:t>
            </a:r>
            <a:r>
              <a:rPr lang="en" sz="2400" dirty="0">
                <a:solidFill>
                  <a:schemeClr val="accent4"/>
                </a:solidFill>
              </a:rPr>
              <a:t> &amp; Rules)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498" name="Google Shape;498;p38"/>
          <p:cNvSpPr txBox="1">
            <a:spLocks noGrp="1"/>
          </p:cNvSpPr>
          <p:nvPr>
            <p:ph type="subTitle" idx="1"/>
          </p:nvPr>
        </p:nvSpPr>
        <p:spPr>
          <a:xfrm>
            <a:off x="4817152" y="1752975"/>
            <a:ext cx="2789400" cy="14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200" dirty="0"/>
              <a:t>Classes should be named using CamelCase </a:t>
            </a:r>
            <a:br>
              <a:rPr lang="en-US" sz="1200" dirty="0"/>
            </a:br>
            <a:r>
              <a:rPr lang="en-US" sz="1200" dirty="0"/>
              <a:t>(e.g., </a:t>
            </a:r>
            <a:r>
              <a:rPr lang="en-US" dirty="0"/>
              <a:t>NeuralNetwork</a:t>
            </a:r>
            <a:r>
              <a:rPr lang="en-US" sz="1200" dirty="0"/>
              <a:t>).</a:t>
            </a:r>
            <a:endParaRPr sz="1200" dirty="0"/>
          </a:p>
        </p:txBody>
      </p:sp>
      <p:sp>
        <p:nvSpPr>
          <p:cNvPr id="499" name="Google Shape;499;p38"/>
          <p:cNvSpPr txBox="1">
            <a:spLocks noGrp="1"/>
          </p:cNvSpPr>
          <p:nvPr>
            <p:ph type="subTitle" idx="2"/>
          </p:nvPr>
        </p:nvSpPr>
        <p:spPr>
          <a:xfrm>
            <a:off x="350040" y="1461262"/>
            <a:ext cx="4397089" cy="36822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endParaRPr lang="en-US" sz="1200" dirty="0"/>
          </a:p>
          <a:p>
            <a:pPr marL="0" indent="0"/>
            <a:r>
              <a:rPr lang="en-US" sz="1200" b="1" dirty="0">
                <a:solidFill>
                  <a:schemeClr val="accent1"/>
                </a:solidFill>
              </a:rPr>
              <a:t>Class</a:t>
            </a:r>
            <a:r>
              <a:rPr lang="en-US" sz="1200" b="1" dirty="0"/>
              <a:t>:</a:t>
            </a:r>
            <a:r>
              <a:rPr lang="en-US" sz="1200" dirty="0"/>
              <a:t> A user-defined prototype or blueprint from which objects are created. It encapsulates data and functions into a single unit.</a:t>
            </a:r>
          </a:p>
          <a:p>
            <a:pPr marL="0" indent="0"/>
            <a:br>
              <a:rPr lang="en-US" sz="1200" dirty="0"/>
            </a:b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Object</a:t>
            </a:r>
            <a:r>
              <a:rPr lang="en-US" sz="1200" b="1" dirty="0"/>
              <a:t>:</a:t>
            </a:r>
            <a:r>
              <a:rPr lang="en-US" sz="1200" dirty="0"/>
              <a:t> A specific instance of a class in memory, containing actual values (state) and behaviors.</a:t>
            </a:r>
          </a:p>
          <a:p>
            <a:pPr marL="0" indent="0"/>
            <a:endParaRPr lang="en-US" sz="1200" b="1" dirty="0"/>
          </a:p>
          <a:p>
            <a:pPr marL="0" indent="0"/>
            <a:r>
              <a:rPr lang="en-US" sz="1200" b="1" dirty="0">
                <a:solidFill>
                  <a:schemeClr val="accent4">
                    <a:lumMod val="75000"/>
                  </a:schemeClr>
                </a:solidFill>
              </a:rPr>
              <a:t>The Analogy</a:t>
            </a:r>
            <a:r>
              <a:rPr lang="en-US" sz="1200" b="1" dirty="0"/>
              <a:t>:</a:t>
            </a:r>
            <a:endParaRPr lang="en-US" sz="1200" dirty="0"/>
          </a:p>
          <a:p>
            <a:r>
              <a:rPr lang="en-US" sz="1200" i="1" dirty="0">
                <a:solidFill>
                  <a:schemeClr val="accent1"/>
                </a:solidFill>
              </a:rPr>
              <a:t>The Class:</a:t>
            </a:r>
            <a:r>
              <a:rPr lang="en-US" sz="1200" dirty="0">
                <a:solidFill>
                  <a:schemeClr val="accent1"/>
                </a:solidFill>
              </a:rPr>
              <a:t> </a:t>
            </a:r>
            <a:r>
              <a:rPr lang="en-US" sz="1200" dirty="0"/>
              <a:t>A cookie cutter. It is just a design of a star; it is not food .</a:t>
            </a:r>
          </a:p>
          <a:p>
            <a:r>
              <a:rPr lang="en-US" sz="1200" i="1" dirty="0">
                <a:solidFill>
                  <a:schemeClr val="accent2">
                    <a:lumMod val="75000"/>
                  </a:schemeClr>
                </a:solidFill>
              </a:rPr>
              <a:t>The Object</a:t>
            </a:r>
            <a:r>
              <a:rPr lang="en-US" sz="1200" i="1" dirty="0"/>
              <a:t>:</a:t>
            </a:r>
            <a:r>
              <a:rPr lang="en-US" sz="1200" dirty="0"/>
              <a:t> The actual baked cookie. You can use one cookie cutter to make 100 actual cookies.</a:t>
            </a:r>
          </a:p>
        </p:txBody>
      </p:sp>
      <p:sp>
        <p:nvSpPr>
          <p:cNvPr id="500" name="Google Shape;500;p38"/>
          <p:cNvSpPr txBox="1">
            <a:spLocks noGrp="1"/>
          </p:cNvSpPr>
          <p:nvPr>
            <p:ph type="subTitle" idx="3"/>
          </p:nvPr>
        </p:nvSpPr>
        <p:spPr>
          <a:xfrm>
            <a:off x="350040" y="1303381"/>
            <a:ext cx="2789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sz="1200" dirty="0"/>
              <a:t>Definition:</a:t>
            </a:r>
            <a:endParaRPr sz="1200" dirty="0"/>
          </a:p>
        </p:txBody>
      </p:sp>
      <p:sp>
        <p:nvSpPr>
          <p:cNvPr id="501" name="Google Shape;501;p38"/>
          <p:cNvSpPr txBox="1">
            <a:spLocks noGrp="1"/>
          </p:cNvSpPr>
          <p:nvPr>
            <p:ph type="subTitle" idx="4"/>
          </p:nvPr>
        </p:nvSpPr>
        <p:spPr>
          <a:xfrm>
            <a:off x="4817152" y="1338450"/>
            <a:ext cx="2789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sz="1200" dirty="0"/>
              <a:t>Rules:</a:t>
            </a:r>
            <a:endParaRPr sz="1200" dirty="0"/>
          </a:p>
        </p:txBody>
      </p:sp>
      <p:sp>
        <p:nvSpPr>
          <p:cNvPr id="502" name="Google Shape;502;p38"/>
          <p:cNvSpPr txBox="1"/>
          <p:nvPr/>
        </p:nvSpPr>
        <p:spPr>
          <a:xfrm>
            <a:off x="-82100" y="951181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defTabSz="914378"/>
            <a:endParaRPr sz="5000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8635169" y="37496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378"/>
            <a:endParaRPr sz="500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/>
          <p:cNvSpPr txBox="1"/>
          <p:nvPr/>
        </p:nvSpPr>
        <p:spPr>
          <a:xfrm>
            <a:off x="7508950" y="4113100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defTabSz="914378"/>
            <a:endParaRPr sz="96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4B285A-7C83-A5CC-B644-377D1CF0D92C}"/>
              </a:ext>
            </a:extLst>
          </p:cNvPr>
          <p:cNvSpPr txBox="1"/>
          <p:nvPr/>
        </p:nvSpPr>
        <p:spPr>
          <a:xfrm>
            <a:off x="3445050" y="1207346"/>
            <a:ext cx="48463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Classes and Objects</a:t>
            </a:r>
            <a:endParaRPr lang="en-US" sz="135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F495E-F663-98DE-1CD4-B50598114E0C}"/>
              </a:ext>
            </a:extLst>
          </p:cNvPr>
          <p:cNvSpPr txBox="1"/>
          <p:nvPr/>
        </p:nvSpPr>
        <p:spPr>
          <a:xfrm>
            <a:off x="4747129" y="3282685"/>
            <a:ext cx="40468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AI Application: </a:t>
            </a:r>
          </a:p>
          <a:p>
            <a:br>
              <a:rPr lang="en-US" sz="12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A NeuralNetwork class is the blueprint. The specific model predicting housing prices is the Object.</a:t>
            </a:r>
            <a:r>
              <a:rPr lang="en-US" sz="1200" b="1" dirty="0"/>
              <a:t>The Analogy:</a:t>
            </a:r>
            <a:endParaRPr lang="en-US" sz="1200" dirty="0"/>
          </a:p>
          <a:p>
            <a:r>
              <a:rPr lang="en-US" sz="1200" i="1" dirty="0"/>
              <a:t>The Class:</a:t>
            </a:r>
            <a:r>
              <a:rPr lang="en-US" sz="1200" dirty="0"/>
              <a:t> A cookie cutter. It is just a design of a star; it is not food .</a:t>
            </a:r>
          </a:p>
          <a:p>
            <a:r>
              <a:rPr lang="en-US" sz="1200" i="1" dirty="0"/>
              <a:t>The Object:</a:t>
            </a:r>
            <a:r>
              <a:rPr lang="en-US" sz="1200" dirty="0"/>
              <a:t> The actual baked cookie. You can use one cookie cutter to make 100 actual cookies.</a:t>
            </a:r>
          </a:p>
          <a:p>
            <a:endParaRPr lang="en-US" sz="12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30A940C-0514-6D7F-B7C7-C3E764ADA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0738DA9C-88DC-C90C-C3B2-5E96E5F67E7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0041" y="1512573"/>
            <a:ext cx="4327676" cy="3444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solidFill>
                  <a:schemeClr val="bg2"/>
                </a:solidFill>
              </a:rPr>
              <a:t>Definition: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b="1" dirty="0">
                <a:solidFill>
                  <a:schemeClr val="accent1"/>
                </a:solidFill>
              </a:rPr>
              <a:t>Instance Variables:</a:t>
            </a:r>
            <a:r>
              <a:rPr lang="en-US" sz="1200" dirty="0">
                <a:solidFill>
                  <a:schemeClr val="accent1"/>
                </a:solidFill>
              </a:rPr>
              <a:t> </a:t>
            </a:r>
            <a:r>
              <a:rPr lang="en-US" sz="1200" dirty="0"/>
              <a:t>Variables whose values are assigned uniquely to each object/instance.</a:t>
            </a:r>
          </a:p>
          <a:p>
            <a:endParaRPr lang="en-US" sz="1200" dirty="0"/>
          </a:p>
          <a:p>
            <a:r>
              <a:rPr lang="en-US" sz="1200" b="1" dirty="0">
                <a:solidFill>
                  <a:schemeClr val="accent3"/>
                </a:solidFill>
              </a:rPr>
              <a:t>Class Variables: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/>
              <a:t>Variables whose values are shared by all instances of a class.</a:t>
            </a:r>
          </a:p>
          <a:p>
            <a:endParaRPr lang="en-US" sz="1200" dirty="0"/>
          </a:p>
          <a:p>
            <a:r>
              <a:rPr lang="en-US" sz="1200" b="1" dirty="0">
                <a:solidFill>
                  <a:schemeClr val="accent4"/>
                </a:solidFill>
              </a:rPr>
              <a:t>Methods</a:t>
            </a:r>
            <a:r>
              <a:rPr lang="en-US" sz="1200" b="1" dirty="0"/>
              <a:t>:</a:t>
            </a:r>
            <a:r>
              <a:rPr lang="en-US" sz="1200" dirty="0"/>
              <a:t> Functions defined inside a class that dictate the behavior of the objects.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4985CA4C-8072-1CBF-EFD6-9FDEE15624C0}"/>
              </a:ext>
            </a:extLst>
          </p:cNvPr>
          <p:cNvSpPr txBox="1"/>
          <p:nvPr/>
        </p:nvSpPr>
        <p:spPr>
          <a:xfrm>
            <a:off x="8635169" y="37496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378">
              <a:defRPr/>
            </a:pPr>
            <a:endParaRPr sz="500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38160E-C9B5-F788-B2BA-8C2E1F7373D4}"/>
              </a:ext>
            </a:extLst>
          </p:cNvPr>
          <p:cNvSpPr txBox="1"/>
          <p:nvPr/>
        </p:nvSpPr>
        <p:spPr>
          <a:xfrm>
            <a:off x="3222817" y="1269478"/>
            <a:ext cx="48463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  <a:defRPr/>
            </a:pPr>
            <a:r>
              <a:rPr lang="en-US" sz="1350" kern="1200" dirty="0">
                <a:solidFill>
                  <a:srgbClr val="E7E7E7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Variables &amp; Methods</a:t>
            </a:r>
          </a:p>
        </p:txBody>
      </p:sp>
      <p:sp>
        <p:nvSpPr>
          <p:cNvPr id="6" name="Google Shape;497;p38">
            <a:extLst>
              <a:ext uri="{FF2B5EF4-FFF2-40B4-BE49-F238E27FC236}">
                <a16:creationId xmlns:a16="http://schemas.microsoft.com/office/drawing/2014/main" id="{D117876B-87B2-A135-0012-750285255E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/>
              <a:t>Core Concept </a:t>
            </a:r>
            <a:r>
              <a:rPr lang="en" sz="2400" dirty="0">
                <a:solidFill>
                  <a:schemeClr val="accent4"/>
                </a:solidFill>
              </a:rPr>
              <a:t>(</a:t>
            </a:r>
            <a:r>
              <a:rPr lang="en-US" sz="2400" dirty="0">
                <a:solidFill>
                  <a:schemeClr val="accent4"/>
                </a:solidFill>
              </a:rPr>
              <a:t>Definition</a:t>
            </a:r>
            <a:r>
              <a:rPr lang="en" sz="2400" dirty="0">
                <a:solidFill>
                  <a:schemeClr val="accent4"/>
                </a:solidFill>
              </a:rPr>
              <a:t> &amp; Rules)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11" name="Google Shape;499;p38">
            <a:extLst>
              <a:ext uri="{FF2B5EF4-FFF2-40B4-BE49-F238E27FC236}">
                <a16:creationId xmlns:a16="http://schemas.microsoft.com/office/drawing/2014/main" id="{8DFB0F48-B8F8-D3FA-F25D-EFF446F4DD69}"/>
              </a:ext>
            </a:extLst>
          </p:cNvPr>
          <p:cNvSpPr txBox="1">
            <a:spLocks/>
          </p:cNvSpPr>
          <p:nvPr/>
        </p:nvSpPr>
        <p:spPr>
          <a:xfrm>
            <a:off x="4677717" y="1541067"/>
            <a:ext cx="4327676" cy="344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r>
              <a:rPr lang="en-US" sz="1200" b="1" dirty="0">
                <a:solidFill>
                  <a:schemeClr val="bg2"/>
                </a:solidFill>
              </a:rPr>
              <a:t>The Analogy (The Dog):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b="1" dirty="0">
                <a:solidFill>
                  <a:schemeClr val="accent1"/>
                </a:solidFill>
              </a:rPr>
              <a:t>Instance Variables:</a:t>
            </a:r>
            <a:r>
              <a:rPr lang="en-US" sz="1200" dirty="0">
                <a:solidFill>
                  <a:schemeClr val="accent1"/>
                </a:solidFill>
              </a:rPr>
              <a:t> </a:t>
            </a:r>
            <a:r>
              <a:rPr lang="en-US" sz="1200" dirty="0"/>
              <a:t>My dog's fur color (Brown). It is unique to him.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b="1" dirty="0">
                <a:solidFill>
                  <a:schemeClr val="accent3"/>
                </a:solidFill>
              </a:rPr>
              <a:t>Class Variables: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/>
              <a:t>Number of legs (4). It is shared by all dogs.</a:t>
            </a:r>
          </a:p>
          <a:p>
            <a:endParaRPr lang="en-US" sz="1200" dirty="0"/>
          </a:p>
          <a:p>
            <a:r>
              <a:rPr lang="en-US" sz="1200" b="1" dirty="0">
                <a:solidFill>
                  <a:schemeClr val="accent4"/>
                </a:solidFill>
              </a:rPr>
              <a:t>Methods</a:t>
            </a:r>
            <a:r>
              <a:rPr lang="en-US" sz="1200" b="1" dirty="0"/>
              <a:t>:</a:t>
            </a:r>
            <a:r>
              <a:rPr lang="en-US" sz="1200" dirty="0"/>
              <a:t> The action he performs, like </a:t>
            </a:r>
            <a:r>
              <a:rPr lang="en-US" dirty="0"/>
              <a:t>eat(), bark()</a:t>
            </a:r>
            <a:r>
              <a:rPr lang="en-US" sz="1200" dirty="0"/>
              <a:t>, </a:t>
            </a:r>
            <a:r>
              <a:rPr lang="en-US" dirty="0"/>
              <a:t>find(), </a:t>
            </a:r>
          </a:p>
        </p:txBody>
      </p:sp>
    </p:spTree>
    <p:extLst>
      <p:ext uri="{BB962C8B-B14F-4D97-AF65-F5344CB8AC3E}">
        <p14:creationId xmlns:p14="http://schemas.microsoft.com/office/powerpoint/2010/main" val="4294431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A4E3849-17B0-FD95-9C90-F9DF2D5C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8ABA466A-DB78-912C-174B-AEB71DBBEE0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0041" y="1512573"/>
            <a:ext cx="4327676" cy="3444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solidFill>
                  <a:schemeClr val="bg2"/>
                </a:solidFill>
              </a:rPr>
              <a:t>Definition: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b="1" dirty="0">
                <a:solidFill>
                  <a:schemeClr val="accent1"/>
                </a:solidFill>
              </a:rPr>
              <a:t>Constructor </a:t>
            </a:r>
            <a:r>
              <a:rPr lang="en-US" sz="1200" b="1" dirty="0">
                <a:solidFill>
                  <a:srgbClr val="00B0F0"/>
                </a:solidFill>
              </a:rPr>
              <a:t>(__init__)</a:t>
            </a:r>
            <a:r>
              <a:rPr lang="en-US" sz="1200" b="1" dirty="0">
                <a:solidFill>
                  <a:schemeClr val="accent1"/>
                </a:solidFill>
              </a:rPr>
              <a:t>: </a:t>
            </a:r>
            <a:r>
              <a:rPr lang="en-US" sz="1200" dirty="0">
                <a:solidFill>
                  <a:schemeClr val="tx1"/>
                </a:solidFill>
              </a:rPr>
              <a:t>A special method automatically called when an object is instantiated, used to initialize the object's state.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accent1"/>
                </a:solidFill>
              </a:rPr>
              <a:t>Destructor </a:t>
            </a:r>
            <a:r>
              <a:rPr lang="en-US" sz="1200" b="1" dirty="0">
                <a:solidFill>
                  <a:srgbClr val="00B0F0"/>
                </a:solidFill>
              </a:rPr>
              <a:t>(__del__)</a:t>
            </a:r>
            <a:r>
              <a:rPr lang="en-US" sz="1200" b="1" dirty="0">
                <a:solidFill>
                  <a:schemeClr val="accent1"/>
                </a:solidFill>
              </a:rPr>
              <a:t>: </a:t>
            </a:r>
            <a:r>
              <a:rPr lang="en-US" sz="1200" dirty="0">
                <a:solidFill>
                  <a:schemeClr val="tx1"/>
                </a:solidFill>
              </a:rPr>
              <a:t>A method called automatically when an object is about to be destroyed, used to clean up memory.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3A489DEB-AC87-29A6-B63B-D467E14379A9}"/>
              </a:ext>
            </a:extLst>
          </p:cNvPr>
          <p:cNvSpPr txBox="1"/>
          <p:nvPr/>
        </p:nvSpPr>
        <p:spPr>
          <a:xfrm>
            <a:off x="8635169" y="37496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378">
              <a:defRPr/>
            </a:pPr>
            <a:endParaRPr sz="500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39F3D-9DAC-91AA-E2B2-61B5ED9992F2}"/>
              </a:ext>
            </a:extLst>
          </p:cNvPr>
          <p:cNvSpPr txBox="1"/>
          <p:nvPr/>
        </p:nvSpPr>
        <p:spPr>
          <a:xfrm>
            <a:off x="3222817" y="1269478"/>
            <a:ext cx="48463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  <a:defRPr/>
            </a:pPr>
            <a:r>
              <a:rPr lang="en-US" sz="1350" kern="1200" dirty="0">
                <a:solidFill>
                  <a:srgbClr val="E7E7E7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Constructors and Destructors</a:t>
            </a:r>
          </a:p>
        </p:txBody>
      </p:sp>
      <p:sp>
        <p:nvSpPr>
          <p:cNvPr id="6" name="Google Shape;497;p38">
            <a:extLst>
              <a:ext uri="{FF2B5EF4-FFF2-40B4-BE49-F238E27FC236}">
                <a16:creationId xmlns:a16="http://schemas.microsoft.com/office/drawing/2014/main" id="{5878C738-4BCA-2F57-3BE7-2AF2EAD7E5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/>
              <a:t>Core Concept </a:t>
            </a:r>
            <a:r>
              <a:rPr lang="en" sz="2400" dirty="0">
                <a:solidFill>
                  <a:schemeClr val="accent4"/>
                </a:solidFill>
              </a:rPr>
              <a:t>(</a:t>
            </a:r>
            <a:r>
              <a:rPr lang="en-US" sz="2400" dirty="0">
                <a:solidFill>
                  <a:schemeClr val="accent4"/>
                </a:solidFill>
              </a:rPr>
              <a:t>Definition</a:t>
            </a:r>
            <a:r>
              <a:rPr lang="en" sz="2400" dirty="0">
                <a:solidFill>
                  <a:schemeClr val="accent4"/>
                </a:solidFill>
              </a:rPr>
              <a:t> &amp; Rules)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11" name="Google Shape;499;p38">
            <a:extLst>
              <a:ext uri="{FF2B5EF4-FFF2-40B4-BE49-F238E27FC236}">
                <a16:creationId xmlns:a16="http://schemas.microsoft.com/office/drawing/2014/main" id="{59D49E8C-6F1C-F2D3-E66B-AB34FE621525}"/>
              </a:ext>
            </a:extLst>
          </p:cNvPr>
          <p:cNvSpPr txBox="1">
            <a:spLocks/>
          </p:cNvSpPr>
          <p:nvPr/>
        </p:nvSpPr>
        <p:spPr>
          <a:xfrm>
            <a:off x="4677717" y="1541067"/>
            <a:ext cx="4327676" cy="344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r>
              <a:rPr lang="en-US" sz="1200" b="1" dirty="0">
                <a:solidFill>
                  <a:schemeClr val="bg2"/>
                </a:solidFill>
              </a:rPr>
              <a:t>The Analogy (The Dog):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b="1" dirty="0">
                <a:solidFill>
                  <a:schemeClr val="accent1"/>
                </a:solidFill>
              </a:rPr>
              <a:t>Constructor: </a:t>
            </a:r>
            <a:r>
              <a:rPr lang="en-US" sz="1200" dirty="0">
                <a:solidFill>
                  <a:schemeClr val="tx1"/>
                </a:solidFill>
              </a:rPr>
              <a:t>The "birth" setup. When a new Dog is born, it is immediately assigned a name and age before it does anything else.</a:t>
            </a:r>
          </a:p>
          <a:p>
            <a:endParaRPr lang="en-US" sz="1200" b="1" dirty="0">
              <a:solidFill>
                <a:schemeClr val="accent1"/>
              </a:solidFill>
            </a:endParaRPr>
          </a:p>
          <a:p>
            <a:r>
              <a:rPr lang="en-US" sz="1200" b="1" dirty="0">
                <a:solidFill>
                  <a:schemeClr val="accent1"/>
                </a:solidFill>
              </a:rPr>
              <a:t>Destructor: </a:t>
            </a:r>
            <a:r>
              <a:rPr lang="en-US" sz="1200" dirty="0">
                <a:solidFill>
                  <a:schemeClr val="tx1"/>
                </a:solidFill>
              </a:rPr>
              <a:t>The "recycling" phase when the object is no longer needed.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331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F87E05E-326D-A06F-F35F-43FF7D3C9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5F7309C7-6F35-7DEF-E79A-0563A322577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0041" y="1512573"/>
            <a:ext cx="4327676" cy="3444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solidFill>
                  <a:schemeClr val="bg2"/>
                </a:solidFill>
              </a:rPr>
              <a:t>Definition: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A mechanism where a new class (</a:t>
            </a:r>
            <a:r>
              <a:rPr lang="en-US" sz="1200" dirty="0">
                <a:solidFill>
                  <a:schemeClr val="accent1"/>
                </a:solidFill>
              </a:rPr>
              <a:t>Subclass</a:t>
            </a:r>
            <a:r>
              <a:rPr lang="en-US" sz="1200" dirty="0">
                <a:solidFill>
                  <a:schemeClr val="tx1"/>
                </a:solidFill>
              </a:rPr>
              <a:t>) acquires the properties and methods of an existing class (</a:t>
            </a:r>
            <a:r>
              <a:rPr lang="en-US" sz="1200" dirty="0">
                <a:solidFill>
                  <a:schemeClr val="accent2"/>
                </a:solidFill>
              </a:rPr>
              <a:t>Superclass</a:t>
            </a:r>
            <a:r>
              <a:rPr lang="en-US" sz="1200" dirty="0">
                <a:solidFill>
                  <a:schemeClr val="tx1"/>
                </a:solidFill>
              </a:rPr>
              <a:t>), promoting code reusability.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accent1"/>
                </a:solidFill>
              </a:rPr>
              <a:t>Multilevel</a:t>
            </a:r>
            <a:r>
              <a:rPr lang="en-US" sz="1200" dirty="0">
                <a:solidFill>
                  <a:schemeClr val="tx1"/>
                </a:solidFill>
              </a:rPr>
              <a:t>: Class C inherits from Class B, which inherits from Class A.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Hierarchical</a:t>
            </a:r>
            <a:r>
              <a:rPr lang="en-US" sz="1200" dirty="0">
                <a:solidFill>
                  <a:schemeClr val="tx1"/>
                </a:solidFill>
              </a:rPr>
              <a:t>: Classes B and C both inherit from the same Class A.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rgbClr val="00B0F0"/>
                </a:solidFill>
              </a:rPr>
              <a:t>Multiple</a:t>
            </a:r>
            <a:r>
              <a:rPr lang="en-US" sz="1200" dirty="0">
                <a:solidFill>
                  <a:schemeClr val="tx1"/>
                </a:solidFill>
              </a:rPr>
              <a:t>: Class C inherits from both Class A and Class B.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F6AFE680-5858-F050-2D19-D94CEE6741F7}"/>
              </a:ext>
            </a:extLst>
          </p:cNvPr>
          <p:cNvSpPr txBox="1"/>
          <p:nvPr/>
        </p:nvSpPr>
        <p:spPr>
          <a:xfrm>
            <a:off x="8635169" y="37496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378">
              <a:defRPr/>
            </a:pPr>
            <a:endParaRPr sz="500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58DD5C-C4BC-4488-BEC9-1D9760569920}"/>
              </a:ext>
            </a:extLst>
          </p:cNvPr>
          <p:cNvSpPr txBox="1"/>
          <p:nvPr/>
        </p:nvSpPr>
        <p:spPr>
          <a:xfrm>
            <a:off x="3222817" y="1269478"/>
            <a:ext cx="48463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  <a:defRPr/>
            </a:pPr>
            <a:r>
              <a:rPr lang="en-US" sz="1350" kern="1200" dirty="0">
                <a:solidFill>
                  <a:srgbClr val="E7E7E7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Inheritance</a:t>
            </a:r>
          </a:p>
        </p:txBody>
      </p:sp>
      <p:sp>
        <p:nvSpPr>
          <p:cNvPr id="6" name="Google Shape;497;p38">
            <a:extLst>
              <a:ext uri="{FF2B5EF4-FFF2-40B4-BE49-F238E27FC236}">
                <a16:creationId xmlns:a16="http://schemas.microsoft.com/office/drawing/2014/main" id="{8F5F09AB-A170-B089-E28B-A5EAEAD040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/>
              <a:t>Core Concept </a:t>
            </a:r>
            <a:r>
              <a:rPr lang="en" sz="2400" dirty="0">
                <a:solidFill>
                  <a:schemeClr val="accent4"/>
                </a:solidFill>
              </a:rPr>
              <a:t>(</a:t>
            </a:r>
            <a:r>
              <a:rPr lang="en-US" sz="2400" dirty="0">
                <a:solidFill>
                  <a:schemeClr val="accent4"/>
                </a:solidFill>
              </a:rPr>
              <a:t>Definition</a:t>
            </a:r>
            <a:r>
              <a:rPr lang="en" sz="2400" dirty="0">
                <a:solidFill>
                  <a:schemeClr val="accent4"/>
                </a:solidFill>
              </a:rPr>
              <a:t> &amp; Rules)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11" name="Google Shape;499;p38">
            <a:extLst>
              <a:ext uri="{FF2B5EF4-FFF2-40B4-BE49-F238E27FC236}">
                <a16:creationId xmlns:a16="http://schemas.microsoft.com/office/drawing/2014/main" id="{189AFFF9-491E-179D-7356-2D78B9EF9A48}"/>
              </a:ext>
            </a:extLst>
          </p:cNvPr>
          <p:cNvSpPr txBox="1">
            <a:spLocks/>
          </p:cNvSpPr>
          <p:nvPr/>
        </p:nvSpPr>
        <p:spPr>
          <a:xfrm>
            <a:off x="4677717" y="1541067"/>
            <a:ext cx="4327676" cy="344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r>
              <a:rPr lang="en-US" sz="1200" b="1" dirty="0">
                <a:solidFill>
                  <a:schemeClr val="bg2"/>
                </a:solidFill>
              </a:rPr>
              <a:t>The Analogy: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dirty="0"/>
              <a:t>The Family Tree.</a:t>
            </a:r>
          </a:p>
          <a:p>
            <a:r>
              <a:rPr lang="en-US" sz="1200" dirty="0"/>
              <a:t>Passing down physical traits and wealth</a:t>
            </a:r>
          </a:p>
          <a:p>
            <a:r>
              <a:rPr lang="en-US" sz="1200" dirty="0"/>
              <a:t>from grandparents to parents to children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625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242B322-8FD7-3E7A-D1E6-44729D554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FE4B7677-0E04-1C24-3620-B11A4193C3D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0041" y="1512573"/>
            <a:ext cx="4327676" cy="3444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solidFill>
                  <a:schemeClr val="bg2"/>
                </a:solidFill>
              </a:rPr>
              <a:t>Definition: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The specific order in which Python searches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for base classes during the execution of a</a:t>
            </a:r>
          </a:p>
          <a:p>
            <a:r>
              <a:rPr lang="en-US" sz="1200" dirty="0">
                <a:solidFill>
                  <a:srgbClr val="00B0F0"/>
                </a:solidFill>
              </a:rPr>
              <a:t>method</a:t>
            </a:r>
            <a:r>
              <a:rPr lang="en-US" sz="1200" dirty="0">
                <a:solidFill>
                  <a:schemeClr val="tx1"/>
                </a:solidFill>
              </a:rPr>
              <a:t>. It resolves conflicts in </a:t>
            </a:r>
            <a:r>
              <a:rPr lang="en-US" sz="1200" dirty="0">
                <a:solidFill>
                  <a:schemeClr val="accent1"/>
                </a:solidFill>
              </a:rPr>
              <a:t>Multiple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Inheritance situations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BA5E6D0C-012E-3E4F-83B8-3629692285D9}"/>
              </a:ext>
            </a:extLst>
          </p:cNvPr>
          <p:cNvSpPr txBox="1"/>
          <p:nvPr/>
        </p:nvSpPr>
        <p:spPr>
          <a:xfrm>
            <a:off x="8635169" y="37496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378">
              <a:defRPr/>
            </a:pPr>
            <a:endParaRPr sz="500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69C9C9-A11D-F5F2-DA2F-959D2FC1FBEF}"/>
              </a:ext>
            </a:extLst>
          </p:cNvPr>
          <p:cNvSpPr txBox="1"/>
          <p:nvPr/>
        </p:nvSpPr>
        <p:spPr>
          <a:xfrm>
            <a:off x="3222817" y="1269478"/>
            <a:ext cx="48463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  <a:defRPr/>
            </a:pPr>
            <a:r>
              <a:rPr lang="en-US" sz="1350" kern="1200" dirty="0">
                <a:solidFill>
                  <a:srgbClr val="E7E7E7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Method Resolution Order (MRO)</a:t>
            </a:r>
          </a:p>
        </p:txBody>
      </p:sp>
      <p:sp>
        <p:nvSpPr>
          <p:cNvPr id="6" name="Google Shape;497;p38">
            <a:extLst>
              <a:ext uri="{FF2B5EF4-FFF2-40B4-BE49-F238E27FC236}">
                <a16:creationId xmlns:a16="http://schemas.microsoft.com/office/drawing/2014/main" id="{9C6297DC-9698-1E7A-2419-7E8FCE83B6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/>
              <a:t>Core Concept </a:t>
            </a:r>
            <a:r>
              <a:rPr lang="en" sz="2400" dirty="0">
                <a:solidFill>
                  <a:schemeClr val="accent4"/>
                </a:solidFill>
              </a:rPr>
              <a:t>(</a:t>
            </a:r>
            <a:r>
              <a:rPr lang="en-US" sz="2400" dirty="0">
                <a:solidFill>
                  <a:schemeClr val="accent4"/>
                </a:solidFill>
              </a:rPr>
              <a:t>Definition</a:t>
            </a:r>
            <a:r>
              <a:rPr lang="en" sz="2400" dirty="0">
                <a:solidFill>
                  <a:schemeClr val="accent4"/>
                </a:solidFill>
              </a:rPr>
              <a:t> &amp; Rules)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11" name="Google Shape;499;p38">
            <a:extLst>
              <a:ext uri="{FF2B5EF4-FFF2-40B4-BE49-F238E27FC236}">
                <a16:creationId xmlns:a16="http://schemas.microsoft.com/office/drawing/2014/main" id="{3ADF7D91-72D0-739E-01FB-BAF0C5063FCC}"/>
              </a:ext>
            </a:extLst>
          </p:cNvPr>
          <p:cNvSpPr txBox="1">
            <a:spLocks/>
          </p:cNvSpPr>
          <p:nvPr/>
        </p:nvSpPr>
        <p:spPr>
          <a:xfrm>
            <a:off x="4677717" y="1541067"/>
            <a:ext cx="4327676" cy="344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r>
              <a:rPr lang="en-US" sz="1200" b="1" dirty="0">
                <a:solidFill>
                  <a:schemeClr val="bg2"/>
                </a:solidFill>
              </a:rPr>
              <a:t>The Analogy: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dirty="0"/>
              <a:t>If a child </a:t>
            </a:r>
            <a:r>
              <a:rPr lang="en-US" sz="1200" dirty="0">
                <a:solidFill>
                  <a:schemeClr val="accent2"/>
                </a:solidFill>
              </a:rPr>
              <a:t>inherits</a:t>
            </a:r>
            <a:r>
              <a:rPr lang="en-US" sz="1200" dirty="0"/>
              <a:t> rules from two</a:t>
            </a:r>
          </a:p>
          <a:p>
            <a:r>
              <a:rPr lang="en-US" sz="1200" dirty="0"/>
              <a:t>different parents, and both parents give</a:t>
            </a:r>
          </a:p>
          <a:p>
            <a:r>
              <a:rPr lang="en-US" sz="1200" dirty="0">
                <a:solidFill>
                  <a:schemeClr val="accent4"/>
                </a:solidFill>
              </a:rPr>
              <a:t>conflicting instructions </a:t>
            </a:r>
            <a:r>
              <a:rPr lang="en-US" sz="1200" dirty="0"/>
              <a:t>(e.g., Eat your</a:t>
            </a:r>
          </a:p>
          <a:p>
            <a:r>
              <a:rPr lang="en-US" sz="1200" dirty="0"/>
              <a:t>vegetables!, Go play outside), MRO is the</a:t>
            </a:r>
          </a:p>
          <a:p>
            <a:r>
              <a:rPr lang="en-US" sz="1200" dirty="0"/>
              <a:t>strict rulebook telling the child exactly</a:t>
            </a:r>
          </a:p>
          <a:p>
            <a:r>
              <a:rPr lang="en-US" sz="1200" dirty="0"/>
              <a:t>which parent to listen to first.</a:t>
            </a:r>
          </a:p>
        </p:txBody>
      </p:sp>
    </p:spTree>
    <p:extLst>
      <p:ext uri="{BB962C8B-B14F-4D97-AF65-F5344CB8AC3E}">
        <p14:creationId xmlns:p14="http://schemas.microsoft.com/office/powerpoint/2010/main" val="80751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9AEED7C-5B45-0B87-DC0D-6041B1004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49FED755-1BB4-A4A0-839F-E9C5F845059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0041" y="1512573"/>
            <a:ext cx="4327676" cy="3444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solidFill>
                  <a:schemeClr val="bg2"/>
                </a:solidFill>
              </a:rPr>
              <a:t>Definition: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Keywords used to restrict the access scope of class members.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accent3"/>
                </a:solidFill>
              </a:rPr>
              <a:t>Public: </a:t>
            </a:r>
            <a:r>
              <a:rPr lang="en-US" sz="1200" dirty="0">
                <a:solidFill>
                  <a:schemeClr val="tx1"/>
                </a:solidFill>
              </a:rPr>
              <a:t>Accessible from anywhere.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Protected (_var): </a:t>
            </a:r>
            <a:r>
              <a:rPr lang="en-US" sz="1200" dirty="0">
                <a:solidFill>
                  <a:schemeClr val="tx1"/>
                </a:solidFill>
              </a:rPr>
              <a:t>Accessible only within the class and its subclasses.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Private (__var): </a:t>
            </a:r>
            <a:r>
              <a:rPr lang="en-US" sz="1200" dirty="0">
                <a:solidFill>
                  <a:schemeClr val="tx1"/>
                </a:solidFill>
              </a:rPr>
              <a:t>Accessible only strictly within the class. Python enforces this via </a:t>
            </a:r>
            <a:r>
              <a:rPr lang="en-US" sz="1200" b="1" dirty="0">
                <a:solidFill>
                  <a:schemeClr val="accent4"/>
                </a:solidFill>
              </a:rPr>
              <a:t>Name Mangling </a:t>
            </a:r>
            <a:r>
              <a:rPr lang="en-US" sz="1200" dirty="0">
                <a:solidFill>
                  <a:schemeClr val="tx1"/>
                </a:solidFill>
              </a:rPr>
              <a:t>(internally altering the variable name to make it harder to access from outside).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CD6E75F5-5B0D-1A99-7271-0E2B05EA3916}"/>
              </a:ext>
            </a:extLst>
          </p:cNvPr>
          <p:cNvSpPr txBox="1"/>
          <p:nvPr/>
        </p:nvSpPr>
        <p:spPr>
          <a:xfrm>
            <a:off x="8635169" y="37496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378">
              <a:defRPr/>
            </a:pPr>
            <a:endParaRPr sz="500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F4EDBA-021D-2CF8-3974-28E6D91D348F}"/>
              </a:ext>
            </a:extLst>
          </p:cNvPr>
          <p:cNvSpPr txBox="1"/>
          <p:nvPr/>
        </p:nvSpPr>
        <p:spPr>
          <a:xfrm>
            <a:off x="3222817" y="1269478"/>
            <a:ext cx="48463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  <a:defRPr/>
            </a:pPr>
            <a:r>
              <a:rPr lang="en-US" sz="1350" kern="1200" dirty="0">
                <a:solidFill>
                  <a:srgbClr val="E7E7E7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Access Specifiers &amp; Name Mangling</a:t>
            </a:r>
          </a:p>
        </p:txBody>
      </p:sp>
      <p:sp>
        <p:nvSpPr>
          <p:cNvPr id="6" name="Google Shape;497;p38">
            <a:extLst>
              <a:ext uri="{FF2B5EF4-FFF2-40B4-BE49-F238E27FC236}">
                <a16:creationId xmlns:a16="http://schemas.microsoft.com/office/drawing/2014/main" id="{B7BC6531-1DB1-E2F8-3E09-E5C5EE3879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/>
              <a:t>Core Concept </a:t>
            </a:r>
            <a:r>
              <a:rPr lang="en" sz="2400" dirty="0">
                <a:solidFill>
                  <a:schemeClr val="accent4"/>
                </a:solidFill>
              </a:rPr>
              <a:t>(</a:t>
            </a:r>
            <a:r>
              <a:rPr lang="en-US" sz="2400" dirty="0">
                <a:solidFill>
                  <a:schemeClr val="accent4"/>
                </a:solidFill>
              </a:rPr>
              <a:t>Definition</a:t>
            </a:r>
            <a:r>
              <a:rPr lang="en" sz="2400" dirty="0">
                <a:solidFill>
                  <a:schemeClr val="accent4"/>
                </a:solidFill>
              </a:rPr>
              <a:t> &amp; Rules)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11" name="Google Shape;499;p38">
            <a:extLst>
              <a:ext uri="{FF2B5EF4-FFF2-40B4-BE49-F238E27FC236}">
                <a16:creationId xmlns:a16="http://schemas.microsoft.com/office/drawing/2014/main" id="{E4E26678-B5D5-8044-16FB-B7A4F0E5C0CC}"/>
              </a:ext>
            </a:extLst>
          </p:cNvPr>
          <p:cNvSpPr txBox="1">
            <a:spLocks/>
          </p:cNvSpPr>
          <p:nvPr/>
        </p:nvSpPr>
        <p:spPr>
          <a:xfrm>
            <a:off x="4677717" y="1541067"/>
            <a:ext cx="4327676" cy="344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r>
              <a:rPr lang="en-US" sz="1200" b="1" dirty="0">
                <a:solidFill>
                  <a:schemeClr val="bg2"/>
                </a:solidFill>
              </a:rPr>
              <a:t>The Analogy: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3"/>
                </a:solidFill>
              </a:rPr>
              <a:t>Public</a:t>
            </a:r>
            <a:r>
              <a:rPr lang="en-US" sz="1200" b="1" dirty="0"/>
              <a:t>: </a:t>
            </a:r>
            <a:r>
              <a:rPr lang="en-US" sz="1200" dirty="0"/>
              <a:t>Your front yard.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Protected</a:t>
            </a:r>
            <a:r>
              <a:rPr lang="en-US" sz="1200" b="1" dirty="0"/>
              <a:t>: </a:t>
            </a:r>
            <a:r>
              <a:rPr lang="en-US" sz="1200" dirty="0"/>
              <a:t>Your living room (family only).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Private</a:t>
            </a:r>
            <a:r>
              <a:rPr lang="en-US" sz="1200" b="1" dirty="0"/>
              <a:t>: </a:t>
            </a:r>
            <a:r>
              <a:rPr lang="en-US" sz="1200" dirty="0"/>
              <a:t>Your locked safe..</a:t>
            </a:r>
          </a:p>
        </p:txBody>
      </p:sp>
    </p:spTree>
    <p:extLst>
      <p:ext uri="{BB962C8B-B14F-4D97-AF65-F5344CB8AC3E}">
        <p14:creationId xmlns:p14="http://schemas.microsoft.com/office/powerpoint/2010/main" val="882313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6D3DD66-EAF2-5F4C-5722-60F1CAF2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3BA9AE6A-6324-65D2-A465-1792034C0C0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0041" y="1512573"/>
            <a:ext cx="4327676" cy="3444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solidFill>
                  <a:schemeClr val="bg2"/>
                </a:solidFill>
              </a:rPr>
              <a:t>Definition: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Association</a:t>
            </a:r>
            <a:r>
              <a:rPr lang="en-US" sz="1200" dirty="0">
                <a:solidFill>
                  <a:schemeClr val="tx1"/>
                </a:solidFill>
              </a:rPr>
              <a:t>: A relationship where objects interact but have completely independent lifecycles.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tx2"/>
                </a:solidFill>
              </a:rPr>
              <a:t>Aggregation</a:t>
            </a:r>
            <a:r>
              <a:rPr lang="en-US" sz="1200" dirty="0">
                <a:solidFill>
                  <a:schemeClr val="tx1"/>
                </a:solidFill>
              </a:rPr>
              <a:t>: A "has-a" relationship (weak dependency). The child can exist independently of the parent.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accent1"/>
                </a:solidFill>
              </a:rPr>
              <a:t>Composition</a:t>
            </a:r>
            <a:r>
              <a:rPr lang="en-US" sz="1200" dirty="0">
                <a:solidFill>
                  <a:schemeClr val="tx1"/>
                </a:solidFill>
              </a:rPr>
              <a:t>: A "part-of" relationship (strong dependency). The child's lifecycle depends entirely on the parent.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C8EE098E-785E-2D04-72A8-D772CE368CBD}"/>
              </a:ext>
            </a:extLst>
          </p:cNvPr>
          <p:cNvSpPr txBox="1"/>
          <p:nvPr/>
        </p:nvSpPr>
        <p:spPr>
          <a:xfrm>
            <a:off x="8635169" y="37496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378">
              <a:defRPr/>
            </a:pPr>
            <a:endParaRPr sz="500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236F70-8795-EC47-5841-2AD56CB10CDC}"/>
              </a:ext>
            </a:extLst>
          </p:cNvPr>
          <p:cNvSpPr txBox="1"/>
          <p:nvPr/>
        </p:nvSpPr>
        <p:spPr>
          <a:xfrm>
            <a:off x="3222817" y="1269478"/>
            <a:ext cx="48463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  <a:defRPr/>
            </a:pPr>
            <a:r>
              <a:rPr lang="en-US" sz="1350" kern="1200" dirty="0">
                <a:solidFill>
                  <a:srgbClr val="E7E7E7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Advanced Relationships</a:t>
            </a:r>
          </a:p>
        </p:txBody>
      </p:sp>
      <p:sp>
        <p:nvSpPr>
          <p:cNvPr id="6" name="Google Shape;497;p38">
            <a:extLst>
              <a:ext uri="{FF2B5EF4-FFF2-40B4-BE49-F238E27FC236}">
                <a16:creationId xmlns:a16="http://schemas.microsoft.com/office/drawing/2014/main" id="{E58C6264-43C0-9DA4-B6FA-915207AB9C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/>
              <a:t>Core Concept </a:t>
            </a:r>
            <a:r>
              <a:rPr lang="en" sz="2400" dirty="0">
                <a:solidFill>
                  <a:schemeClr val="accent4"/>
                </a:solidFill>
              </a:rPr>
              <a:t>(</a:t>
            </a:r>
            <a:r>
              <a:rPr lang="en-US" sz="2400" dirty="0">
                <a:solidFill>
                  <a:schemeClr val="accent4"/>
                </a:solidFill>
              </a:rPr>
              <a:t>Definition</a:t>
            </a:r>
            <a:r>
              <a:rPr lang="en" sz="2400" dirty="0">
                <a:solidFill>
                  <a:schemeClr val="accent4"/>
                </a:solidFill>
              </a:rPr>
              <a:t> &amp; Rules)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11" name="Google Shape;499;p38">
            <a:extLst>
              <a:ext uri="{FF2B5EF4-FFF2-40B4-BE49-F238E27FC236}">
                <a16:creationId xmlns:a16="http://schemas.microsoft.com/office/drawing/2014/main" id="{555D7920-A298-3223-689D-5A64D89E4392}"/>
              </a:ext>
            </a:extLst>
          </p:cNvPr>
          <p:cNvSpPr txBox="1">
            <a:spLocks/>
          </p:cNvSpPr>
          <p:nvPr/>
        </p:nvSpPr>
        <p:spPr>
          <a:xfrm>
            <a:off x="4677717" y="1541067"/>
            <a:ext cx="4327676" cy="344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r>
              <a:rPr lang="en-US" sz="1200" b="1" dirty="0">
                <a:solidFill>
                  <a:schemeClr val="bg2"/>
                </a:solidFill>
              </a:rPr>
              <a:t>The Analogy: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Association </a:t>
            </a:r>
            <a:r>
              <a:rPr lang="en-US" sz="1200" b="1" dirty="0"/>
              <a:t>: </a:t>
            </a:r>
            <a:r>
              <a:rPr lang="en-US" sz="1200" dirty="0"/>
              <a:t>A Doctor and a Patient working together.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/>
                </a:solidFill>
              </a:rPr>
              <a:t>Aggregation </a:t>
            </a:r>
            <a:r>
              <a:rPr lang="en-US" sz="1200" b="1" dirty="0"/>
              <a:t>: </a:t>
            </a:r>
            <a:r>
              <a:rPr lang="en-US" sz="1200" dirty="0"/>
              <a:t>A Library and Books. If the library building closes, the books still exist and can be moved.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Composition</a:t>
            </a:r>
            <a:r>
              <a:rPr lang="en-US" sz="1200" b="1" dirty="0"/>
              <a:t>: </a:t>
            </a:r>
            <a:r>
              <a:rPr lang="en-US" sz="1200" dirty="0"/>
              <a:t>A Car and an Engine. If you crush the car, the engine is crushed with it .</a:t>
            </a:r>
          </a:p>
        </p:txBody>
      </p:sp>
    </p:spTree>
    <p:extLst>
      <p:ext uri="{BB962C8B-B14F-4D97-AF65-F5344CB8AC3E}">
        <p14:creationId xmlns:p14="http://schemas.microsoft.com/office/powerpoint/2010/main" val="4023919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01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/>
          <p:cNvSpPr txBox="1">
            <a:spLocks noGrp="1"/>
          </p:cNvSpPr>
          <p:nvPr>
            <p:ph type="subTitle" idx="1"/>
          </p:nvPr>
        </p:nvSpPr>
        <p:spPr>
          <a:xfrm>
            <a:off x="3048275" y="166080"/>
            <a:ext cx="4965600" cy="694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1 – functions 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/>
          <p:cNvSpPr txBox="1"/>
          <p:nvPr/>
        </p:nvSpPr>
        <p:spPr>
          <a:xfrm>
            <a:off x="8013875" y="4044900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96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507D528-26D3-9170-726C-42866AFE9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580" y="1139556"/>
            <a:ext cx="5289788" cy="400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813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54ED16AA-2EC2-A556-2959-42F4758C7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D9C6B6DE-22CD-A6C4-0772-E1BCCAAB43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02</a:t>
            </a:r>
            <a:br>
              <a:rPr lang="en" dirty="0">
                <a:solidFill>
                  <a:schemeClr val="lt2"/>
                </a:solidFill>
              </a:rPr>
            </a:b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54DDFD50-324F-59CC-575A-86FC6B853BD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72235" y="166080"/>
            <a:ext cx="6041640" cy="694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2 – Variables &amp; Constructors / Destructors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5A61DE70-469E-BF1D-4FE1-7BA71FB7E1A8}"/>
              </a:ext>
            </a:extLst>
          </p:cNvPr>
          <p:cNvSpPr txBox="1"/>
          <p:nvPr/>
        </p:nvSpPr>
        <p:spPr>
          <a:xfrm>
            <a:off x="8297230" y="4125582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96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7C6756-2363-DA94-CB94-C414B5F31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47" y="1164361"/>
            <a:ext cx="7190518" cy="397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87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B80A121C-BD6E-83E3-199A-E663792D5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D8D7A16C-679C-631B-4C04-13BB11B140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03</a:t>
            </a:r>
            <a:br>
              <a:rPr lang="en" dirty="0">
                <a:solidFill>
                  <a:schemeClr val="lt2"/>
                </a:solidFill>
              </a:rPr>
            </a:b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38811A22-9AA8-BB7B-CD27-F4E8D84774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72235" y="166080"/>
            <a:ext cx="6041640" cy="694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3 – Inheritance &amp; MRO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E5A71B08-1439-CC98-DE04-3E9002C5D30E}"/>
              </a:ext>
            </a:extLst>
          </p:cNvPr>
          <p:cNvSpPr txBox="1"/>
          <p:nvPr/>
        </p:nvSpPr>
        <p:spPr>
          <a:xfrm>
            <a:off x="8297230" y="4125582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96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6989EB-9FE4-7B58-2E73-CA169566A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74" y="1825482"/>
            <a:ext cx="4329681" cy="21458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3999EA-B731-28E3-A799-529BC5CB8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438" y="1399050"/>
            <a:ext cx="3757462" cy="329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010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16D64BFF-7AC9-36F5-1BC9-232E52152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67547C60-4E5F-7153-B2A0-433DF8757D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04</a:t>
            </a:r>
            <a:br>
              <a:rPr lang="en" dirty="0">
                <a:solidFill>
                  <a:schemeClr val="lt2"/>
                </a:solidFill>
              </a:rPr>
            </a:b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BE0B10E3-FE01-0FF4-91CB-05613DB2F1D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72235" y="166080"/>
            <a:ext cx="6041640" cy="694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4 – Specifiers / Security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3CB757C4-7C84-5663-1FDB-E0F076EBFE1B}"/>
              </a:ext>
            </a:extLst>
          </p:cNvPr>
          <p:cNvSpPr txBox="1"/>
          <p:nvPr/>
        </p:nvSpPr>
        <p:spPr>
          <a:xfrm>
            <a:off x="8297230" y="4125582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96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7611BD-4CEC-F916-33B8-22C359BC3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442" y="1163580"/>
            <a:ext cx="3091115" cy="397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82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57011003-E992-ABD9-BB0A-293210D81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9583E64E-CEDA-9FDB-BAAA-AB5AFB3D1B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05</a:t>
            </a:r>
            <a:br>
              <a:rPr lang="en" dirty="0">
                <a:solidFill>
                  <a:schemeClr val="lt2"/>
                </a:solidFill>
              </a:rPr>
            </a:b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DF5AC4FF-293C-D177-411E-B99E5DD0DCE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72235" y="166080"/>
            <a:ext cx="6041640" cy="694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5 – Advanced Relationship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D1DB844E-93AD-1D88-4415-59A013B9AEB1}"/>
              </a:ext>
            </a:extLst>
          </p:cNvPr>
          <p:cNvSpPr txBox="1"/>
          <p:nvPr/>
        </p:nvSpPr>
        <p:spPr>
          <a:xfrm>
            <a:off x="8297230" y="4125582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96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7B74FA-7ACB-66A6-61C9-77C10EE3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68" y="1192225"/>
            <a:ext cx="4204758" cy="21895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8B24E7-2105-0B19-06B5-EA86EBD23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44924"/>
            <a:ext cx="3307976" cy="234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597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4247086" y="561376"/>
            <a:ext cx="4158029" cy="5298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400" dirty="0"/>
              <a:t>Thank You for Your Focus Today!</a:t>
            </a:r>
            <a:endParaRPr sz="1400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4094847" y="3563523"/>
            <a:ext cx="4206000" cy="13050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050" dirty="0"/>
              <a:t>Waleed Khan</a:t>
            </a:r>
            <a:br>
              <a:rPr lang="en-US" sz="1050" dirty="0"/>
            </a:br>
            <a:r>
              <a:rPr lang="en-US" sz="1050" dirty="0"/>
              <a:t>(</a:t>
            </a:r>
            <a:r>
              <a:rPr lang="en-US" sz="900" dirty="0"/>
              <a:t>Robotics Engineer | Senior Python Developer)</a:t>
            </a:r>
            <a:br>
              <a:rPr lang="en-US" sz="1050" dirty="0"/>
            </a:br>
            <a:endParaRPr lang="en-US" sz="1050" dirty="0"/>
          </a:p>
          <a:p>
            <a:pPr marL="0" indent="0"/>
            <a:r>
              <a:rPr lang="en-US" sz="1050" dirty="0"/>
              <a:t>Email: 0xcloudcoder@gmail.com</a:t>
            </a:r>
            <a:br>
              <a:rPr lang="en-US" sz="1400" dirty="0"/>
            </a:br>
            <a:r>
              <a:rPr lang="en-US" sz="1050" dirty="0"/>
              <a:t>Contact: +923126008702</a:t>
            </a:r>
            <a:endParaRPr sz="105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8329900" y="3978325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96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335642" y="696439"/>
            <a:ext cx="2932044" cy="3907563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6640651" y="3872109"/>
            <a:ext cx="519300" cy="8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500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4040256" y="1805293"/>
            <a:ext cx="4808944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45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</TotalTime>
  <Words>1217</Words>
  <Application>Microsoft Office PowerPoint</Application>
  <PresentationFormat>On-screen Show (16:9)</PresentationFormat>
  <Paragraphs>165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Comfortaa</vt:lpstr>
      <vt:lpstr>Fira Code</vt:lpstr>
      <vt:lpstr>Arial</vt:lpstr>
      <vt:lpstr>Source Code Pro</vt:lpstr>
      <vt:lpstr>Proxima Nova</vt:lpstr>
      <vt:lpstr>Slidesgo Final Pages</vt:lpstr>
      <vt:lpstr>day 6</vt:lpstr>
      <vt:lpstr>Artificial Intelligence (Machine Learning &amp; Deep Learning)</vt:lpstr>
      <vt:lpstr>PowerPoint Presentation</vt:lpstr>
      <vt:lpstr>Contents of Day 7</vt:lpstr>
      <vt:lpstr>Today Objective - Classes and Objects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Practical exercise 01</vt:lpstr>
      <vt:lpstr>Practical exercise 02 </vt:lpstr>
      <vt:lpstr>Practical exercise 03 </vt:lpstr>
      <vt:lpstr>Practical exercise 04 </vt:lpstr>
      <vt:lpstr>Practical exercise 05 </vt:lpstr>
      <vt:lpstr>Thank You for Your Focus Today!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Master Mind</cp:lastModifiedBy>
  <cp:revision>8</cp:revision>
  <dcterms:modified xsi:type="dcterms:W3CDTF">2026-02-25T00:49:47Z</dcterms:modified>
</cp:coreProperties>
</file>