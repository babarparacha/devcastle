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1"/>
  </p:notesMasterIdLst>
  <p:sldIdLst>
    <p:sldId id="258" r:id="rId3"/>
    <p:sldId id="257" r:id="rId4"/>
    <p:sldId id="275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259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6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99B2F-13C3-4916-9AE2-773954F7FF95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32A58F-A9F4-4EDD-94B3-A9547EE99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07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510CBC-CBD4-7FA5-5018-FDCB3BD85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D33713A-80D5-8FCF-C31F-CBCBB27531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DEF5084-F53F-BF3C-FDE4-1399D44B45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3037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E530A6E-4ED8-E9CF-A35E-5E4D5D6A7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9B113993-6107-7FFF-7333-55BA15A75E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BE5FD32-9CB6-EE0E-E53B-C1546F2140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6053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56E969B7-6F75-CE90-6A16-984ED28ED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C2E1510-867B-EB03-A300-F1FF4F9CD9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150C90C2-45B3-8425-5F47-78C518C557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70376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D3114DA-BBD7-ED99-D76A-70912B434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5FCC17A-30CA-2550-B49F-03F6CB98C7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85F304B-CCA3-9440-F724-E5B6DA9A3D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42784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3D8B0565-75A3-F535-0EA8-CC2E522A6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512EBAE-AE71-8F9C-3EDD-372B78F6BF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8FF6ED5-8345-F226-24C5-877E114CC1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7176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6CA1DB0C-82FE-C63B-FB02-FE7343001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8014724-6500-186E-0FD8-AD929F82C7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54D8D34E-7C9D-7CA7-FCF1-B146CA37E8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5602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CB25CC-BC15-9B8A-E286-AE800567E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51D05371-8019-5763-9498-1212B58F9E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2B6F66A-6261-792A-D532-768F2C741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710804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7E7DDBF9-1A5A-33F1-D0CB-13C465ACF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E2A10DB2-44B2-D632-706E-C49D0AF33B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C33AAC0D-1E59-5DAF-B0EC-E6232E7B42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080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8AE23D3-3AFA-700B-BA11-278ABED8F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15BBAB68-F5FC-8041-9989-0179F5EB1D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30AEDA3A-5C2C-0247-72B0-33E810FD3E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54222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8A2789B-3A5F-2984-7DE6-35BCAB9E7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5B830D0-39EC-C6DA-D645-890B9D7369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757FDA8D-6E02-AEEE-EFD4-34AA6DCC34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733915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272C0525-07DB-3B26-898F-57C09690B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84D538AC-FD26-FA97-8B41-167C897F37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96F463FA-6E68-A106-C48D-FEAFEE5E4E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508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7C98704-AB38-C5CE-1952-C0899088E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F8234D1-F285-BBBF-70A9-FCBA699CF3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EEAE7EA-73AE-4897-C74A-204FAE75DE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48983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880650F-860B-A929-93DE-2214F7A22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2550BE7-95E6-5E35-6B78-A560FFE96B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6E45347D-6EC2-214D-4A46-8A316500A5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63285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1F74EAF-512E-545B-1219-E035D8C69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7B3A5979-972B-62D2-9C5D-FEF155034E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03462FA-6685-7879-A088-AE9EFB0AB4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67033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9E90E776-8815-E979-51A4-A3D12AD72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6B016115-0E07-F4BC-D24B-C4FA4C9C17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0644ECD-21BF-9BA8-11D6-E2EF56CC31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36520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0" name="Google Shape;35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047651" y="3021933"/>
            <a:ext cx="8847600" cy="16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317484" y="1800733"/>
            <a:ext cx="22028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773533" y="4625133"/>
            <a:ext cx="8058400" cy="3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" name="Google Shape;16;p3"/>
          <p:cNvGrpSpPr/>
          <p:nvPr/>
        </p:nvGrpSpPr>
        <p:grpSpPr>
          <a:xfrm>
            <a:off x="11085100" y="470668"/>
            <a:ext cx="630800" cy="248667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78688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" name="Google Shape;22;p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3" name="Google Shape;23;p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37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600"/>
            </a:lvl1pPr>
            <a:lvl2pPr marL="1219140" lvl="1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09" lvl="2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278" lvl="3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848" lvl="4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418" lvl="5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6987" lvl="6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557" lvl="7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126" lvl="8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4056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0" name="Google Shape;30;p5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31" name="Google Shape;31;p5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705672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211426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6651249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1708483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4302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1" name="Google Shape;41;p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2" name="Google Shape;42;p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672967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" name="Google Shape;56;p8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57" name="Google Shape;57;p8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807000" y="1742800"/>
            <a:ext cx="54340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884903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248036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1360817" y="1780133"/>
            <a:ext cx="9470400" cy="2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1360784" y="4125967"/>
            <a:ext cx="9470400" cy="620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5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6" name="Google Shape;76;p1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77" name="Google Shape;77;p1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1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1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6356967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74051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3" name="Google Shape;83;p13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8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3296000" y="244393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4234001" y="377790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4672036" y="5112331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2493200" y="19607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3431200" y="33099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3855033" y="4659100"/>
            <a:ext cx="8028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3296000" y="19607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4234000" y="33099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4672033" y="46591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373016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3583367" y="4619000"/>
            <a:ext cx="76580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3583219" y="2134600"/>
            <a:ext cx="76580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2" name="Google Shape;102;p14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4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765395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8" name="Google Shape;108;p15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5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15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950967" y="714200"/>
            <a:ext cx="4221200" cy="31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950967" y="3885400"/>
            <a:ext cx="4221200" cy="22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5"/>
          <p:cNvSpPr>
            <a:spLocks noGrp="1"/>
          </p:cNvSpPr>
          <p:nvPr>
            <p:ph type="pic" idx="2"/>
          </p:nvPr>
        </p:nvSpPr>
        <p:spPr>
          <a:xfrm>
            <a:off x="6377667" y="709417"/>
            <a:ext cx="3880000" cy="543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218112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950967" y="1870467"/>
            <a:ext cx="43320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950967" y="3288067"/>
            <a:ext cx="4332000" cy="18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2076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449600" y="2001600"/>
            <a:ext cx="4791200" cy="14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1"/>
          </p:nvPr>
        </p:nvSpPr>
        <p:spPr>
          <a:xfrm>
            <a:off x="6449828" y="3416000"/>
            <a:ext cx="47912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49317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4" name="Google Shape;124;p18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25" name="Google Shape;125;p1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6985135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2276900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1882268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6590509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35239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642919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85866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61005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45" name="Google Shape;145;p20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330267" y="279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4697316" y="367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8068311" y="43234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960000" y="191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4389396" y="279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7822725" y="34434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306908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7" name="Google Shape;157;p21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58" name="Google Shape;158;p21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1"/>
          </p:nvPr>
        </p:nvSpPr>
        <p:spPr>
          <a:xfrm>
            <a:off x="4667467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"/>
          </p:nvPr>
        </p:nvSpPr>
        <p:spPr>
          <a:xfrm>
            <a:off x="8594388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3"/>
          </p:nvPr>
        </p:nvSpPr>
        <p:spPr>
          <a:xfrm>
            <a:off x="4667467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4"/>
          </p:nvPr>
        </p:nvSpPr>
        <p:spPr>
          <a:xfrm>
            <a:off x="8594388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5"/>
          </p:nvPr>
        </p:nvSpPr>
        <p:spPr>
          <a:xfrm>
            <a:off x="42592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6"/>
          </p:nvPr>
        </p:nvSpPr>
        <p:spPr>
          <a:xfrm>
            <a:off x="42592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7"/>
          </p:nvPr>
        </p:nvSpPr>
        <p:spPr>
          <a:xfrm>
            <a:off x="81861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8"/>
          </p:nvPr>
        </p:nvSpPr>
        <p:spPr>
          <a:xfrm>
            <a:off x="81861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752964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859867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5153000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859867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5153000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8446132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8446132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484069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4777200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8070331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484069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4777200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8070331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922488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6" name="Google Shape;186;p23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87" name="Google Shape;187;p2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" name="Google Shape;190;p23"/>
          <p:cNvSpPr txBox="1">
            <a:spLocks noGrp="1"/>
          </p:cNvSpPr>
          <p:nvPr>
            <p:ph type="title" hasCustomPrompt="1"/>
          </p:nvPr>
        </p:nvSpPr>
        <p:spPr>
          <a:xfrm>
            <a:off x="5402633" y="84076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" name="Google Shape;191;p23"/>
          <p:cNvSpPr txBox="1">
            <a:spLocks noGrp="1"/>
          </p:cNvSpPr>
          <p:nvPr>
            <p:ph type="subTitle" idx="1"/>
          </p:nvPr>
        </p:nvSpPr>
        <p:spPr>
          <a:xfrm>
            <a:off x="5878073" y="173422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title" idx="2" hasCustomPrompt="1"/>
          </p:nvPr>
        </p:nvSpPr>
        <p:spPr>
          <a:xfrm>
            <a:off x="5402633" y="264378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3"/>
          </p:nvPr>
        </p:nvSpPr>
        <p:spPr>
          <a:xfrm>
            <a:off x="5878073" y="353724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 idx="4" hasCustomPrompt="1"/>
          </p:nvPr>
        </p:nvSpPr>
        <p:spPr>
          <a:xfrm>
            <a:off x="5402633" y="444680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23"/>
          <p:cNvSpPr txBox="1">
            <a:spLocks noGrp="1"/>
          </p:cNvSpPr>
          <p:nvPr>
            <p:ph type="subTitle" idx="5"/>
          </p:nvPr>
        </p:nvSpPr>
        <p:spPr>
          <a:xfrm>
            <a:off x="5878073" y="534026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448289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8" name="Google Shape;198;p2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99" name="Google Shape;199;p2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2" name="Google Shape;202;p24"/>
          <p:cNvSpPr txBox="1">
            <a:spLocks noGrp="1"/>
          </p:cNvSpPr>
          <p:nvPr>
            <p:ph type="title" hasCustomPrompt="1"/>
          </p:nvPr>
        </p:nvSpPr>
        <p:spPr>
          <a:xfrm>
            <a:off x="1179800" y="25209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1307167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2"/>
          </p:nvPr>
        </p:nvSpPr>
        <p:spPr>
          <a:xfrm>
            <a:off x="960000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title" idx="3" hasCustomPrompt="1"/>
          </p:nvPr>
        </p:nvSpPr>
        <p:spPr>
          <a:xfrm>
            <a:off x="4787984" y="2521267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" name="Google Shape;206;p24"/>
          <p:cNvSpPr txBox="1">
            <a:spLocks noGrp="1"/>
          </p:cNvSpPr>
          <p:nvPr>
            <p:ph type="subTitle" idx="4"/>
          </p:nvPr>
        </p:nvSpPr>
        <p:spPr>
          <a:xfrm>
            <a:off x="4785591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subTitle" idx="5"/>
          </p:nvPr>
        </p:nvSpPr>
        <p:spPr>
          <a:xfrm>
            <a:off x="4560001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8" name="Google Shape;208;p24"/>
          <p:cNvSpPr txBox="1">
            <a:spLocks noGrp="1"/>
          </p:cNvSpPr>
          <p:nvPr>
            <p:ph type="title" idx="6" hasCustomPrompt="1"/>
          </p:nvPr>
        </p:nvSpPr>
        <p:spPr>
          <a:xfrm>
            <a:off x="8395700" y="25214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24"/>
          <p:cNvSpPr txBox="1">
            <a:spLocks noGrp="1"/>
          </p:cNvSpPr>
          <p:nvPr>
            <p:ph type="subTitle" idx="7"/>
          </p:nvPr>
        </p:nvSpPr>
        <p:spPr>
          <a:xfrm>
            <a:off x="8264015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8"/>
          </p:nvPr>
        </p:nvSpPr>
        <p:spPr>
          <a:xfrm>
            <a:off x="8160003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368403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1187346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5899667" y="-2400"/>
            <a:ext cx="62924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10924156" y="595001"/>
            <a:ext cx="553275" cy="248667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9241422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47333" y="1678467"/>
            <a:ext cx="7730000" cy="27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47333" y="4396867"/>
            <a:ext cx="7730000" cy="58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14538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" name="Google Shape;63;p9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64" name="Google Shape;64;p9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9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5630800" y="1597933"/>
            <a:ext cx="5608000" cy="26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5630800" y="4217133"/>
            <a:ext cx="5608000" cy="1421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9931279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8" name="Google Shape;48;p7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9" name="Google Shape;49;p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4620300" y="2038667"/>
            <a:ext cx="6620800" cy="4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2085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028760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5400" dirty="0"/>
              <a:t>Artificial Intelligence</a:t>
            </a:r>
            <a:br>
              <a:rPr lang="en-US" sz="6000" dirty="0"/>
            </a:br>
            <a:r>
              <a:rPr lang="en" sz="2800" dirty="0">
                <a:solidFill>
                  <a:schemeClr val="accent4"/>
                </a:solidFill>
              </a:rPr>
              <a:t>(Machine Learning &amp; Deep Learning)</a:t>
            </a:r>
            <a:endParaRPr sz="2800" dirty="0"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3217849" y="4473517"/>
            <a:ext cx="8487720" cy="5670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867" dirty="0"/>
              <a:t>NLP </a:t>
            </a:r>
            <a:r>
              <a:rPr lang="en-US" sz="1867" dirty="0" err="1"/>
              <a:t>DeepDive</a:t>
            </a:r>
            <a:endParaRPr lang="en-US" sz="1867" dirty="0"/>
          </a:p>
        </p:txBody>
      </p:sp>
      <p:sp>
        <p:nvSpPr>
          <p:cNvPr id="240" name="Google Shape;240;p31"/>
          <p:cNvSpPr txBox="1"/>
          <p:nvPr/>
        </p:nvSpPr>
        <p:spPr>
          <a:xfrm>
            <a:off x="2796400" y="761333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E81A81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11450667" y="53359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4CAE97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3796500" y="5477887"/>
            <a:ext cx="19300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94EE6B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94EE6B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340175" y="928586"/>
            <a:ext cx="3170543" cy="5210084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Contents </a:t>
            </a:r>
            <a:r>
              <a:rPr lang="en" dirty="0">
                <a:solidFill>
                  <a:schemeClr val="accent4"/>
                </a:solidFill>
              </a:rPr>
              <a:t>of Day 26</a:t>
            </a:r>
            <a:br>
              <a:rPr lang="en" dirty="0">
                <a:solidFill>
                  <a:schemeClr val="accent4"/>
                </a:solidFill>
              </a:rPr>
            </a:br>
            <a:endParaRPr dirty="0">
              <a:solidFill>
                <a:schemeClr val="accent4"/>
              </a:solidFill>
            </a:endParaRPr>
          </a:p>
        </p:txBody>
      </p:sp>
      <p:sp>
        <p:nvSpPr>
          <p:cNvPr id="298" name="Google Shape;298;p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299" name="Google Shape;299;p32"/>
          <p:cNvGraphicFramePr/>
          <p:nvPr>
            <p:extLst>
              <p:ext uri="{D42A27DB-BD31-4B8C-83A1-F6EECF244321}">
                <p14:modId xmlns:p14="http://schemas.microsoft.com/office/powerpoint/2010/main" val="3386454976"/>
              </p:ext>
            </p:extLst>
          </p:nvPr>
        </p:nvGraphicFramePr>
        <p:xfrm>
          <a:off x="968901" y="2328148"/>
          <a:ext cx="10272000" cy="356329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32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Recap &amp; introduction</a:t>
                      </a:r>
                      <a:endParaRPr sz="1500" dirty="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Moving from Python OOP to Data Science. Why AI needs data.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Core Thoery</a:t>
                      </a:r>
                      <a:endParaRPr sz="1500" dirty="0">
                        <a:solidFill>
                          <a:schemeClr val="accen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NLP coding exercise &amp; </a:t>
                      </a:r>
                      <a:r>
                        <a:rPr lang="en-US" sz="1300" b="1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explantions</a:t>
                      </a:r>
                      <a:endParaRPr lang="en-US" sz="1300" b="1" dirty="0">
                        <a:solidFill>
                          <a:schemeClr val="tx1"/>
                        </a:solidFill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Lab Practice</a:t>
                      </a:r>
                      <a:endParaRPr sz="1500" dirty="0">
                        <a:solidFill>
                          <a:schemeClr val="accent4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Practical coding tasks implementing method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5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Advance Lab</a:t>
                      </a:r>
                      <a:endParaRPr sz="1500" dirty="0">
                        <a:solidFill>
                          <a:schemeClr val="accent5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Understanding the logic with real world examples.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1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Wrap-up &amp; Q&amp;A</a:t>
                      </a:r>
                      <a:endParaRPr sz="1500" dirty="0">
                        <a:solidFill>
                          <a:schemeClr val="accent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Debugging tips along with Q&amp;A and suggestion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0" name="Google Shape;300;p32"/>
          <p:cNvSpPr txBox="1"/>
          <p:nvPr/>
        </p:nvSpPr>
        <p:spPr>
          <a:xfrm>
            <a:off x="951099" y="5523067"/>
            <a:ext cx="4085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478E5AC7-4524-6A51-8B39-8D8899921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Tokenization - Splitting Text Into Pieces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BD64B5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BD64B5"/>
                </a:solidFill>
                <a:latin typeface="Source Code Pro"/>
              </a:rPr>
              <a:t>Tokenization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the very first step in any NLP pipeline.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It breaks raw text into smaller meaningful units called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tokens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Two types of tokenization: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Word Tokenization → split by individual words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Sentence Tokenization → split by sentences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Example - Word Tokenization: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Input:  "Ali is learning NLP in Pakistan."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Output: ["Ali", "is", "learning", "NLP", "in", "Pakistan", "."]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Example - Sentence Tokenization: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Input:  "NLP is great. I love it. You should learn it."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Output: ["NLP is great.", "I love it.", "You should learn it."]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Why it matters: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Every NLP task starts here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You cannot process text without first breaking it into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units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NLTK provides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word_tokenize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() and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sent_tokenize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() for this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Think of it as: before you read a book, you see individual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words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00154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FAE09901-1EA4-1281-E9D0-75400B034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Word Segmentation - Handling Tricky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Word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segmentation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tokenization for languages without clear spaces.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English uses spaces between words → easy to split.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But many languages do NOT use spaces: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Chinese: "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我爱NLP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" → ["我", "爱", "NLP"] (I love NLP)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Arabic and Urdu: words merge and change shape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German: "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Natursprachverarbeitung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" = one long compound word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Even in English, segmentation handles edge cases: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"don't" → ["do", "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n't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"] or ["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dont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"]?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"New York" → one token or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two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?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"state-of-the-art" → one token or four?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Why it matters: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Wrong segmentation = wrong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meaning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A model that sees "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dont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" and "don't" as different = confused model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Subword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segmentation is used in GPT and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BERT</a:t>
            </a:r>
            <a:endParaRPr lang="en-US" sz="1400" b="1" dirty="0">
              <a:solidFill>
                <a:srgbClr val="94EE6B"/>
              </a:solidFill>
              <a:latin typeface="Source Code Pro"/>
            </a:endParaRPr>
          </a:p>
          <a:p>
            <a:pPr algn="l"/>
            <a:endParaRPr sz="1400" b="1" dirty="0">
              <a:solidFill>
                <a:srgbClr val="94EE6B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Rule: How you split text directly affects what the model learns.</a:t>
            </a:r>
          </a:p>
        </p:txBody>
      </p:sp>
    </p:spTree>
    <p:extLst>
      <p:ext uri="{BB962C8B-B14F-4D97-AF65-F5344CB8AC3E}">
        <p14:creationId xmlns:p14="http://schemas.microsoft.com/office/powerpoint/2010/main" val="3664333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93EF743-37DF-61A5-E507-BEE9CB679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Stemming - Chopping Words to Their Root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94EE6B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94EE6B"/>
                </a:solidFill>
                <a:latin typeface="Source Code Pro"/>
              </a:rPr>
              <a:t>Stemming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reduces a word to its base or root form.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It uses simple rules to chop off suffixes.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"running"  → "run"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"studies"  → "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studi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"   ← not a real word!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"happily"  → "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happili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"  ← rough but fast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"learning" → "learn"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"connection" → "connect"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NLTK provides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PorterStemmer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(most common) and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SnowballStemmer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Code: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from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nltk.stem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import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PorterStemmer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stemmer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PorterStemmer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()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stemmer.stem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("running")   → "run"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stemmer.stem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("studies")   → "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studi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Advantages: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Very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fast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processing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Reduces vocabulary size significantly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Disadvantages: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Results are sometimes not real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words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No understanding of word meaning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Use stemming when: speed matters more than accuracy.</a:t>
            </a:r>
          </a:p>
        </p:txBody>
      </p:sp>
    </p:spTree>
    <p:extLst>
      <p:ext uri="{BB962C8B-B14F-4D97-AF65-F5344CB8AC3E}">
        <p14:creationId xmlns:p14="http://schemas.microsoft.com/office/powerpoint/2010/main" val="4066680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DDBB3FB-1E1D-5346-0FB9-55028EA8A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Text Normalization - Making Text Consistent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4CAE9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4CAE97"/>
                </a:solidFill>
                <a:latin typeface="Source Code Pro"/>
              </a:rPr>
              <a:t>Normalization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makes messy text uniform and consistent.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Problem: Same meaning, different forms confuse models.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Examples of inconsistency: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"USA", "U.S.A", "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usa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", "United States" → all mean the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same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"2nd", "second", "2" → all mean the same number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"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gonna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" → "going to"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"HELLO!!!" → "hello"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Common normalization steps: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Lowercasing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"Hello" and "hello" treated as same word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Expanding contractions → "don't" → "do not"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Removing accents → "café" → "cafe"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Standardizing dates → "01/03/2024" → "March 1 2024"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Removing extra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whitespace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"hello   world" → "hello world"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Why it matters: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Without normalization a model sees "Hello" and "hello" as TWO different words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This wastes vocabulary space and confuses learning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Normalized text = smaller vocabulary =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faster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and smarter model</a:t>
            </a:r>
          </a:p>
        </p:txBody>
      </p:sp>
    </p:spTree>
    <p:extLst>
      <p:ext uri="{BB962C8B-B14F-4D97-AF65-F5344CB8AC3E}">
        <p14:creationId xmlns:p14="http://schemas.microsoft.com/office/powerpoint/2010/main" val="3174017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EC5CC58-C86D-B3EF-39BE-FB3282AB8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Regular Expressions - Pattern Matching in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Regular</a:t>
            </a:r>
            <a:r>
              <a:rPr lang="en-US" sz="1400" b="1" dirty="0">
                <a:solidFill>
                  <a:srgbClr val="94EE6B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Expression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(regex) is a pattern used to search or clean text.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It is the most powerful tool for text pre-processing.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Python uses the re library.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import re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Common patterns: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\d     → any digit (0-9)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\w     → any word character (a-z, A-Z, 0-9)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\s     → any whitespace (space, tab)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.      → any single character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+      → one or more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*      → zero or more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Why NLP engineers love regex: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No library needed → just Python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Fast and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flexible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Handles any custom cleaning rule you can think of</a:t>
            </a:r>
          </a:p>
        </p:txBody>
      </p:sp>
    </p:spTree>
    <p:extLst>
      <p:ext uri="{BB962C8B-B14F-4D97-AF65-F5344CB8AC3E}">
        <p14:creationId xmlns:p14="http://schemas.microsoft.com/office/powerpoint/2010/main" val="3483430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4F5C0FC-1DBC-A7CC-FAC6-09829C351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POS Tagging - Labeling Grammar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POS stands for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Part</a:t>
            </a:r>
            <a:r>
              <a:rPr lang="en-US" sz="1400" b="1" dirty="0">
                <a:solidFill>
                  <a:srgbClr val="BD64B5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Of</a:t>
            </a:r>
            <a:r>
              <a:rPr lang="en-US" sz="1400" b="1" dirty="0">
                <a:solidFill>
                  <a:srgbClr val="BD64B5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Speech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POS tagging labels every word with its grammatical role.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Common POS tags: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NN  → Noun (singular): "dog", "city", "Python"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NNS → Noun (plural): "dogs", "cities"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VB  → Verb (base): "run", "learn", "build"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JJ  →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Adjective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"fast", "amazing", "large"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RB  → Adverb: "quickly", "always"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DT  → Determiner: "the", "a", "an"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IN  → Preposition: "in", "on", "at"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"Ali built an amazing system."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Ali=NNP  built=VBD  an=DT  amazing=JJ  system=NN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Why it matters for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NLP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Helps machines understand sentence structure (Syntax)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Needed for Named Entity Recognition and Parsing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Helps with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disambiguation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"bank" as noun vs verb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NLTK: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nltk.pos_tag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(tokens)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SpaCy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token.pos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_ for each token in doc</a:t>
            </a:r>
          </a:p>
        </p:txBody>
      </p:sp>
    </p:spTree>
    <p:extLst>
      <p:ext uri="{BB962C8B-B14F-4D97-AF65-F5344CB8AC3E}">
        <p14:creationId xmlns:p14="http://schemas.microsoft.com/office/powerpoint/2010/main" val="721575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7C055C9-C156-1F68-35AF-7995F54AF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NER Tagging - Finding Real World Entities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NER stands for Named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Entity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Recognition.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It finds and classifies real-world names in text.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Common entity types: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PERSON  → "Elon Musk", "Ali Hassan"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ORG     → "Google", "OpenAI", "NUST"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GPE     → "Pakistan", "Lahore", "New York" (geo-political)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DATE    → "Monday", "2024", "last week"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MONEY   → "$500", "5000 rupees"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PRODUCT → "iPhone", "Python"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"Elon Musk founded SpaceX in 2002 in California."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Elon Musk  → PERSON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SpaceX     → ORG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2002       → DATE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California → GPE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Real world uses: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Search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engines extract entities from web pages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News apps tag articles by person or location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Resume parsers extract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skills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and companies automatically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SpaCy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has excellent built-in NER →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doc.ents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This is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Semantics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 action — understanding MEANING in text.</a:t>
            </a:r>
          </a:p>
        </p:txBody>
      </p:sp>
    </p:spTree>
    <p:extLst>
      <p:ext uri="{BB962C8B-B14F-4D97-AF65-F5344CB8AC3E}">
        <p14:creationId xmlns:p14="http://schemas.microsoft.com/office/powerpoint/2010/main" val="2683934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F3C24B5-FA2A-A20C-CFEF-E96090FCD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Chunking and Chinking - Grouping Words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BD64B5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BD64B5"/>
                </a:solidFill>
                <a:latin typeface="Source Code Pro"/>
              </a:rPr>
              <a:t>Chunking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groups individual POS-tagged words into meaningful phrases.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It is one step above POS tagging.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 — Noun Phrase (NP) Chunking: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Sentence: "The fast red car crashed badly."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POS tags:  DT   JJ   JJ  NN   VBD    RB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Chunk:    [The fast red car] crashed badly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      └── NP Chunk ──┘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noun phrase "the fast red car" is extracted as one unit.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Common chunk types: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NP → Noun Phrase: "the big dog"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VP → Verb Phrase: "was running fast"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PP → Prepositional Phrase: "in the market"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81A81"/>
                </a:solidFill>
                <a:latin typeface="Source Code Pro"/>
              </a:rPr>
              <a:t>Chinking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the OPPOSITE of chunking: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Chunking = define what you WANT to keep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Chinking = define what you want to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remove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from a chunk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Example: Remove verbs from inside a noun phrase.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NLTK uses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RegexpParser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for chunking: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grammar = "NP: {&lt;DT&gt;?&lt;JJ&gt;*&lt;NN&gt;}"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parser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nltk.RegexpParser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(grammar)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This extracts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structure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before full parsing.</a:t>
            </a:r>
          </a:p>
        </p:txBody>
      </p:sp>
    </p:spTree>
    <p:extLst>
      <p:ext uri="{BB962C8B-B14F-4D97-AF65-F5344CB8AC3E}">
        <p14:creationId xmlns:p14="http://schemas.microsoft.com/office/powerpoint/2010/main" val="1924674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27396EA-B3CB-5765-A2BF-6067CF0C0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Lemmatization - Smarter Root Finding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4CAE9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4CAE97"/>
                </a:solidFill>
                <a:latin typeface="Source Code Pro"/>
              </a:rPr>
              <a:t>Lemmatization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reduces words to their true dictionary root.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It is smarter than stemming because it uses vocabulary knowledge.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Stemming vs Lemmatization comparison: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Word         Stemming     Lemmatization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"running"  → "run"      → "run"        (same here)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"studies"  → "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studi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"    → "study"      (lemma wins!)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"better"   → "better"   → "good"       (lemma wins!)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"wolves"   → "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wolv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"     → "wolf"       (lemma wins!)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"caring"   → "car"      → "care"       (stemmer fails!)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NLTK uses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Word</a:t>
            </a:r>
            <a:r>
              <a:rPr lang="en-US" sz="1400" b="1" dirty="0">
                <a:solidFill>
                  <a:srgbClr val="EC7955"/>
                </a:solidFill>
                <a:latin typeface="Source Code Pro"/>
              </a:rPr>
              <a:t> </a:t>
            </a:r>
            <a:r>
              <a:rPr sz="1400" b="1" dirty="0" err="1">
                <a:solidFill>
                  <a:srgbClr val="EC7955"/>
                </a:solidFill>
                <a:latin typeface="Source Code Pro"/>
              </a:rPr>
              <a:t>NetLemmatizer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from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nltk.stem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import Word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Net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Lemmatizer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lemmatizer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WordNetLemmatizer()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lemmatizer.lemmatize("studies")  → "study"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lemmatizer.lemmatize("better", pos="a")  → "good"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Note: You should pass the POS tag for better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accuracy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SpaCy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lemmatizes automatically →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token.lemma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_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When to use: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When accuracy matters → use lemmatization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When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speed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matters → use stemming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In production NLP systems → almost always lemmatization</a:t>
            </a:r>
          </a:p>
        </p:txBody>
      </p:sp>
    </p:spTree>
    <p:extLst>
      <p:ext uri="{BB962C8B-B14F-4D97-AF65-F5344CB8AC3E}">
        <p14:creationId xmlns:p14="http://schemas.microsoft.com/office/powerpoint/2010/main" val="820022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2B9FC64-41CB-FD68-6031-A0DC2CA1A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WordNet - A Dictionary for Machines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4CAE9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4CAE97"/>
                </a:solidFill>
                <a:latin typeface="Source Code Pro"/>
              </a:rPr>
              <a:t>WordNet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a large English lexical database built for NLP.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Think of it as a dictionary + thesaurus + knowledge graph combined.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Key concepts in WordNet: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 err="1">
                <a:solidFill>
                  <a:srgbClr val="E81A81"/>
                </a:solidFill>
                <a:latin typeface="Source Code Pro"/>
              </a:rPr>
              <a:t>Synset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a group of synonyms that share the same meaning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Hypernym → broader category ("dog" → "animal")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Hyponym → more specific type ("animal" → "dog")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Definition → dictionary meaning of a word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Examples → sample sentences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NLTK gives full access to WordNet: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from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nltk.corpus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import wordnet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syns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wordnet.synsets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("car")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syns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[0].name()        → 'car.n.01'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syns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[0].definition()  → 'a motor vehicle with four wheels'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syns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[0].lemmas()      → [car, auto, automobile, machine]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syns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[0].hypernyms()   → [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motor_vehicle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]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Real NLP uses of WordNet: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WordSenseDisambiguation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which meaning of "bank"?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Semantic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similarity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how related are "dog" and "cat"?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Lemmatization → WordNetLemmatizer uses it internally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Feature expansion → add synonyms to training data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WordNet is how machines begin to understand MEANING not just form.</a:t>
            </a:r>
          </a:p>
        </p:txBody>
      </p:sp>
    </p:spTree>
    <p:extLst>
      <p:ext uri="{BB962C8B-B14F-4D97-AF65-F5344CB8AC3E}">
        <p14:creationId xmlns:p14="http://schemas.microsoft.com/office/powerpoint/2010/main" val="1839216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E327A70-EE1E-F9B1-7E12-EFB56B1C3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Words as Features - The Bag of Words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To train a model,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text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must become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numbers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simplest way is the Bag of Words 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BoW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 model.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Core idea: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Build a vocabulary of all unique words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Represent each document as a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vector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of word counts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Ignore grammar and word order — just count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Doc 1: "I love NLP"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Doc 2: "I love Python"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Vocabulary: [I, love, NLP, Python]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Doc 1 vector: [1, 1, 1, 0]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Doc 2 vector: [1, 1, 0, 1]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This matrix is called the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Document</a:t>
            </a:r>
            <a:r>
              <a:rPr lang="en-US" sz="1400" b="1" dirty="0">
                <a:solidFill>
                  <a:srgbClr val="BD64B5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Term</a:t>
            </a:r>
            <a:r>
              <a:rPr lang="en-US" sz="1400" b="1" dirty="0">
                <a:solidFill>
                  <a:srgbClr val="BD64B5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Matrix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Each row = one document.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Each column = one word in vocabulary.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Each cell = how many times that word appears.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Limitations of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BoW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Ignores </a:t>
            </a:r>
            <a:r>
              <a:rPr sz="1400" b="1" dirty="0" err="1">
                <a:solidFill>
                  <a:srgbClr val="EC7955"/>
                </a:solidFill>
                <a:latin typeface="Source Code Pro"/>
              </a:rPr>
              <a:t>wordorder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("dog bites man" = "man bites dog")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Common words dominate ("the", "is" get high counts)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Large vocabulary = very large sparse matrix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Despite limitations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BoW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still widely used for: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Spam detection, sentiment analysis, topic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593406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07031FE-2C94-6428-17AF-2EFF6FBAC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TF-IDF - Smarter Word Weighting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BoW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treats all words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equally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TF-IDF does not.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TF-IDF stands for Term Frequency -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Inverse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Document Frequency.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It gives higher scores to words that are: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Frequent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 THIS document (important here)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Rare across ALL documents (unique, not generic)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Two parts of the formula: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TF (Term Frequency):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How often a word appears in THIS document.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TF = (word count in doc) / (total words in doc)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IDF (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Inverse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Document Frequency):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How rare the word is across ALL documents.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IDF = log(total docs / docs containing the word)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Final score: TF-IDF = TF × IDF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Word "the" → appears everywhere → low IDF → low TF-IDF score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Word "blockchain" → rare in dataset → high IDF → high TF-IDF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score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Result: Common words get punished. Rare meaningful words get rewarded.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This gives much better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features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than plain Bag of Words.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sklearn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TfidfVectorizer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() handles all of this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1012003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87B10FDB-0640-4185-E584-0FA956B0E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Feature Selection - Choosing What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After vectorization you may have thousands of </a:t>
            </a:r>
            <a:r>
              <a:rPr sz="1400" b="1">
                <a:solidFill>
                  <a:srgbClr val="BD64B5"/>
                </a:solidFill>
                <a:latin typeface="Source Code Pro"/>
              </a:rPr>
              <a:t>features</a:t>
            </a:r>
            <a:r>
              <a:rPr sz="140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Not all features are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useful</a:t>
            </a:r>
            <a:r>
              <a:rPr sz="1400">
                <a:solidFill>
                  <a:srgbClr val="E7E7E7"/>
                </a:solidFill>
                <a:latin typeface="Source Code Pro"/>
              </a:rPr>
              <a:t>. Many add noise.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Feature selection removes irrelevant or redundant features.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Why it matters: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* Fewer features → </a:t>
            </a:r>
            <a:r>
              <a:rPr sz="1400" b="1">
                <a:solidFill>
                  <a:srgbClr val="E81A81"/>
                </a:solidFill>
                <a:latin typeface="Source Code Pro"/>
              </a:rPr>
              <a:t>faster</a:t>
            </a:r>
            <a:r>
              <a:rPr sz="1400">
                <a:solidFill>
                  <a:srgbClr val="E7E7E7"/>
                </a:solidFill>
                <a:latin typeface="Source Code Pro"/>
              </a:rPr>
              <a:t> training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* Less noise → better model accuracy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* Easier to interpret what the model learned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Common techniques in NLP: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1. </a:t>
            </a:r>
            <a:r>
              <a:rPr sz="1400" b="1">
                <a:solidFill>
                  <a:srgbClr val="EC7955"/>
                </a:solidFill>
                <a:latin typeface="Source Code Pro"/>
              </a:rPr>
              <a:t>Frequency</a:t>
            </a:r>
            <a:r>
              <a:rPr sz="1400">
                <a:solidFill>
                  <a:srgbClr val="E7E7E7"/>
                </a:solidFill>
                <a:latin typeface="Source Code Pro"/>
              </a:rPr>
              <a:t> Filtering: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 Remove words that appear too rarely (&lt; 2 times) or too often (&gt; 90% of docs)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2. Chi-Square Test: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 Measures how strongly a word is associated with a specific class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3. Mutual Information: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 Measures how much knowing a word tells you about the class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4. </a:t>
            </a:r>
            <a:r>
              <a:rPr sz="1400" b="1">
                <a:solidFill>
                  <a:srgbClr val="94EE6B"/>
                </a:solidFill>
                <a:latin typeface="Source Code Pro"/>
              </a:rPr>
              <a:t>Variance</a:t>
            </a:r>
            <a:r>
              <a:rPr sz="1400">
                <a:solidFill>
                  <a:srgbClr val="E7E7E7"/>
                </a:solidFill>
                <a:latin typeface="Source Code Pro"/>
              </a:rPr>
              <a:t> Threshold: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 Remove features that barely change across documents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In sklearn: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from sklearn.feature_selection import SelectKBest, chi2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selector = SelectKBest(chi2, k=100)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X_selected = selector.fit_transform(X, y)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Rule of thumb: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* Start with TF-IDF → apply frequency filter → then chi-square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* Good feature selection can improve </a:t>
            </a:r>
            <a:r>
              <a:rPr sz="1400" b="1">
                <a:solidFill>
                  <a:srgbClr val="4CAE97"/>
                </a:solidFill>
                <a:latin typeface="Source Code Pro"/>
              </a:rPr>
              <a:t>accuracy</a:t>
            </a:r>
            <a:r>
              <a:rPr sz="1400">
                <a:solidFill>
                  <a:srgbClr val="E7E7E7"/>
                </a:solidFill>
                <a:latin typeface="Source Code Pro"/>
              </a:rPr>
              <a:t> by 10-20%</a:t>
            </a:r>
          </a:p>
        </p:txBody>
      </p:sp>
    </p:spTree>
    <p:extLst>
      <p:ext uri="{BB962C8B-B14F-4D97-AF65-F5344CB8AC3E}">
        <p14:creationId xmlns:p14="http://schemas.microsoft.com/office/powerpoint/2010/main" val="2612402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AA81348-BCB2-291E-1676-C8F39ACAE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Feature Extraction - Deep Representations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Feature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extraction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goes beyond counting words.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It creates NEW compressed representations that capture meaning.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Three main approaches: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1. Word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Embeddings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(Word2Vec,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GloVe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* Each word → dense vector of 100-300 numbers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* Similar words → similar vectors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* "king - man + woman = queen"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* Captures semantic meaning, not just frequency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2.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Document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Embeddings (Doc2Vec):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* Entire document → one single vector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* Useful for document similarity and classification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3.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Transformer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Embeddings (BERT, GPT):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* Context-aware → same word gets different vector based on sentence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* "bank" in "river bank" ≠ "bank" in "bank account"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* Current state of the art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BoW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vs Embeddings: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BoW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sparse, no meaning, large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Embeddings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dense, meaning-aware, compact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In practice: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Small datasets → TF-IDF works fine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Large datasets → use pre-trained embeddings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Production AI → transformer-based embeddings always win</a:t>
            </a:r>
          </a:p>
        </p:txBody>
      </p:sp>
    </p:spTree>
    <p:extLst>
      <p:ext uri="{BB962C8B-B14F-4D97-AF65-F5344CB8AC3E}">
        <p14:creationId xmlns:p14="http://schemas.microsoft.com/office/powerpoint/2010/main" val="37962026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3952D5D7-F6E2-949D-ACAB-7F8E8A916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Document Similarity - How Alike Are Two Texts?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Document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similarity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measures how related two pieces of text are.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Used everywhere in real NLP systems: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Search engines → find most relevant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documents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Plagiarism detectors → how similar are two essays?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Recommendation systems → suggest similar articles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Duplicate detection → find repeated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content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Most common method — Cosine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Similarity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Represent both documents as TF-IDF vectors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Measure the angle between the two vectors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Score of 1.0 = identical, 0.0 = completely different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Formula: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similarity = cos(θ) = (A · B) / (|A| × |B|)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Doc A: "I love machine learning and NLP"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Doc B: "I enjoy NLP and deep learning"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Doc C: "I love pizza and burgers"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 vs B similarity → HIGH (share NLP, learning topics)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 vs C similarity → LOW (no common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topic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Python: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from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sklearn.metrics.pairwise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import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cosine_similarity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score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cosine_similarity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vec_A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vec_B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This is the foundation of: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Google Search ranking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ChatGPT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retrieval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systems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Resume matching tools</a:t>
            </a:r>
          </a:p>
        </p:txBody>
      </p:sp>
    </p:spTree>
    <p:extLst>
      <p:ext uri="{BB962C8B-B14F-4D97-AF65-F5344CB8AC3E}">
        <p14:creationId xmlns:p14="http://schemas.microsoft.com/office/powerpoint/2010/main" val="19345972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 txBox="1">
            <a:spLocks noGrp="1"/>
          </p:cNvSpPr>
          <p:nvPr>
            <p:ph type="title"/>
          </p:nvPr>
        </p:nvSpPr>
        <p:spPr>
          <a:xfrm>
            <a:off x="5662782" y="748501"/>
            <a:ext cx="5544039" cy="70641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sz="1867" dirty="0"/>
              <a:t>Thank You for Your Focus Today!</a:t>
            </a:r>
            <a:endParaRPr sz="1867" dirty="0"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1"/>
          </p:nvPr>
        </p:nvSpPr>
        <p:spPr>
          <a:xfrm>
            <a:off x="5459796" y="4751364"/>
            <a:ext cx="5608000" cy="174000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400" dirty="0"/>
              <a:t>Waleed Khan</a:t>
            </a:r>
            <a:br>
              <a:rPr lang="en-US" sz="1400" dirty="0"/>
            </a:br>
            <a:r>
              <a:rPr lang="en-US" sz="1400" dirty="0"/>
              <a:t>(</a:t>
            </a:r>
            <a:r>
              <a:rPr lang="en-US" sz="1200" dirty="0"/>
              <a:t>Robotics Engineer | Senior Python Developer)</a:t>
            </a:r>
            <a:br>
              <a:rPr lang="en-US" sz="1400" dirty="0"/>
            </a:br>
            <a:endParaRPr lang="en-US" sz="1400" dirty="0"/>
          </a:p>
          <a:p>
            <a:pPr marL="0" indent="0"/>
            <a:r>
              <a:rPr lang="en-US" sz="1400" dirty="0"/>
              <a:t>Email: 0xcloudcoder@gmail.com</a:t>
            </a:r>
            <a:br>
              <a:rPr lang="en-US" sz="1867" dirty="0"/>
            </a:br>
            <a:r>
              <a:rPr lang="en-US" sz="1400" dirty="0"/>
              <a:t>Contact: +923126008702</a:t>
            </a:r>
            <a:endParaRPr sz="1400" dirty="0"/>
          </a:p>
        </p:txBody>
      </p:sp>
      <p:sp>
        <p:nvSpPr>
          <p:cNvPr id="354" name="Google Shape;354;p34"/>
          <p:cNvSpPr txBox="1"/>
          <p:nvPr/>
        </p:nvSpPr>
        <p:spPr>
          <a:xfrm>
            <a:off x="11106533" y="53044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355" name="Google Shape;355;p34"/>
          <p:cNvGrpSpPr/>
          <p:nvPr/>
        </p:nvGrpSpPr>
        <p:grpSpPr>
          <a:xfrm>
            <a:off x="447523" y="928586"/>
            <a:ext cx="3909392" cy="5210084"/>
            <a:chOff x="335642" y="696438"/>
            <a:chExt cx="2932044" cy="3907563"/>
          </a:xfrm>
        </p:grpSpPr>
        <p:sp>
          <p:nvSpPr>
            <p:cNvPr id="356" name="Google Shape;356;p34"/>
            <p:cNvSpPr/>
            <p:nvPr/>
          </p:nvSpPr>
          <p:spPr>
            <a:xfrm>
              <a:off x="335642" y="70501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821967" y="6964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335642" y="10172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335642" y="1343950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335642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770496" y="1670688"/>
              <a:ext cx="45446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1304877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335642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335642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335642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335642" y="29419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349364" y="37229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770496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731557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770496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770496" y="2958925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770496" y="32848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1174186" y="1981263"/>
              <a:ext cx="63339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1174186" y="2324113"/>
              <a:ext cx="88477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1205349" y="26330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1205349" y="29775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1205349" y="3284813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1883777" y="1981263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2174096" y="2307150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2342750" y="26330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2342750" y="32848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349364" y="39620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731557" y="42455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1224956" y="4245513"/>
              <a:ext cx="52434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1883777" y="4245513"/>
              <a:ext cx="661931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2634075" y="4245513"/>
              <a:ext cx="241501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731557" y="4454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1224956" y="4454038"/>
              <a:ext cx="83390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2169156" y="44540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1250486" y="7083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821986" y="1017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1555286" y="10131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821979" y="13439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1739729" y="166862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2342754" y="29775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2537025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2805050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2634386" y="44561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770511" y="39365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770511" y="37064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01" name="Google Shape;401;p34"/>
          <p:cNvSpPr txBox="1"/>
          <p:nvPr/>
        </p:nvSpPr>
        <p:spPr>
          <a:xfrm>
            <a:off x="8854201" y="5162812"/>
            <a:ext cx="692400" cy="11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E2DD26-B17A-503C-A9CA-D2B6DDAE5AF0}"/>
              </a:ext>
            </a:extLst>
          </p:cNvPr>
          <p:cNvSpPr txBox="1"/>
          <p:nvPr/>
        </p:nvSpPr>
        <p:spPr>
          <a:xfrm>
            <a:off x="5387008" y="2407058"/>
            <a:ext cx="641192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What was the most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confusing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part of today's lab?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y 6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y 6" id="{035ED6D3-E824-4B6B-AAF7-CA8C606A2217}" vid="{7F810BC9-F9DE-4B77-994F-C9059B10EE5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2921</Words>
  <Application>Microsoft Office PowerPoint</Application>
  <PresentationFormat>Widescreen</PresentationFormat>
  <Paragraphs>374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Arial</vt:lpstr>
      <vt:lpstr>Bebas Neue</vt:lpstr>
      <vt:lpstr>Calibri</vt:lpstr>
      <vt:lpstr>Comfortaa</vt:lpstr>
      <vt:lpstr>Fira Code</vt:lpstr>
      <vt:lpstr>Nunito Light</vt:lpstr>
      <vt:lpstr>PT Sans</vt:lpstr>
      <vt:lpstr>Source Code Pro</vt:lpstr>
      <vt:lpstr>Source Code Pro Medium</vt:lpstr>
      <vt:lpstr>Office 主题</vt:lpstr>
      <vt:lpstr>day 6</vt:lpstr>
      <vt:lpstr>Artificial Intelligence (Machine Learning &amp; Deep Learning)</vt:lpstr>
      <vt:lpstr>Contents of Day 26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Focus Today!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 Mind</dc:creator>
  <cp:lastModifiedBy>Master Mind</cp:lastModifiedBy>
  <cp:revision>25</cp:revision>
  <dcterms:created xsi:type="dcterms:W3CDTF">2026-03-05T18:59:57Z</dcterms:created>
  <dcterms:modified xsi:type="dcterms:W3CDTF">2026-03-24T20:02:00Z</dcterms:modified>
</cp:coreProperties>
</file>