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285" r:id="rId30"/>
    <p:sldId id="312" r:id="rId31"/>
    <p:sldId id="314" r:id="rId32"/>
    <p:sldId id="313" r:id="rId33"/>
    <p:sldId id="259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880650F-860B-A929-93DE-2214F7A2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2550BE7-95E6-5E35-6B78-A560FFE96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E45347D-6EC2-214D-4A46-8A316500A5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6328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1F74EAF-512E-545B-1219-E035D8C69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B3A5979-972B-62D2-9C5D-FEF155034E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03462FA-6685-7879-A088-AE9EFB0AB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6703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90E776-8815-E979-51A4-A3D12AD7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B016115-0E07-F4BC-D24B-C4FA4C9C1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0644ECD-21BF-9BA8-11D6-E2EF56CC31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36520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C0BB458-3BE5-0878-CC6F-AEF439103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B61A955E-17B3-FACA-A27C-69B619149C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4F30843-E15E-75D1-2ECC-A72F6BCA7A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2067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78D44AB-36DE-59C8-59FE-B79ADB02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E468273-DB0D-6CFB-4D86-5EF75A901D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3ACE41F-76CE-1C9D-4E61-24574D90B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4543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533ED8-A19E-3C1D-E238-BE2F564E7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6216B74-07A8-3103-2057-1C2C504B10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D321187-28B2-F976-48E6-F43F186DB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896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6266D6F-821B-F616-E1A1-588D9E71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FB8CC54-157E-2335-B763-0BAF37FD16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19230F-DAFB-F7C1-8C46-07396AFE8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7773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3F6FFB6-D5DD-3312-E448-7771105B7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7BE4343-2CC7-50BC-EADB-89449244C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D106C40-2EA3-3D34-9B66-5EC6D3189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96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0DEDFDA-8E45-EB32-BC0B-0328E9E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3FE1F80-FDE1-CB83-49B6-20B8D89D4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8AB297-99FA-B996-EA45-039F4F237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1716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8F5A01-CC2F-7EB9-CA6D-6FCF69411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E79AAF8-289E-727D-E260-67F864D545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26CAA68-8A83-5F6A-0669-EAB0C698D7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17877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3B9D76F-BCFD-8A4E-A6BD-573B65539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D193BC2-C038-A9EC-E722-38C11AC27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4DC1DFC-806B-0DDA-2EB1-ABC34358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9962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90CFB86-0C6E-DB33-7D0F-804F2CB10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AEDEF9F-8C72-41B5-8795-B7A1753912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B30C8B-A4AB-4A91-1DB9-0BDA9CAC1E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2665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14819E7-FDC4-D84C-8428-A15B63B5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61F37266-45C6-DF3E-CE65-BB0D1C4C6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6061031-9D7A-1670-7A7D-8E3C70E50F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90146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4254EA5-3E95-6B59-DC66-77839367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B24DCF7-2566-2F7A-25A1-9A45CB8A3C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D87B29D-1D31-6DD5-F180-0ABE51123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1226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C1D0374-4E8C-B6F4-CC22-5CEF8955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2B8D24C-1ABC-50C5-F3FD-B515AC692A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B93EDAB-0941-362C-D716-93963848F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8870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83CF6F2-10A5-6811-4157-DD4BDF400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37937FF4-BDE2-414B-03BD-B27E8BBFA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48ED4E6-D3C4-462F-1427-E8A86F009A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92565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D76A7D6-EBA2-C323-9261-4972278A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14B61D4-D745-7692-5573-66D0320258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AD6EEC-014C-A60E-5E55-C0330B812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63336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Brief Introduction to </a:t>
            </a:r>
            <a:r>
              <a:rPr lang="en-US" sz="1867"/>
              <a:t>Machine Learning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20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230435781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What is Machine Learning</a:t>
                      </a:r>
                      <a:b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</a:b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Types of Machine Learning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4"/>
                </a:solidFill>
                <a:latin typeface="Source Code Pro"/>
              </a:rPr>
              <a:t>The Traditional Approach: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sender is "john@gmail.com" then not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subject contains "URGENT" then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If sender is in white-list then not spam.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... (hundreds more rules)</a:t>
            </a:r>
          </a:p>
          <a:p>
            <a:pPr algn="l"/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The Machine Learning Approach: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Feed the algorithm thousands of emails labeled as spam or not spam. The algorithm automatically discovers the patterns that distinguish them.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Why Machine Learning?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Humans cannot manually code every rule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Patterns in data are too complex to express as rules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Systems need to adapt when data changes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Real world is too nuanced for hard-coded logic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is fundamentally about letting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algorithms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discover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instead of humans manually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coding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rules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13984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Traditional Programming vs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Traditional Programming: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write the rules (If/Else statements)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data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It gives you </a:t>
            </a:r>
            <a:r>
              <a:rPr lang="en-US" sz="1400" dirty="0">
                <a:solidFill>
                  <a:schemeClr val="accent1"/>
                </a:solidFill>
                <a:latin typeface="Source Code Pro"/>
              </a:rPr>
              <a:t>answers</a:t>
            </a:r>
          </a:p>
          <a:p>
            <a:pPr marL="285750" indent="-285750" algn="l">
              <a:buFontTx/>
              <a:buChar char="-"/>
            </a:pPr>
            <a:r>
              <a:rPr lang="en-US" sz="1400" dirty="0">
                <a:solidFill>
                  <a:srgbClr val="E7E7E7"/>
                </a:solidFill>
                <a:latin typeface="Source Code Pro"/>
              </a:rPr>
              <a:t>Developer controls every decision path</a:t>
            </a:r>
          </a:p>
          <a:p>
            <a:pPr marL="285750" indent="-285750" algn="l">
              <a:buFontTx/>
              <a:buChar char="-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285750" indent="-285750" algn="l">
              <a:buFontTx/>
              <a:buChar char="-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285750" indent="-285750" algn="l">
              <a:buFontTx/>
              <a:buChar char="-"/>
            </a:pP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Machine Learning: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the answers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You give it data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It writes the rules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The algorithm discovers </a:t>
            </a:r>
            <a:r>
              <a:rPr lang="en-US" sz="1400" dirty="0">
                <a:solidFill>
                  <a:schemeClr val="accent1"/>
                </a:solidFill>
                <a:latin typeface="Source Code Pro"/>
              </a:rPr>
              <a:t>patterns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automatically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Three Branches of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Machine learning </a:t>
            </a:r>
            <a:r>
              <a:rPr lang="en-US" sz="1400" dirty="0">
                <a:latin typeface="Source Code Pro"/>
              </a:rPr>
              <a:t>divides into three main categories based on the type of data and learning approach.</a:t>
            </a:r>
          </a:p>
          <a:p>
            <a:pPr marL="342900" indent="-342900" algn="l">
              <a:buAutoNum type="arabicPeriod"/>
            </a:pPr>
            <a:endParaRPr lang="en-US" sz="1400" dirty="0">
              <a:latin typeface="Source Code Pro"/>
            </a:endParaRPr>
          </a:p>
          <a:p>
            <a:pPr algn="l"/>
            <a:r>
              <a:rPr lang="en-US" sz="1400" dirty="0">
                <a:latin typeface="Source Code Pro"/>
              </a:rPr>
              <a:t>Each branch solves different types of problems and uses different techniques. Understanding which branch applies to your problem is the first step in building a solution.</a:t>
            </a:r>
          </a:p>
          <a:p>
            <a:pPr marL="342900" indent="-342900" algn="l">
              <a:buAutoNum type="arabicPeriod"/>
            </a:pPr>
            <a:endParaRPr lang="en-US" sz="1400" dirty="0">
              <a:latin typeface="Source Code Pro"/>
            </a:endParaRPr>
          </a:p>
          <a:p>
            <a:pPr algn="l"/>
            <a:r>
              <a:rPr lang="en-US" sz="1400" dirty="0">
                <a:latin typeface="Source Code Pro"/>
              </a:rPr>
              <a:t>The three branches are supervised learning, unsupervised learning, and reinforcement learning. Each has distinct characteristics and use cases.</a:t>
            </a: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b="1" dirty="0">
              <a:solidFill>
                <a:schemeClr val="accent1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Supervised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Learning - The data has labels. We know exact answers from </a:t>
            </a:r>
            <a:r>
              <a:rPr lang="en-US" sz="1400" dirty="0">
                <a:latin typeface="Source Code Pro"/>
              </a:rPr>
              <a:t>history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marL="342900" indent="-342900" algn="l">
              <a:buAutoNum type="arabicPeriod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marL="342900" indent="-342900" algn="l">
              <a:buAutoNum type="arabicPeriod"/>
            </a:pP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Unsupervised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Learning - The data has NO labels. The AI finds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blindly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Learning - The AI acts in an environment and gets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points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good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actions.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Supervised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data has </a:t>
            </a:r>
            <a:r>
              <a:rPr lang="en-US" sz="1400" b="1" dirty="0">
                <a:solidFill>
                  <a:srgbClr val="00B0F0"/>
                </a:solidFill>
                <a:latin typeface="Source Code Pro"/>
              </a:rPr>
              <a:t>labels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We know the exact answers from history.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supervised learning, every training example comes paired with the correct answer. The algorithm learns by studying these label-answer pairs and discovering the relationship between features and outcomes.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Real Example - House Price Prediction: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We feed the AI house details (square footage, bedrooms, location) AND the final sale price. The AI learns: "When square footage goes up, price usually goes up too."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creates mathematical equations that map features to outcomes.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Email spam detection (emails labeled as spam or not)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Medical diagnosis (symptoms mapped to diagnoses)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Credit approval (applicant data mapped to approved/rejected)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Stock price forecasting (historical data mapped to future prices)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Unsupervised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data has NO 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Source Code Pro"/>
              </a:rPr>
              <a:t>labels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. The AI has to group things together blindly.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unsupervised learning, you give the algorithm raw data without telling it what patterns to look for. The algorithm must discover structure on its own.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tx2"/>
                </a:solidFill>
                <a:latin typeface="Source Code Pro"/>
              </a:rPr>
              <a:t>Real Example - Customer Segmentation: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Give the AI raw server logs showing user behavior (pages visited, time spent, purchases made). The AI groups users into clusters: "power users," "casual browsers," "at-risk churners" - without being told these categories exist.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discovers patterns by measuring similarity between data points.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3"/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Customer clustering (group users by behavior)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Image compression (find similar pixels to compress)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Anomaly detection (spot unusual network traffic)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Gene sequencing (group similar DNA patterns)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Reinforcement Learning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What it is: The AI acts in an environment and gets </a:t>
            </a:r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points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for good actions and </a:t>
            </a:r>
            <a:r>
              <a:rPr lang="en-US" sz="1400" b="1" dirty="0">
                <a:solidFill>
                  <a:schemeClr val="accent3"/>
                </a:solidFill>
                <a:latin typeface="Source Code Pro"/>
              </a:rPr>
              <a:t>penalties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for bad ones.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In </a:t>
            </a: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Source Code Pro"/>
              </a:rPr>
              <a:t>reinforcement learning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, the algorithm learns through interaction. It tries actions, observes outcomes, and adjusts strategy based on rewards or penalties.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bg2"/>
                </a:solidFill>
                <a:latin typeface="Source Code Pro"/>
              </a:rPr>
              <a:t>Real Example - Server Load Balancing: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An AI learning to balance server load by randomly trying network routes until it discovers which routes maximize speed and minimize latency. Each successful route gets a reward. Slow routes get a penalty.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The algorithm learns optimal behavior through trial and error.</a:t>
            </a: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Real-World Applications: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Game playing (AlphaGo, chess engines learning winning strategies)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Robot control (robots learning to walk, pick objects, navigate)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Autonomous vehicles (learning to drive safely)</a:t>
            </a: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- Network optimization (finding fastest data routes)</a:t>
            </a:r>
            <a:endParaRPr sz="1400" dirty="0">
              <a:solidFill>
                <a:srgbClr val="E7E7E7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Machine Learning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Building a machine learning system requires six sequential stages: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Collection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Preprocessing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Engineering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Modeling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Testing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&amp;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Evaluation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Deployment</a:t>
            </a:r>
          </a:p>
          <a:p>
            <a:pPr algn="l"/>
            <a:endParaRPr sz="1400" b="1" dirty="0">
              <a:solidFill>
                <a:srgbClr val="BD64B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Each stage is critical. Skipping any stage leads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failure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1 - Data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Data collection is pulling raw material from various sources.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Sources: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SQL databases (structured company data)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CSV files (exported spreadsheets)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Web scraping (extracting from websites)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API endpoints (real-time data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feeds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Sensor data (IoT devices, cameras)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2 - Preprocessing (Cleaning Data)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Rule: "Garbage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Garbage </a:t>
            </a:r>
            <a:r>
              <a:rPr sz="1400" b="1" dirty="0">
                <a:solidFill>
                  <a:schemeClr val="bg2"/>
                </a:solidFill>
                <a:latin typeface="Source Code Pro"/>
              </a:rPr>
              <a:t>Out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."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data problems: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Missing values (incomplete rows)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Duplicate rows (same entry twice)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Misspelled names (John vs Jon)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Broken sensors (wrong readings)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Inconsistent formats (date formats differ)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Clean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using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Pandas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 err="1">
                <a:solidFill>
                  <a:srgbClr val="FD4A4A"/>
                </a:solidFill>
                <a:latin typeface="Source Code Pro"/>
              </a:rPr>
              <a:t>fillna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b="1" dirty="0" err="1">
                <a:solidFill>
                  <a:srgbClr val="E7E7E7"/>
                </a:solidFill>
                <a:latin typeface="Source Code Pro"/>
              </a:rPr>
              <a:t>drop_duplicates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remove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3 - Feature Engineering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models only understand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They cannot read "Sector G" or "Red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solution: Craft features into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-friendly format using: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Scaling (shrink large numbers)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Encoding (convert categories to numbers)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Interaction Terms (multiply features together)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Scaling - Making Numbers Manageable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scaling, large numbers dominate the math.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feature with values in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millions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will overwhelm features with single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digits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House price: $2,500,000 → After scaling: 2.14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Number of bedrooms: 5 → After scaling: 0.87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Using </a:t>
            </a:r>
            <a:r>
              <a:rPr sz="1400" b="1" dirty="0" err="1">
                <a:solidFill>
                  <a:srgbClr val="94EE6B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makes all features comparable and helps algorithms learn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faster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Encoding - Converting Categories to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math cannot understand text like "Lahore" or "Red".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One-Hot Encoding converts categories to binary: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Original: City = "Lahore"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Encoded: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Is_Lahore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1,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Is_Karachi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Is_Islamabad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0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Now the algorithm understands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numerical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categories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7B10FDB-0640-4185-E584-0FA956B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Interaction Terms - Creating New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Sometimes features matter multiplicatively, not just individually.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 - Real Estate: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Square footage alone: +$228 per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Building grade alone: +$106K per grade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Together (interaction):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Luxury_Score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SqFt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× Grade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creates a new "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Luxury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Synergy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" metric capturing premium value in large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houses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402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AA81348-BCB2-291E-1676-C8F39ACA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4 - Modeling (Training)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Modeling is calling .fit() on your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F0000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choose the algorithm and let the math find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hidden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Choose algorithm (Linear Regression, Decision Trees, etc.)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Split data: 80% training, 20% test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Train: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Predict: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y_pred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96202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952D5D7-F6E2-949D-ACAB-7F8E8A916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Split Data - Training vs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never test the AI on data it used to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learn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Why? Because it measures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memorization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not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learning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Split: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Training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set: 80% (for learning patterns)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set: 20% (for grading accuracy)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never sees test data during training.</a:t>
            </a:r>
          </a:p>
        </p:txBody>
      </p:sp>
    </p:spTree>
    <p:extLst>
      <p:ext uri="{BB962C8B-B14F-4D97-AF65-F5344CB8AC3E}">
        <p14:creationId xmlns:p14="http://schemas.microsoft.com/office/powerpoint/2010/main" val="193459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514BACC-F5A4-1251-0F2E-8DC477A2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5 -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Different metrics measure different aspects: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R²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Score: Proportion of variance explained (0-1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scale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R² = 0.85 means explains 85% of variation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MAE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(Mean Absolute Error): Average difference from actual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MAE = $50,000 means off by $50K on average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RMSE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 Similar but penalizes large errors more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Better for when outlier errors are costly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Choose metrics that match your problem's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impact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2962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761B8A-AD39-74DB-CE21-C42C12B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Overfitting - The Silent Killer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model scoring 99% on training data but 60% on test data is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overfitting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memorized training data instead of learning general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Signs: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Training accuracy: 99%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Test accuracy: 60%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Big gap =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problem</a:t>
            </a: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Simplify the model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Reduce features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Use regularization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Collect more data</a:t>
            </a:r>
          </a:p>
        </p:txBody>
      </p:sp>
    </p:spTree>
    <p:extLst>
      <p:ext uri="{BB962C8B-B14F-4D97-AF65-F5344CB8AC3E}">
        <p14:creationId xmlns:p14="http://schemas.microsoft.com/office/powerpoint/2010/main" val="4005158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572B421A-7769-7140-1880-651036E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Stage 6 -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An AI on your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laptop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useless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Deployment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means getting your model into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Process: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1. Save the Model: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joblib.dump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(model, 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my_model.pkl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2. Save the Scalers: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joblib.dump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(scaler, 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my_scaler.pkl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3. Load on Server: model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joblib.load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my_model.pkl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4. Create API: Accept data → Scale → Predict → Return result</a:t>
            </a:r>
          </a:p>
        </p:txBody>
      </p:sp>
    </p:spTree>
    <p:extLst>
      <p:ext uri="{BB962C8B-B14F-4D97-AF65-F5344CB8AC3E}">
        <p14:creationId xmlns:p14="http://schemas.microsoft.com/office/powerpoint/2010/main" val="3906902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6972BC6-6524-83F5-C24E-C6D88F7D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Deployment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Models in production face real problems: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Must run fast (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milliseconds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required)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Handle millions of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requests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simultaneously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Data changes over time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drift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problem)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Model performance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degrades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time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- Need monitoring and retraining</a:t>
            </a:r>
          </a:p>
        </p:txBody>
      </p:sp>
    </p:spTree>
    <p:extLst>
      <p:ext uri="{BB962C8B-B14F-4D97-AF65-F5344CB8AC3E}">
        <p14:creationId xmlns:p14="http://schemas.microsoft.com/office/powerpoint/2010/main" val="210734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B399DED-1598-81F6-DE27-901E704CF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Complete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Building an Email Spam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Classifier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: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Collect 10,000 emails (5,000 spam, 5,000 legitimate)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Remove duplicates, standardize format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Extract word frequency, encode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sender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reputation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Train Logistic Regression on 8,000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emails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Test on 2,000 emails → Accuracy: 94%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Deploy to mail server, classify emails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automatically</a:t>
            </a:r>
          </a:p>
        </p:txBody>
      </p:sp>
    </p:spTree>
    <p:extLst>
      <p:ext uri="{BB962C8B-B14F-4D97-AF65-F5344CB8AC3E}">
        <p14:creationId xmlns:p14="http://schemas.microsoft.com/office/powerpoint/2010/main" val="2886373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C0ADA3A-242A-17CD-A1A7-820A8E55E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Why Each Stage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1: Bad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bad predictions (no math can fix this)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2: Missing values confuse algorithms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3: Raw features usually don't work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4: Wrong algorithm wastes time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5: Without testing, you don't know if it works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Stage 6: Models that work in notebooks fail in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production</a:t>
            </a:r>
          </a:p>
          <a:p>
            <a:pPr algn="l"/>
            <a:endParaRPr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 any stage = failure.</a:t>
            </a:r>
          </a:p>
        </p:txBody>
      </p:sp>
    </p:spTree>
    <p:extLst>
      <p:ext uri="{BB962C8B-B14F-4D97-AF65-F5344CB8AC3E}">
        <p14:creationId xmlns:p14="http://schemas.microsoft.com/office/powerpoint/2010/main" val="23199271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283F099-0F97-B6B9-F989-139BFAA89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Common Pipeline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1: Dirty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- Rushing preprocessing ruins everything downstream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2: No test set - Testing on training data gives false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confidence</a:t>
            </a:r>
          </a:p>
          <a:p>
            <a:pPr algn="l"/>
            <a:endParaRPr sz="1400" b="1" dirty="0">
              <a:solidFill>
                <a:srgbClr val="EC7955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3: Forgetting to scale - New data comes in different scale than training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4: Too many features - Slower, harder to interpret, easier to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overfit</a:t>
            </a:r>
          </a:p>
          <a:p>
            <a:pPr algn="l"/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Mistake 5: Ignoring real-world constraints - Works in lab but too slow for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652846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1D811694-FB03-8F93-7A35-B487F5A8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Machine Learning has three branches: Supervised, Unsupervised, and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Reinforcement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pipeline has six critical stages: Collection, Preprocessing, Feature Engineering, Modeling, Testing, and Deployment.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80% of success is data quality and feature engineering. 20% is choosing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algorithm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60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5C70654-2A9F-257A-1CFB-7E31D820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best model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useless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if it doesn't work in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production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Monitor your models - they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degrade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over time as real data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changes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 simple, measure everything, iterate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constantly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449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CFE52EE-A45E-390B-D365-1944DD8E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now understand the complete ML pipeline.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Ready to learn specific algorithms, advanced techniques, and real implementation.</a:t>
            </a: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Build your first classifier, work with real datasets, deploy to production, and monitor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constantly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27483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672B02E-4716-D5EE-8FE4-07C0A69D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FE7506-C9D3-9EC7-E99A-2310D295AD18}"/>
              </a:ext>
            </a:extLst>
          </p:cNvPr>
          <p:cNvSpPr txBox="1"/>
          <p:nvPr/>
        </p:nvSpPr>
        <p:spPr>
          <a:xfrm>
            <a:off x="458776" y="1582340"/>
            <a:ext cx="122166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machine learning pipeline has six critical stages that must be executed properly.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80% of success is data quality and feature engineering. 20% is choosing the algorithm.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Always split data into training (80%) and test (20%) sets.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Evaluate on test data, never on training data.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Deploy your model properly or it's worthless.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Monitor production models - they degrade over time. </a:t>
            </a:r>
          </a:p>
          <a:p>
            <a:endParaRPr lang="en-US" sz="1600" dirty="0">
              <a:solidFill>
                <a:srgbClr val="FAF9F5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best model is useless if it doesn't work in production. 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835521-DA49-8B72-24F0-A87468BB07E8}"/>
              </a:ext>
            </a:extLst>
          </p:cNvPr>
          <p:cNvSpPr txBox="1"/>
          <p:nvPr/>
        </p:nvSpPr>
        <p:spPr>
          <a:xfrm>
            <a:off x="1010992" y="12680"/>
            <a:ext cx="10760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Mistake - Overfitting</a:t>
            </a:r>
          </a:p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The Problem:</a:t>
            </a: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310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BC39048-5AFF-D520-6C30-95ACDA338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72CDDD-213A-8BAA-B857-590D4A5A9AE8}"/>
              </a:ext>
            </a:extLst>
          </p:cNvPr>
          <p:cNvSpPr txBox="1"/>
          <p:nvPr/>
        </p:nvSpPr>
        <p:spPr>
          <a:xfrm>
            <a:off x="458776" y="1582340"/>
            <a:ext cx="122166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model that scores 99% on training data but only 60% on test data is overfitting. 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It memorized the training data instead of learning general patterns.</a:t>
            </a:r>
          </a:p>
          <a:p>
            <a:r>
              <a:rPr lang="en-US" sz="1600" b="1" i="0" dirty="0">
                <a:solidFill>
                  <a:schemeClr val="bg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Symptoms: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accuracy: 99%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Test accuracy: 60%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Big gap between train and test</a:t>
            </a:r>
          </a:p>
          <a:p>
            <a:r>
              <a:rPr lang="en-US" sz="1600" b="1" i="0" dirty="0">
                <a:solidFill>
                  <a:schemeClr val="tx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Causes: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Model too complex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Too many @features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Not enough training data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too long</a:t>
            </a:r>
          </a:p>
          <a:p>
            <a:r>
              <a:rPr lang="en-US" sz="16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Solutions: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Simplify the model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Reduce features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 regularization (L1, L2)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Collect more data</a:t>
            </a: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 cross-validation</a:t>
            </a:r>
          </a:p>
          <a:p>
            <a:pPr marL="285750" indent="-285750">
              <a:buFontTx/>
              <a:buChar char="-"/>
            </a:pPr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Add dropout (for neural networks)</a:t>
            </a:r>
          </a:p>
          <a:p>
            <a:pPr marL="285750" indent="-285750">
              <a:buFontTx/>
              <a:buChar char="-"/>
            </a:pPr>
            <a:endParaRPr lang="en-US" sz="16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6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simpler model that scores 85% on both training and test is better than a complex model that overfits.</a:t>
            </a: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7117EC-804E-D790-8E89-E9FA61EE0ACF}"/>
              </a:ext>
            </a:extLst>
          </p:cNvPr>
          <p:cNvSpPr txBox="1"/>
          <p:nvPr/>
        </p:nvSpPr>
        <p:spPr>
          <a:xfrm>
            <a:off x="1010992" y="12680"/>
            <a:ext cx="107602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Mistake - Overfitting</a:t>
            </a:r>
          </a:p>
          <a:p>
            <a:r>
              <a:rPr lang="en-US" sz="3200">
                <a:latin typeface="Source Code Pro" panose="020B0509030403020204" pitchFamily="49" charset="0"/>
                <a:ea typeface="Source Code Pro" panose="020B0509030403020204" pitchFamily="49" charset="0"/>
              </a:rPr>
              <a:t>The Problem:</a:t>
            </a: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7547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441A8F7-D614-EE89-24C0-23F29FFD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F504A-B52B-9B4B-C1A7-5C0A3E4585F3}"/>
              </a:ext>
            </a:extLst>
          </p:cNvPr>
          <p:cNvSpPr txBox="1"/>
          <p:nvPr/>
        </p:nvSpPr>
        <p:spPr>
          <a:xfrm>
            <a:off x="458776" y="1582340"/>
            <a:ext cx="1221669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0" dirty="0">
                <a:solidFill>
                  <a:schemeClr val="bg2">
                    <a:lumMod val="75000"/>
                  </a:schemeClr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Never Test on Training Data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 critical rule: </a:t>
            </a:r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You never test the AI on the data it used to learn!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Why?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If you test on training data, you measure @memorization, not @learning. The model might memorize answers instead of discovering patterns.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Example: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Student studies for exam using specific practice problems. You test them on the exact same problems - they get 100%. But when given new problems on the exam, they fail.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4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Split: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Training set: 80% of data (for learning patterns)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Test set: 20% of data (for grading accuracy)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3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Why 80/20?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- 80% provides enough data to learn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- 20% is enough to evaluate fairly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Standard practice across industry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The model never sees test data during training.</a:t>
            </a: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20530-E1DC-9F12-5CE1-4A6588FEE399}"/>
              </a:ext>
            </a:extLst>
          </p:cNvPr>
          <p:cNvSpPr txBox="1"/>
          <p:nvPr/>
        </p:nvSpPr>
        <p:spPr>
          <a:xfrm>
            <a:off x="1010992" y="12680"/>
            <a:ext cx="10760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457742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40AFC97-6243-635D-3AD7-E8D77ADC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FEE16B-5DB8-E74A-5939-58C347802E6B}"/>
              </a:ext>
            </a:extLst>
          </p:cNvPr>
          <p:cNvSpPr txBox="1"/>
          <p:nvPr/>
        </p:nvSpPr>
        <p:spPr>
          <a:xfrm>
            <a:off x="458776" y="1582340"/>
            <a:ext cx="1221669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Different metrics measure different aspects of performance: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1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R² Score: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Measures proportion of variance explained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Range: 0 to 1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Interpretation: 0.85 = explains 85% of variation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Higher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Mean Absolute Error (MAE):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Average absolute difference from actual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MAE = $50,000 means off by $50K on average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Same units as target variable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Lower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accent4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Root Mean Squared Error (RMSE):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Similar to MAE but penalizes large errors more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RMSE = $60,000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Useful when outlier errors are costly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Lower is better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1" i="0" dirty="0">
                <a:solidFill>
                  <a:schemeClr val="bg2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Accuracy (for classification):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Percentage of correct predictions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Example: 95% accuracy on spam detection</a:t>
            </a: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- Only meaningful for classification problems</a:t>
            </a:r>
          </a:p>
          <a:p>
            <a:endParaRPr lang="en-US" sz="1200" b="0" i="0" dirty="0">
              <a:solidFill>
                <a:srgbClr val="FAF9F5"/>
              </a:solidFill>
              <a:effectLst/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r>
              <a:rPr lang="en-US" sz="1200" b="0" i="0" dirty="0">
                <a:solidFill>
                  <a:srgbClr val="FAF9F5"/>
                </a:solidFill>
                <a:effectLst/>
                <a:latin typeface="Source Code Pro" panose="020B0509030403020204" pitchFamily="49" charset="0"/>
                <a:ea typeface="Source Code Pro" panose="020B0509030403020204" pitchFamily="49" charset="0"/>
              </a:rPr>
              <a:t>Choose metrics that match your problem's real-world impact.</a:t>
            </a:r>
            <a:endParaRPr lang="en-US" sz="1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1BBE0-D8C4-FFCE-9E49-42BE8ACCBA4A}"/>
              </a:ext>
            </a:extLst>
          </p:cNvPr>
          <p:cNvSpPr txBox="1"/>
          <p:nvPr/>
        </p:nvSpPr>
        <p:spPr>
          <a:xfrm>
            <a:off x="992073" y="0"/>
            <a:ext cx="107602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Common Evaluation Metrics part 2</a:t>
            </a:r>
          </a:p>
        </p:txBody>
      </p:sp>
    </p:spTree>
    <p:extLst>
      <p:ext uri="{BB962C8B-B14F-4D97-AF65-F5344CB8AC3E}">
        <p14:creationId xmlns:p14="http://schemas.microsoft.com/office/powerpoint/2010/main" val="2355526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2634</Words>
  <Application>Microsoft Office PowerPoint</Application>
  <PresentationFormat>Widescreen</PresentationFormat>
  <Paragraphs>409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20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30</cp:revision>
  <dcterms:created xsi:type="dcterms:W3CDTF">2026-03-05T18:59:57Z</dcterms:created>
  <dcterms:modified xsi:type="dcterms:W3CDTF">2026-03-11T21:53:47Z</dcterms:modified>
</cp:coreProperties>
</file>