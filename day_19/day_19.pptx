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"/>
  </p:notesMasterIdLst>
  <p:sldIdLst>
    <p:sldId id="258" r:id="rId3"/>
    <p:sldId id="257" r:id="rId4"/>
    <p:sldId id="275" r:id="rId5"/>
    <p:sldId id="276" r:id="rId6"/>
    <p:sldId id="277" r:id="rId7"/>
    <p:sldId id="25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86" y="1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AC766650-3AA8-5624-C3BB-617C71D7B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B4DDC09-6DD6-D5E9-E107-3534DEA873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2A13712C-4D74-D546-543D-BBFF043A5E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3133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EDD84436-E971-63F5-E246-F7902EE0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4DDFFD2-6576-B202-CAA0-D8D3D38EAA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571BBE6-B2B4-2849-B916-080881F59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23267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Polynomial Regression (The Mathematics of Curves)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15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		NumPy Indexing, Broadcasting &amp; Universal Functions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3075504972"/>
              </p:ext>
            </p:extLst>
          </p:nvPr>
        </p:nvGraphicFramePr>
        <p:xfrm>
          <a:off x="968901" y="2328148"/>
          <a:ext cx="10272000" cy="35632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The Limits of Linear Regression (Underfitting).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Degrees, Overfitting, and the $X^2$ Multiplier.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Polynomial Features in Scikit-Learn.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Comparing RMSE: Linear vs. Polynomial.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The Limits of Linear Regression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8376" y="1592316"/>
            <a:ext cx="1209362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The Core Problem: </a:t>
            </a:r>
          </a:p>
          <a:p>
            <a:pPr algn="l"/>
            <a:endParaRPr lang="en-US" sz="1400" dirty="0">
              <a:latin typeface="Source Code Pro"/>
            </a:endParaRPr>
          </a:p>
          <a:p>
            <a:pPr algn="l"/>
            <a:r>
              <a:rPr lang="en-US" sz="1400" dirty="0">
                <a:latin typeface="Source Code Pro"/>
              </a:rPr>
              <a:t>Linear Regression assumes growth is constant. It assumes that if a 1,000 </a:t>
            </a:r>
            <a:r>
              <a:rPr lang="en-US" sz="1400" dirty="0" err="1">
                <a:latin typeface="Source Code Pro"/>
              </a:rPr>
              <a:t>SqFt</a:t>
            </a:r>
            <a:r>
              <a:rPr lang="en-US" sz="1400" dirty="0">
                <a:latin typeface="Source Code Pro"/>
              </a:rPr>
              <a:t> house costs $200k, a 10,000 </a:t>
            </a:r>
            <a:r>
              <a:rPr lang="en-US" sz="1400" dirty="0" err="1">
                <a:latin typeface="Source Code Pro"/>
              </a:rPr>
              <a:t>SqFt</a:t>
            </a:r>
            <a:r>
              <a:rPr lang="en-US" sz="1400" dirty="0">
                <a:latin typeface="Source Code Pro"/>
              </a:rPr>
              <a:t> house must cost $2 Million.</a:t>
            </a:r>
          </a:p>
          <a:p>
            <a:pPr algn="l"/>
            <a:endParaRPr lang="en-US" sz="1400" dirty="0">
              <a:latin typeface="Source Code Pro"/>
            </a:endParaRPr>
          </a:p>
          <a:p>
            <a:pPr algn="l"/>
            <a:endParaRPr lang="en-US" sz="1400" dirty="0"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The Reality of Real Estate: </a:t>
            </a:r>
          </a:p>
          <a:p>
            <a:pPr algn="l"/>
            <a:r>
              <a:rPr lang="en-US" sz="1400" dirty="0">
                <a:latin typeface="Source Code Pro"/>
              </a:rPr>
              <a:t>Ultra-luxury homes carry a "wealth premium." The value of the space compounds. A 10,000 </a:t>
            </a:r>
            <a:r>
              <a:rPr lang="en-US" sz="1400" dirty="0" err="1">
                <a:latin typeface="Source Code Pro"/>
              </a:rPr>
              <a:t>SqFt</a:t>
            </a:r>
            <a:r>
              <a:rPr lang="en-US" sz="1400" dirty="0">
                <a:latin typeface="Source Code Pro"/>
              </a:rPr>
              <a:t> mega-mansion doesn't cost $2M; it costs $10M because the land, the status, and the architecture scale exponentially</a:t>
            </a:r>
          </a:p>
          <a:p>
            <a:pPr algn="l"/>
            <a:endParaRPr lang="en-US" sz="1400" dirty="0">
              <a:latin typeface="Source Code Pro"/>
            </a:endParaRPr>
          </a:p>
          <a:p>
            <a:pPr algn="l"/>
            <a:endParaRPr lang="en-US" sz="1400" dirty="0">
              <a:latin typeface="Source Code Pro"/>
            </a:endParaRPr>
          </a:p>
          <a:p>
            <a:pPr algn="l"/>
            <a:r>
              <a:rPr lang="en-US" sz="1400" b="1" dirty="0">
                <a:solidFill>
                  <a:schemeClr val="accent4"/>
                </a:solidFill>
                <a:latin typeface="Source Code Pro"/>
              </a:rPr>
              <a:t>The Result (Underfitting): </a:t>
            </a:r>
          </a:p>
          <a:p>
            <a:pPr algn="l"/>
            <a:r>
              <a:rPr lang="en-US" sz="1400" dirty="0">
                <a:latin typeface="Source Code Pro"/>
              </a:rPr>
              <a:t>If we force a straight line through curved real-world data, the AI will drastically underprice the most valuable assets in the dataset.</a:t>
            </a:r>
            <a:endParaRPr sz="1400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3233C76-5D5B-8A6C-C47D-BD9C818D7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7D614-CBCF-6073-A3FE-D33B71260B82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Bending the Line (Degrees)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232256-1EC6-5AC1-A411-69E1445C9AA6}"/>
                  </a:ext>
                </a:extLst>
              </p:cNvPr>
              <p:cNvSpPr txBox="1"/>
              <p:nvPr/>
            </p:nvSpPr>
            <p:spPr>
              <a:xfrm>
                <a:off x="49188" y="3878316"/>
                <a:ext cx="12142812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sz="1400" dirty="0">
                    <a:latin typeface="Source Code Pro"/>
                  </a:rPr>
                  <a:t>Instead of just asking the AI to look at "</a:t>
                </a:r>
                <a:r>
                  <a:rPr lang="en-US" sz="1400" dirty="0">
                    <a:solidFill>
                      <a:schemeClr val="accent1"/>
                    </a:solidFill>
                    <a:latin typeface="Source Code Pro"/>
                  </a:rPr>
                  <a:t>Square Footage</a:t>
                </a:r>
                <a:r>
                  <a:rPr lang="en-US" sz="1400" dirty="0">
                    <a:latin typeface="Source Code Pro"/>
                  </a:rPr>
                  <a:t>" (x), </a:t>
                </a:r>
              </a:p>
              <a:p>
                <a:pPr algn="just"/>
                <a:r>
                  <a:rPr lang="en-US" sz="1400" dirty="0">
                    <a:latin typeface="Source Code Pro"/>
                  </a:rPr>
                  <a:t>we mathematically create a brand-new column in our database called "Square Footage Squared"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latin typeface="Source Code Pro"/>
                  </a:rPr>
                  <a:t>). </a:t>
                </a:r>
              </a:p>
              <a:p>
                <a:pPr algn="just"/>
                <a:r>
                  <a:rPr lang="en-US" sz="1400" dirty="0">
                    <a:latin typeface="Source Code Pro"/>
                  </a:rPr>
                  <a:t>Because</a:t>
                </a:r>
                <a14:m>
                  <m:oMath xmlns:m="http://schemas.openxmlformats.org/officeDocument/2006/math"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latin typeface="Source Code Pro"/>
                  </a:rPr>
                  <a:t>grows explosively as the house gets bigger, it forces the AI's prediction line to curve upwards!</a:t>
                </a:r>
                <a:endParaRPr sz="1400" dirty="0">
                  <a:latin typeface="Source Code Pro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E232256-1EC6-5AC1-A411-69E1445C9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188" y="3878316"/>
                <a:ext cx="12142812" cy="738664"/>
              </a:xfrm>
              <a:prstGeom prst="rect">
                <a:avLst/>
              </a:prstGeom>
              <a:blipFill>
                <a:blip r:embed="rId3"/>
                <a:stretch>
                  <a:fillRect l="-151" t="-165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58242551-71DE-B305-1634-FD1D48298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458" y="2366073"/>
            <a:ext cx="6039693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0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9744713B-2D14-3378-8174-0F2757B6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43B7CF-7A2F-AAD7-29D0-7A205793FC7E}"/>
              </a:ext>
            </a:extLst>
          </p:cNvPr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dirty="0">
                <a:solidFill>
                  <a:srgbClr val="FFFFFF"/>
                </a:solidFill>
                <a:latin typeface="Source Code Pro"/>
              </a:rPr>
              <a:t>The Danger Zone - Overfitting</a:t>
            </a:r>
            <a:endParaRPr sz="3200" b="0" dirty="0">
              <a:solidFill>
                <a:srgbClr val="FFFFFF"/>
              </a:solidFill>
              <a:latin typeface="Source Code Pr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CB086-E3C6-7970-F8BA-4762954EACB2}"/>
              </a:ext>
            </a:extLst>
          </p:cNvPr>
          <p:cNvSpPr txBox="1"/>
          <p:nvPr/>
        </p:nvSpPr>
        <p:spPr>
          <a:xfrm>
            <a:off x="24594" y="1736695"/>
            <a:ext cx="1214281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400" b="1" dirty="0">
                <a:solidFill>
                  <a:schemeClr val="accent1"/>
                </a:solidFill>
                <a:latin typeface="Source Code Pro"/>
              </a:rPr>
              <a:t>The Trap: </a:t>
            </a:r>
            <a:r>
              <a:rPr lang="en-US" sz="1400" dirty="0">
                <a:latin typeface="Source Code Pro"/>
              </a:rPr>
              <a:t>If Degree 2 is good, why not use Degree 100 to perfectly hit every single dot on the graph?</a:t>
            </a: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r>
              <a:rPr lang="en-US" sz="1400" b="1" dirty="0">
                <a:solidFill>
                  <a:schemeClr val="tx2"/>
                </a:solidFill>
                <a:latin typeface="Source Code Pro"/>
              </a:rPr>
              <a:t>The Reality: </a:t>
            </a:r>
            <a:r>
              <a:rPr lang="en-US" sz="1400" dirty="0">
                <a:latin typeface="Source Code Pro"/>
              </a:rPr>
              <a:t>Data has "noise" (random weird houses that sold for too much or too little). </a:t>
            </a:r>
          </a:p>
          <a:p>
            <a:pPr algn="just"/>
            <a:r>
              <a:rPr lang="en-US" sz="1400" dirty="0">
                <a:latin typeface="Source Code Pro"/>
              </a:rPr>
              <a:t>If you use a high degree, the AI will draw an insane zig-zag line to memorize the noise. </a:t>
            </a:r>
          </a:p>
          <a:p>
            <a:pPr algn="just"/>
            <a:r>
              <a:rPr lang="en-US" sz="1400" dirty="0">
                <a:latin typeface="Source Code Pro"/>
              </a:rPr>
              <a:t>When a new house hits the market, the overfitted math will hallucinate a completely wrong price.</a:t>
            </a: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endParaRPr lang="en-US" sz="1400" dirty="0">
              <a:latin typeface="Source Code Pro"/>
            </a:endParaRPr>
          </a:p>
          <a:p>
            <a:pPr algn="just"/>
            <a:r>
              <a:rPr lang="en-US" sz="1400" b="1" dirty="0">
                <a:solidFill>
                  <a:schemeClr val="accent2"/>
                </a:solidFill>
                <a:latin typeface="Source Code Pro"/>
              </a:rPr>
              <a:t>The Rule: </a:t>
            </a:r>
            <a:r>
              <a:rPr lang="en-US" sz="1400" dirty="0">
                <a:latin typeface="Source Code Pro"/>
              </a:rPr>
              <a:t>Keep degrees low (usually 2 or 3). We want the general trend, not a memorized zig-zag.</a:t>
            </a:r>
            <a:endParaRPr sz="1400" dirty="0"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50726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449</Words>
  <Application>Microsoft Office PowerPoint</Application>
  <PresentationFormat>Widescreen</PresentationFormat>
  <Paragraphs>55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Arial</vt:lpstr>
      <vt:lpstr>Bebas Neue</vt:lpstr>
      <vt:lpstr>Calibri</vt:lpstr>
      <vt:lpstr>Cambria Math</vt:lpstr>
      <vt:lpstr>Comfortaa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15 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21</cp:revision>
  <dcterms:created xsi:type="dcterms:W3CDTF">2026-03-05T18:59:57Z</dcterms:created>
  <dcterms:modified xsi:type="dcterms:W3CDTF">2026-03-10T21:02:33Z</dcterms:modified>
</cp:coreProperties>
</file>