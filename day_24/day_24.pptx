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58" r:id="rId3"/>
    <p:sldId id="257" r:id="rId4"/>
    <p:sldId id="275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59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82" y="14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99B2F-13C3-4916-9AE2-773954F7FF95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2A58F-A9F4-4EDD-94B3-A9547EE99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0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510CBC-CBD4-7FA5-5018-FDCB3BD8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D33713A-80D5-8FCF-C31F-CBCBB2753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DEF5084-F53F-BF3C-FDE4-1399D44B4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3037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E530A6E-4ED8-E9CF-A35E-5E4D5D6A7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B113993-6107-7FFF-7333-55BA15A75E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BE5FD32-9CB6-EE0E-E53B-C1546F2140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6053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6E969B7-6F75-CE90-6A16-984ED28ED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C2E1510-867B-EB03-A300-F1FF4F9CD9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150C90C2-45B3-8425-5F47-78C518C55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7037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D3114DA-BBD7-ED99-D76A-70912B43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5FCC17A-30CA-2550-B49F-03F6CB98C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85F304B-CCA3-9440-F724-E5B6DA9A3D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4278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D8B0565-75A3-F535-0EA8-CC2E522A6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12EBAE-AE71-8F9C-3EDD-372B78F6BF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8FF6ED5-8345-F226-24C5-877E114CC1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7176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CA1DB0C-82FE-C63B-FB02-FE734300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8014724-6500-186E-0FD8-AD929F82C7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4D8D34E-7C9D-7CA7-FCF1-B146CA37E8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5602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510CBC-CBD4-7FA5-5018-FDCB3BD8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D33713A-80D5-8FCF-C31F-CBCBB2753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DEF5084-F53F-BF3C-FDE4-1399D44B4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30372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E530A6E-4ED8-E9CF-A35E-5E4D5D6A7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B113993-6107-7FFF-7333-55BA15A75E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BE5FD32-9CB6-EE0E-E53B-C1546F2140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60533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8688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4056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4302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7296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8490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48036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635696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05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73016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765395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218112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2076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49317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35239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61005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06908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52964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22488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48289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6840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18734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241422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453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93127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085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02876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/>
              <a:t>Logistic Regression (Multiclass Classification)</a:t>
            </a:r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15</a:t>
            </a:r>
            <a:br>
              <a:rPr lang="en" dirty="0">
                <a:solidFill>
                  <a:schemeClr val="accent4"/>
                </a:solidFill>
              </a:rPr>
            </a:br>
            <a:endParaRPr dirty="0">
              <a:solidFill>
                <a:schemeClr val="accent4"/>
              </a:solidFill>
            </a:endParaRPr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2126237618"/>
              </p:ext>
            </p:extLst>
          </p:nvPr>
        </p:nvGraphicFramePr>
        <p:xfrm>
          <a:off x="968901" y="2328148"/>
          <a:ext cx="10272000" cy="35632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Multiclass Logistic Regression</a:t>
                      </a: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Predicting 3+ categories (e.g., Safe, DDoS, or Malware).</a:t>
                      </a: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The SoftMax Function.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the logic with real world examples.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478E5AC7-4524-6A51-8B39-8D8899921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From Binary to Multiclass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Before: We predicted two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categories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Safe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or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DDoS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Today: We predict three or more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categories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 - Network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Traffic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Classification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Class 0: Normal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Traffic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Class 1: DDoS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Attack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Class 2: Malware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Injection</a:t>
            </a:r>
          </a:p>
          <a:p>
            <a:pPr algn="l"/>
            <a:endParaRPr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problem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Sigmoid only handles 2 classes. We need a new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function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0154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FAE09901-1EA4-1281-E9D0-75400B034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The Softmax Function - The Upgrade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E81A81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81A81"/>
                </a:solidFill>
                <a:latin typeface="Source Code Pro"/>
              </a:rPr>
              <a:t>Sigmoid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limitation: Only outputs two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probabilities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(0 or 1).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SoftMax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solution: Outputs probability for EACH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class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Golden rule: All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probabilities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add up to exactly 100% (1.0).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Class 0: 0.7 (70% probability)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Class 1: 0.2 (20% probability)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Class 2: 0.1 (10% probability)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Total: 1.0 (100%)</a:t>
            </a:r>
          </a:p>
        </p:txBody>
      </p:sp>
    </p:spTree>
    <p:extLst>
      <p:ext uri="{BB962C8B-B14F-4D97-AF65-F5344CB8AC3E}">
        <p14:creationId xmlns:p14="http://schemas.microsoft.com/office/powerpoint/2010/main" val="3664333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93EF743-37DF-61A5-E507-BEE9CB679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The Softmax Formula Explained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56032" y="1463040"/>
                <a:ext cx="8229600" cy="44219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endParaRPr lang="en-US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Formula: </a:t>
                </a:r>
              </a:p>
              <a:p>
                <a:pPr algn="l"/>
                <a:endParaRPr lang="en-US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r>
                  <a:rPr lang="en-US" sz="1400" b="1" dirty="0">
                    <a:solidFill>
                      <a:srgbClr val="E7E7E7"/>
                    </a:solidFill>
                    <a:latin typeface="Source Code Pro"/>
                  </a:rPr>
                  <a:t>Where:</a:t>
                </a: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* K = total number of </a:t>
                </a:r>
                <a:r>
                  <a:rPr lang="en-US" sz="1400" b="1" dirty="0">
                    <a:solidFill>
                      <a:srgbClr val="E7E7E7"/>
                    </a:solidFill>
                    <a:latin typeface="Source Code Pro"/>
                  </a:rPr>
                  <a:t>classes</a:t>
                </a:r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 (3 in our </a:t>
                </a:r>
                <a:r>
                  <a:rPr lang="en-US" sz="1400" b="1" dirty="0">
                    <a:latin typeface="Source Code Pro"/>
                  </a:rPr>
                  <a:t>example</a:t>
                </a:r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)</a:t>
                </a: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* i = the specific </a:t>
                </a:r>
                <a:r>
                  <a:rPr lang="en-US" sz="1400" b="1" dirty="0">
                    <a:solidFill>
                      <a:srgbClr val="E7E7E7"/>
                    </a:solidFill>
                    <a:latin typeface="Source Code Pro"/>
                  </a:rPr>
                  <a:t>class</a:t>
                </a:r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 we're calculating </a:t>
                </a:r>
                <a:r>
                  <a:rPr lang="en-US" sz="1400" b="1" dirty="0">
                    <a:solidFill>
                      <a:schemeClr val="accent3"/>
                    </a:solidFill>
                    <a:latin typeface="Source Code Pro"/>
                  </a:rPr>
                  <a:t>probability</a:t>
                </a:r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 for</a:t>
                </a: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* j = counter that loops through ALL </a:t>
                </a:r>
                <a:r>
                  <a:rPr lang="en-US" sz="1400" b="1" dirty="0">
                    <a:solidFill>
                      <a:schemeClr val="accent3"/>
                    </a:solidFill>
                    <a:latin typeface="Source Code Pro"/>
                  </a:rPr>
                  <a:t>classes</a:t>
                </a:r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 (1 to K)</a:t>
                </a: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* z = the linear </a:t>
                </a:r>
                <a:r>
                  <a:rPr lang="en-US" sz="1400" b="1" dirty="0">
                    <a:solidFill>
                      <a:schemeClr val="tx2"/>
                    </a:solidFill>
                    <a:latin typeface="Source Code Pro"/>
                  </a:rPr>
                  <a:t>output</a:t>
                </a:r>
                <a:r>
                  <a:rPr lang="en-US" sz="1400" dirty="0">
                    <a:solidFill>
                      <a:schemeClr val="tx2"/>
                    </a:solidFill>
                    <a:latin typeface="Source Code Pro"/>
                  </a:rPr>
                  <a:t> </a:t>
                </a:r>
                <a:r>
                  <a:rPr lang="en-US" sz="1400" b="1" dirty="0">
                    <a:solidFill>
                      <a:schemeClr val="tx2"/>
                    </a:solidFill>
                    <a:latin typeface="Source Code Pro"/>
                  </a:rPr>
                  <a:t>score</a:t>
                </a:r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 from the </a:t>
                </a:r>
                <a:r>
                  <a:rPr lang="en-US" sz="1400" b="1" dirty="0">
                    <a:solidFill>
                      <a:schemeClr val="accent2">
                        <a:lumMod val="75000"/>
                      </a:schemeClr>
                    </a:solidFill>
                    <a:latin typeface="Source Code Pro"/>
                  </a:rPr>
                  <a:t>model</a:t>
                </a: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 </a:t>
                </a:r>
              </a:p>
              <a:p>
                <a:pPr algn="l"/>
                <a:r>
                  <a:rPr lang="en-US" sz="1400" b="1" dirty="0">
                    <a:solidFill>
                      <a:srgbClr val="E7E7E7"/>
                    </a:solidFill>
                    <a:latin typeface="Source Code Pro"/>
                  </a:rPr>
                  <a:t>Breakdown:</a:t>
                </a: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* z = linear output for each class</a:t>
                </a: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*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ar-AE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E7E7E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kumimoji="0" lang="ar-AE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E7E7E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𝑒</m:t>
                        </m:r>
                      </m:e>
                      <m:sup>
                        <m:r>
                          <a:rPr kumimoji="0" 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E7E7E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𝑧</m:t>
                        </m:r>
                        <m: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E7E7E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p>
                    </m:sSup>
                    <m:r>
                      <a:rPr kumimoji="0" lang="en-US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E7E7E7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= exponentiate the score for class i</a:t>
                </a:r>
              </a:p>
              <a:p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* </a:t>
                </a:r>
                <a:r>
                  <a:rPr lang="el-GR" sz="1400" dirty="0">
                    <a:solidFill>
                      <a:srgbClr val="E7E7E7"/>
                    </a:solidFill>
                    <a:latin typeface="Source Code Pro"/>
                  </a:rPr>
                  <a:t>Σ(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400" i="1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400" i="1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1400" b="0" i="1" smtClean="0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) = sum of ALL exponentialized scores (all K classes)</a:t>
                </a: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* Divide to get probability for class i</a:t>
                </a: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 </a:t>
                </a:r>
              </a:p>
              <a:p>
                <a:pPr algn="l"/>
                <a:r>
                  <a:rPr lang="en-US" sz="1400" b="1" dirty="0">
                    <a:solidFill>
                      <a:srgbClr val="E7E7E7"/>
                    </a:solidFill>
                    <a:latin typeface="Source Code Pro"/>
                  </a:rPr>
                  <a:t>The Process:</a:t>
                </a: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Step 1: Calculate z for each class (z_0, z_1, z_2, ... </a:t>
                </a:r>
                <a:r>
                  <a:rPr lang="en-US" sz="1400" dirty="0" err="1">
                    <a:solidFill>
                      <a:srgbClr val="E7E7E7"/>
                    </a:solidFill>
                    <a:latin typeface="Source Code Pro"/>
                  </a:rPr>
                  <a:t>z_K</a:t>
                </a:r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)</a:t>
                </a: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Step 2: Exponentiate each z using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400" i="1" smtClean="0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b="0" i="1" smtClean="0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400" b="0" i="1" smtClean="0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</m:oMath>
                </a14:m>
                <a:endParaRPr lang="ar-AE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Step 3: Sum all the exponentialized cores</a:t>
                </a:r>
              </a:p>
              <a:p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Step 4: Divide each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400" i="1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400" i="1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1400" b="0" i="1" smtClean="0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 by the total sum to get probability</a:t>
                </a:r>
                <a:endParaRPr sz="1400" b="1" dirty="0">
                  <a:solidFill>
                    <a:srgbClr val="E7E7E7"/>
                  </a:solidFill>
                  <a:latin typeface="Source Code Pro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32" y="1463040"/>
                <a:ext cx="8229600" cy="4421980"/>
              </a:xfrm>
              <a:prstGeom prst="rect">
                <a:avLst/>
              </a:prstGeom>
              <a:blipFill>
                <a:blip r:embed="rId3"/>
                <a:stretch>
                  <a:fillRect l="-222" b="-5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E677035-E977-37F1-07CB-67048A743E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554" y="1553108"/>
            <a:ext cx="1647546" cy="65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680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DDBB3FB-1E1D-5346-0FB9-55028EA8A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Softmax Example - Step by Step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49726" y="1463040"/>
                <a:ext cx="8229600" cy="48344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endParaRPr lang="en-US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Network </a:t>
                </a:r>
                <a:r>
                  <a:rPr lang="en-US" sz="1400" b="1" dirty="0">
                    <a:solidFill>
                      <a:srgbClr val="94EE6B"/>
                    </a:solidFill>
                    <a:latin typeface="Source Code Pro"/>
                  </a:rPr>
                  <a:t>Traffic</a:t>
                </a:r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 </a:t>
                </a:r>
                <a:r>
                  <a:rPr lang="en-US" sz="1400" b="1" dirty="0">
                    <a:solidFill>
                      <a:srgbClr val="E7E7E7"/>
                    </a:solidFill>
                    <a:latin typeface="Source Code Pro"/>
                  </a:rPr>
                  <a:t>Classification</a:t>
                </a:r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:</a:t>
                </a:r>
              </a:p>
              <a:p>
                <a:pPr algn="l"/>
                <a:endParaRPr lang="en-US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Linear </a:t>
                </a:r>
                <a:r>
                  <a:rPr lang="en-US" sz="1400" b="1" dirty="0">
                    <a:solidFill>
                      <a:srgbClr val="FD4A4A"/>
                    </a:solidFill>
                    <a:latin typeface="Source Code Pro"/>
                  </a:rPr>
                  <a:t>scores</a:t>
                </a:r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 from model:</a:t>
                </a: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z0 = 2.0 (Normal)</a:t>
                </a: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z1 = 0.5 (DDoS)</a:t>
                </a: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z2 = -1.5 (Malware)</a:t>
                </a:r>
              </a:p>
              <a:p>
                <a:pPr algn="l"/>
                <a:endParaRPr lang="en-US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Step 1: Exponentiate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sz="1400" i="1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400" b="0" i="1" smtClean="0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400" b="0" i="1" smtClean="0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400" b="0" i="1" smtClean="0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sz="1400" b="0" i="0" smtClean="0">
                        <a:solidFill>
                          <a:srgbClr val="E7E7E7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  = 7.389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sz="1400" i="1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400" i="1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400" b="0" i="1" smtClean="0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400" b="0" i="1" smtClean="0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sz="1400">
                        <a:solidFill>
                          <a:srgbClr val="E7E7E7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  = 1.649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sz="1400" i="1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400" b="0" i="1" smtClean="0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b="0" i="1" smtClean="0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400" i="1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400" i="1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sz="1400" b="0" i="0" smtClean="0">
                        <a:solidFill>
                          <a:srgbClr val="E7E7E7"/>
                        </a:solidFill>
                        <a:latin typeface="Cambria Math" panose="02040503050406030204" pitchFamily="18" charset="0"/>
                      </a:rPr>
                      <m:t>    </m:t>
                    </m:r>
                  </m:oMath>
                </a14:m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= 0.223</a:t>
                </a:r>
              </a:p>
              <a:p>
                <a:pPr algn="l"/>
                <a:endParaRPr lang="en-US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Step 2: Sum them</a:t>
                </a: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Total = 7.389 + 1.649 + 0.223 = 9.261</a:t>
                </a:r>
              </a:p>
              <a:p>
                <a:pPr algn="l"/>
                <a:endParaRPr lang="en-US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Step 3: Divide each by total (Softmax)</a:t>
                </a: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Class 0: 7.389 / 9.261 = 0.798 (79.8%)</a:t>
                </a: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Class 1: 1.649 / 9.261 = 0.178 (17.8%)</a:t>
                </a: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Class 2: 0.223 / 9.261 = 0.024 (2.4%)</a:t>
                </a:r>
              </a:p>
              <a:p>
                <a:pPr algn="l"/>
                <a:endParaRPr lang="en-US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Prediction: Class 0 (</a:t>
                </a:r>
                <a:r>
                  <a:rPr lang="en-US" sz="1400" b="1" dirty="0">
                    <a:solidFill>
                      <a:srgbClr val="EC7955"/>
                    </a:solidFill>
                    <a:latin typeface="Source Code Pro"/>
                  </a:rPr>
                  <a:t>Normal</a:t>
                </a:r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 </a:t>
                </a:r>
                <a:r>
                  <a:rPr lang="en-US" sz="1400" b="1" dirty="0">
                    <a:solidFill>
                      <a:srgbClr val="E81A81"/>
                    </a:solidFill>
                    <a:latin typeface="Source Code Pro"/>
                  </a:rPr>
                  <a:t>Traffic</a:t>
                </a:r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) with highest </a:t>
                </a:r>
                <a:r>
                  <a:rPr lang="en-US" sz="1400" b="1" dirty="0">
                    <a:solidFill>
                      <a:srgbClr val="FD4A4A"/>
                    </a:solidFill>
                    <a:latin typeface="Source Code Pro"/>
                  </a:rPr>
                  <a:t>probability</a:t>
                </a:r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.</a:t>
                </a:r>
                <a:endParaRPr sz="1400" dirty="0">
                  <a:solidFill>
                    <a:srgbClr val="E7E7E7"/>
                  </a:solidFill>
                  <a:latin typeface="Source Code Pro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726" y="1463040"/>
                <a:ext cx="8229600" cy="4834465"/>
              </a:xfrm>
              <a:prstGeom prst="rect">
                <a:avLst/>
              </a:prstGeom>
              <a:blipFill>
                <a:blip r:embed="rId3"/>
                <a:stretch>
                  <a:fillRect l="-222" b="-3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4017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EC5CC58-C86D-B3EF-39BE-FB3282AB8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Why Softmax Works for Multiclass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Each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class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gets a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probability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class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with highest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probability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wins.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probabilities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are normalized (always sum to 1.0).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ensures: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No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class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can have probability &gt; 1.0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No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class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can have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negative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probability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All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possibilities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sum to 100%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Perfect for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multi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-category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decisions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3430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4F5C0FC-1DBC-A7CC-FAC6-09829C351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Softmax vs Sigmoid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Sigmoid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(Binary):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Input: 1 linear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score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Output: 2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probabilities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(class 0 and class 1)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Use case: Two-category problems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Softmax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Multiclass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Input: K linear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scores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(one per </a:t>
            </a:r>
            <a:r>
              <a:rPr sz="1400" b="1" dirty="0">
                <a:solidFill>
                  <a:srgbClr val="00B0F0"/>
                </a:solidFill>
                <a:latin typeface="Source Code Pro"/>
              </a:rPr>
              <a:t>class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Output: K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probabilities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(one per </a:t>
            </a:r>
            <a:r>
              <a:rPr sz="1400" b="1" dirty="0">
                <a:solidFill>
                  <a:srgbClr val="00B0F0"/>
                </a:solidFill>
                <a:latin typeface="Source Code Pro"/>
              </a:rPr>
              <a:t>class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Use case: 3+ category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problems</a:t>
            </a:r>
          </a:p>
          <a:p>
            <a:pPr algn="l"/>
            <a:endParaRPr sz="1400" b="1" dirty="0">
              <a:solidFill>
                <a:srgbClr val="E81A81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Both use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Gradient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Descent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optimize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weights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</a:t>
            </a:r>
            <a:r>
              <a:rPr lang="en-US" sz="1400" b="1" dirty="0">
                <a:solidFill>
                  <a:srgbClr val="00B0F0"/>
                </a:solidFill>
                <a:latin typeface="Source Code Pro"/>
              </a:rPr>
              <a:t>function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changes, the </a:t>
            </a:r>
            <a:r>
              <a:rPr sz="1400" b="1" dirty="0">
                <a:solidFill>
                  <a:schemeClr val="bg2"/>
                </a:solidFill>
                <a:latin typeface="Source Code Pro"/>
              </a:rPr>
              <a:t>algorithm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stays the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same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1575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478E5AC7-4524-6A51-8B39-8D8899921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What is a Solver - Gradient Descent vs L-BFGS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Solver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the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algorithm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that finds perfect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weights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Standard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Gradient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Descent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You feel the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slope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take one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step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feel again, take another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step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It works but takes thousands of tiny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steps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reach the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bottom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L-BFGS: You have a math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equation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that calculates the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curvature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the entire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mountain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Because it knows the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shape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the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bowl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it takes massive, accurate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leaps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It solves in 100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steps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instead of 10,000.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Result: L-BFGS is 100×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faster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than standard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Gradient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Descent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778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FAE09901-1EA4-1281-E9D0-75400B034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Why L-BFGS Matters - Limited-Memory Genius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Standard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curvature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needs a giant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Hessian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matrix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RAM. Processing 5 million API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logs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would consume all server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memory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crash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"L" (Limited-Memory)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cheats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It doesn't store the whole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matrix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It only remembers the last few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steps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guesses the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curvature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clears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memory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as it goes.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Result: Lightning-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fast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highly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accurate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won't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crash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your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server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on massive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Use solver='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lbfgs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 in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production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Always.</a:t>
            </a:r>
          </a:p>
        </p:txBody>
      </p:sp>
    </p:spTree>
    <p:extLst>
      <p:ext uri="{BB962C8B-B14F-4D97-AF65-F5344CB8AC3E}">
        <p14:creationId xmlns:p14="http://schemas.microsoft.com/office/powerpoint/2010/main" val="21893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891</Words>
  <Application>Microsoft Office PowerPoint</Application>
  <PresentationFormat>Widescreen</PresentationFormat>
  <Paragraphs>140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Arial</vt:lpstr>
      <vt:lpstr>Bebas Neue</vt:lpstr>
      <vt:lpstr>Calibri</vt:lpstr>
      <vt:lpstr>Cambria Math</vt:lpstr>
      <vt:lpstr>Comfortaa</vt:lpstr>
      <vt:lpstr>Fira Code</vt:lpstr>
      <vt:lpstr>Nunito Light</vt:lpstr>
      <vt:lpstr>PT Sans</vt:lpstr>
      <vt:lpstr>Source Code Pro</vt:lpstr>
      <vt:lpstr>Source Code Pro Medium</vt:lpstr>
      <vt:lpstr>Office 主题</vt:lpstr>
      <vt:lpstr>day 6</vt:lpstr>
      <vt:lpstr>Artificial Intelligence (Machine Learning &amp; Deep Learning)</vt:lpstr>
      <vt:lpstr>Contents of Day 15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Master Mind</cp:lastModifiedBy>
  <cp:revision>33</cp:revision>
  <dcterms:created xsi:type="dcterms:W3CDTF">2026-03-05T18:59:57Z</dcterms:created>
  <dcterms:modified xsi:type="dcterms:W3CDTF">2026-03-16T18:04:17Z</dcterms:modified>
</cp:coreProperties>
</file>