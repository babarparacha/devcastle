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268" r:id="rId3"/>
    <p:sldId id="269" r:id="rId4"/>
    <p:sldId id="270" r:id="rId5"/>
    <p:sldId id="27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4" autoAdjust="0"/>
    <p:restoredTop sz="94660"/>
  </p:normalViewPr>
  <p:slideViewPr>
    <p:cSldViewPr snapToGrid="0">
      <p:cViewPr varScale="1">
        <p:scale>
          <a:sx n="45" d="100"/>
          <a:sy n="45" d="100"/>
        </p:scale>
        <p:origin x="53" y="15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F986A-11FF-4DFF-9C81-7D1DD57F61DC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6FB85-6187-4AF0-8CC8-46A637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D377B72-064A-6817-DC91-A154DB8D8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A3F27DB-5F34-47A4-6552-D73204378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964756D-D66E-8273-5D77-83E11B2D81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4409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2A4319-4D45-A6D7-DE32-4E671675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2272AA9-671D-4E45-806B-81DF9E6B0F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D985EF5-05F6-CCFA-2507-AC23790414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42396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5343AC22-B93C-7443-B7C9-ED31CDB30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EA71D36C-C6C3-0B03-B5B6-E203C43A03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511C36D-C013-CB5D-EA9F-1D2FF7810E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7932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0DB7326-5ECD-16F4-4649-CA723DD5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9E27E37-D2FD-08C8-F430-6F6D79C78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0F4FE691-095F-29C3-C63D-05B34FBBE7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8923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7809-60C8-577B-E94E-1231FB84B3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C2E7A-C722-1F23-3003-5C15AE810D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87316-1869-E37E-11DA-51EE85E8C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7C170-74FC-C1E2-B28C-E2E87CF2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5B34E-BD48-82EF-3320-CDF21F756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509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55D8E-C486-49F4-8985-8BF0928F1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77F9-AB83-21FB-9033-928385C9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F52BC-6BD5-9589-B177-3231E00A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CE447-1271-AAB7-F3E0-6F6B36919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37E77-4653-5B43-99BD-0C0EECA99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4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AA603-035D-C40A-5B4F-36DC3FBE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5FBB4-0B65-F29B-73A5-B6A0B7AC6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AAD68-79D2-D93A-C306-72032F5A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9450D-848A-51A3-97B2-09507151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70841E-1081-2985-79D3-71F29146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16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09C7-5D89-62FC-337F-3EB92A1AB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D7FD-2BB3-42AD-0D7B-1D1E2D2AE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504CE2-EEED-BDE4-5A0B-DAB327909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C2ED85-9DB6-3EAC-CC05-6F51FF91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EC75F2-24B9-0789-EE88-A6E662B7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26651-FB2D-CC96-D687-7843F246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0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A7E61-604F-EF6D-2459-57A03BAB7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5A86F-E10C-97C7-B7C2-7B1D289DA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C9B2B-07EB-559A-73F5-5AD7F4A583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65D97E-47D9-AEA6-E5DD-EE0BDDD10F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C5E72-866B-3BA0-D218-A44ED9340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FA2371-4C30-8EDE-C830-7A921A99C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DBB501-DFED-6E9F-740D-110ED8896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A8736-CE91-5180-A545-6D33F187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011B5-34D6-3268-78B5-56EEE0A12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59DD59-D90B-82C1-FCD4-F17E42C44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EFC20-1D3F-AD7D-E152-92C5C50A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29269-608A-F58A-5C59-FCBC78E1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67CAE-F145-1B75-8FE6-0FB80B1E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E47959-E5FF-408F-14E5-600280231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338D8-33BD-78C3-EA2B-20D1C623B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354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158F-9DF6-56F8-6830-354F9AD88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684A2-4EC6-BA40-41DD-C3AEC0583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9704ED-8C88-3C99-8730-51114053E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0992DB-8300-E191-C901-1ED8729F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A1423-59CC-3C55-9BFC-9FCFD1453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2B494F-1EC0-9A02-506D-4AC2A4CEF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2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226D0-9F18-9871-89AA-0B724CC0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586833-E580-5DDA-DE78-3E7FCAF6E8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3775E9-509E-6778-6DF0-A762B7E87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6B7D3-6F30-67F3-8BF5-EDAD9511D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2DC83D-ACA4-DDBF-B9B8-4FA10A27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9EB9E-867F-4449-EEE5-4D2C09A9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16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09F01-2E38-502F-89C3-B000A88DC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9E873-45DC-23F2-E11F-B82301D46A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2AE20-4421-1A0B-BFEA-35150D33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A22A7-1AA4-7FF3-F2DB-31CA08FC8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BB6D6-81FC-6D51-B00D-2EE1962AF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2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C97285-3DBE-84B1-FF00-21FC84F8C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F0C68D-0CD2-5DD7-3FED-DE11D7177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25C67-A652-CC4B-308C-E5B8F67E3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027AB-27A9-B0AC-6252-8D96F700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B8E38-4E28-0F47-EDCA-5B1221AC3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356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534240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99354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7483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752816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9210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12414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299703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76086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218069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0780954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688451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75521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886219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8493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722284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936398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841901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0335738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223189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087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881013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169272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8194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719200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2003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2B2CC8-7322-E506-2520-92A9C39CB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EFD51C-ECD6-8476-414C-6E9D423CF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33392-5609-0E53-1AD2-00FF92D9B2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3151C2-9078-42C2-8BA8-3D6E946DD396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33B4A-3CB2-28A0-92A8-AA7997A46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1B080-CBA4-97B4-5205-A761A75B1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968BC-1E65-4B5B-89DA-4AF9DAFC8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013814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8DC6BB0-460A-CD09-BDE3-5FCF165D5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43045C92-A055-BA95-0EB7-9B5AF739F5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EAD21BF-ADBD-D706-9213-D16D794DCF9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endParaRPr lang="en-US" sz="1600" dirty="0"/>
          </a:p>
          <a:p>
            <a:r>
              <a:rPr lang="en-US" sz="1600" b="1" dirty="0"/>
              <a:t>P(A) (The Prior): </a:t>
            </a:r>
            <a:r>
              <a:rPr lang="en-US" sz="1600" dirty="0"/>
              <a:t>Your AI's baseline guess before new data arrives. (e.g., The baseline chance anyone is a Tax Evader is 5%).</a:t>
            </a:r>
          </a:p>
          <a:p>
            <a:endParaRPr lang="en-US" sz="1600" dirty="0"/>
          </a:p>
          <a:p>
            <a:r>
              <a:rPr lang="en-US" sz="1600" b="1" dirty="0"/>
              <a:t>B (The Evidence): </a:t>
            </a:r>
            <a:r>
              <a:rPr lang="en-US" sz="1600" dirty="0"/>
              <a:t>The new real-time data! (e.g., The citizen just bought a massive mansion).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Your AI's updated, smarter guess. </a:t>
            </a:r>
          </a:p>
          <a:p>
            <a:r>
              <a:rPr lang="en-US" sz="1600" dirty="0"/>
              <a:t>(e.g., Given that they bought a mansion, what is the NEW probability they are an evader?)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92CDA0E-8CB2-B352-136F-6C312778D8D0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A1FAB503-18EA-4411-2DC0-67DD056D8FD4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44C42CBB-C890-5689-8076-870F7B07D613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8BEB9F-18A8-7455-615E-54E2AF71AD33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C2F823-33D2-1247-FB52-C212370DE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98" y="1942645"/>
            <a:ext cx="2715004" cy="657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E9DFAA-71C0-B148-08C7-30A27872A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33" y="4429760"/>
            <a:ext cx="2333951" cy="23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282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0186207-63D6-74C2-F453-CE953F3C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3F807DD-09F4-9298-0E42-BCDAADDDAB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CAE500DB-E7C5-0B79-1E91-69EAFBAB1B5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b="1" dirty="0">
              <a:solidFill>
                <a:schemeClr val="accent1"/>
              </a:solidFill>
            </a:endParaRPr>
          </a:p>
          <a:p>
            <a:endParaRPr lang="en-US" sz="1600" dirty="0"/>
          </a:p>
          <a:p>
            <a:r>
              <a:rPr lang="en-US" sz="1600" b="1" dirty="0"/>
              <a:t>P(A) (The Prior): </a:t>
            </a:r>
            <a:r>
              <a:rPr lang="en-US" sz="1600" dirty="0"/>
              <a:t>The baseline risk. What is the chance anyone is a tax evader before we look at their bank account? Let's say it's 5% (0.05).</a:t>
            </a:r>
          </a:p>
          <a:p>
            <a:endParaRPr lang="en-US" sz="1600" dirty="0"/>
          </a:p>
          <a:p>
            <a:r>
              <a:rPr lang="en-US" sz="1600" b="1" dirty="0"/>
              <a:t>B (The New Evidence): </a:t>
            </a:r>
            <a:r>
              <a:rPr lang="en-US" sz="1600" dirty="0"/>
              <a:t>Our AI just flagged that this citizen bought a Rs. 5 Crore mansion in Sector G.</a:t>
            </a:r>
          </a:p>
          <a:p>
            <a:endParaRPr lang="en-US" sz="1600" dirty="0"/>
          </a:p>
          <a:p>
            <a:r>
              <a:rPr lang="en-US" sz="1600" b="1" dirty="0"/>
              <a:t>P(A|B) (The Posterior):</a:t>
            </a:r>
          </a:p>
          <a:p>
            <a:r>
              <a:rPr lang="en-US" sz="1600" dirty="0"/>
              <a:t>Given that they just bought a mansion, what is their new risk of being an evader?</a:t>
            </a:r>
          </a:p>
          <a:p>
            <a:endParaRPr lang="en-US" sz="1600" dirty="0"/>
          </a:p>
          <a:p>
            <a:r>
              <a:rPr lang="en-US" sz="1600" dirty="0"/>
              <a:t>The Hidden Logic (The Numerator and Denominator):</a:t>
            </a:r>
          </a:p>
          <a:p>
            <a:r>
              <a:rPr lang="en-US" sz="1600" b="1" dirty="0"/>
              <a:t>P(B|A): </a:t>
            </a:r>
            <a:r>
              <a:rPr lang="en-US" sz="1600" dirty="0"/>
              <a:t>If we already caught a tax evader, how likely are they to buy a mansion to hide their cash? Let's say 60% (0.60).</a:t>
            </a:r>
          </a:p>
          <a:p>
            <a:endParaRPr lang="en-US" sz="1600" dirty="0"/>
          </a:p>
          <a:p>
            <a:r>
              <a:rPr lang="en-US" sz="1600" b="1" dirty="0"/>
              <a:t>P(B): </a:t>
            </a:r>
            <a:r>
              <a:rPr lang="en-US" sz="1600" dirty="0"/>
              <a:t>How many people buy mansions in the general population? (Both honest rich people and criminals combined). Let's say 10% (0.10).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E399655A-560F-46C7-0662-7C8A4AAA219E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9D0615A3-BC66-9E29-95AB-61E3CD5200F3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CB685BAF-67F6-7016-87D9-BF8C9330C42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5EBAC7-F453-9EEC-1F76-4A417BBC5CFD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294C28-B7E8-D494-5AF5-CB4DF87D9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198" y="1942645"/>
            <a:ext cx="2715004" cy="65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41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86EA70F1-E33B-7EB8-695C-4BB03974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75FED62B-E16B-F5B1-785D-DA15FDB1DF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39D4CCCE-306F-6948-9BAB-9EE89A09C6A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Please Plug values in: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56DCFB75-37C8-C9E7-2D4E-0BDD5FA9AAF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1919E89-1BC4-9B52-E7F9-E4DBDBDEC3D5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8E5B8C88-378E-88B7-3C8B-75E3F050D75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C3F828-8DA0-2EE3-85CD-1311EBC2BB3D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905B6-8DF7-3787-FD9B-79E93D01E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529" y="2118715"/>
            <a:ext cx="6525742" cy="157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28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0E4AF0B-7D51-6526-B813-D35FF2938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CEC67719-0EEF-B56A-15BE-8F8925FBDA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3200" dirty="0"/>
              <a:t>Core Concept </a:t>
            </a:r>
            <a:r>
              <a:rPr lang="en" sz="3200" dirty="0">
                <a:solidFill>
                  <a:schemeClr val="accent4"/>
                </a:solidFill>
              </a:rPr>
              <a:t>(</a:t>
            </a:r>
            <a:r>
              <a:rPr lang="en-US" sz="3200" dirty="0">
                <a:solidFill>
                  <a:schemeClr val="accent4"/>
                </a:solidFill>
              </a:rPr>
              <a:t>Definition</a:t>
            </a:r>
            <a:r>
              <a:rPr lang="en" sz="3200" dirty="0">
                <a:solidFill>
                  <a:schemeClr val="accent4"/>
                </a:solidFill>
              </a:rPr>
              <a:t> &amp; Rules)</a:t>
            </a:r>
            <a:endParaRPr sz="3200"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18B7492D-89EE-DDB4-F4F2-24C37CC44FD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80380" y="1948350"/>
            <a:ext cx="11433179" cy="4591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"Look at the 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answer; The baseline risk of this person being a criminal was only 5%. But the second they signed the deed to that mansion,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the AI ran this exact equation and updated their risk profile to 30%. That is a 600% jump in suspicion! This is how machine learning models update their logic dynamically without humans having to reprogram them.</a:t>
            </a: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AE330F73-9808-E000-3A64-E10C54080E53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EE608EE-69BA-7FE5-2231-204E2BD94C46}"/>
              </a:ext>
            </a:extLst>
          </p:cNvPr>
          <p:cNvSpPr txBox="1"/>
          <p:nvPr/>
        </p:nvSpPr>
        <p:spPr>
          <a:xfrm>
            <a:off x="11513559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6667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CBD69F7E-1CB4-75DA-8B02-704D4F1EFF6A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800" b="0" i="0" u="none" strike="noStrike" kern="120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6C1BEA-7DCB-6465-A4C2-D9EB518D1EED}"/>
              </a:ext>
            </a:extLst>
          </p:cNvPr>
          <p:cNvSpPr txBox="1"/>
          <p:nvPr/>
        </p:nvSpPr>
        <p:spPr>
          <a:xfrm>
            <a:off x="4948667" y="1553175"/>
            <a:ext cx="9364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Bayes' Theorem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E7E7E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386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364</Words>
  <Application>Microsoft Office PowerPoint</Application>
  <PresentationFormat>Widescreen</PresentationFormat>
  <Paragraphs>37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6" baseType="lpstr">
      <vt:lpstr>Arial</vt:lpstr>
      <vt:lpstr>Bebas Neue</vt:lpstr>
      <vt:lpstr>Calibri</vt:lpstr>
      <vt:lpstr>Calibri Light</vt:lpstr>
      <vt:lpstr>Comfortaa</vt:lpstr>
      <vt:lpstr>Fira Code</vt:lpstr>
      <vt:lpstr>Nunito Light</vt:lpstr>
      <vt:lpstr>PT Sans</vt:lpstr>
      <vt:lpstr>Source Code Pro</vt:lpstr>
      <vt:lpstr>Source Code Pro Medium</vt:lpstr>
      <vt:lpstr>Office Theme</vt:lpstr>
      <vt:lpstr>day 6</vt:lpstr>
      <vt:lpstr>Core Concept (Definition &amp; Rules)</vt:lpstr>
      <vt:lpstr>Core Concept (Definition &amp; Rules)</vt:lpstr>
      <vt:lpstr>Core Concept (Definition &amp; Rules)</vt:lpstr>
      <vt:lpstr>Core Concept (Definition &amp; Rules)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</cp:revision>
  <dcterms:created xsi:type="dcterms:W3CDTF">2026-03-02T22:03:21Z</dcterms:created>
  <dcterms:modified xsi:type="dcterms:W3CDTF">2026-03-02T22:28:09Z</dcterms:modified>
</cp:coreProperties>
</file>