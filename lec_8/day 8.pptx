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8" r:id="rId3"/>
    <p:sldId id="271" r:id="rId4"/>
    <p:sldId id="257" r:id="rId5"/>
    <p:sldId id="261" r:id="rId6"/>
    <p:sldId id="263" r:id="rId7"/>
    <p:sldId id="273" r:id="rId8"/>
    <p:sldId id="272" r:id="rId9"/>
    <p:sldId id="274" r:id="rId10"/>
    <p:sldId id="275" r:id="rId11"/>
    <p:sldId id="276" r:id="rId12"/>
    <p:sldId id="270" r:id="rId13"/>
    <p:sldId id="277" r:id="rId14"/>
    <p:sldId id="278" r:id="rId15"/>
    <p:sldId id="279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0" d="100"/>
          <a:sy n="60" d="100"/>
        </p:scale>
        <p:origin x="34" y="12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DD4CD-F6A8-4B79-B1F8-75B3EDA9DEC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327A6-A9A7-41C2-B759-8C3113E8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4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0" name="Google Shape;800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29" name="Google Shape;42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928D0EB-3161-BE3E-BCCB-BCC498834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4B41BDA-4EBE-9B27-E16B-D774BBE34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6DD0B1C-075C-B559-74E4-D5A203AAD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741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01E128B-5419-515D-FDC2-3F8F639E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704D261-ED58-BEA1-0BE2-D0A2C395CB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B4C699-8269-C0D2-A616-803E1EED1B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3811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99CFE06-12D2-EBFE-565B-62C0B36D8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949012E-5A3F-C5C0-199D-07D89321E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405867D-2412-BE94-21AF-DA29CF6CF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9430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ED567B9-A0CB-A723-7DAB-8DBDAC4A6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944C790-5F0F-5C14-E93E-0B22A765F8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46C8F6D-B346-A6DB-E5A3-063534BD11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6425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10F06E-2793-2FC7-5C0A-F4855C7A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FAE7E76-D47D-4B03-1956-4BBC5F0FE3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BC53C92-0F59-F8CC-B24E-AAE4C2B215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6379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8096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C2CD8652-885C-FEBA-F207-0AE0DC79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2039FC5C-58C4-65EC-2B48-B6D2F265B3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82E7AC60-2BBF-93E4-F8AA-D0AA7415DD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72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15E5AE3-2E81-CDB2-1A12-462F434FC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2C6AD042-3D9C-EC3A-B3D1-5AC166343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6EA4EC1E-8501-4062-E30D-8181222AC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730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4EA7D1E4-FDAB-D8E8-246E-35CA1874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375B17ED-821E-E179-7424-A783E6554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211444B4-1FCD-0CF2-83AF-11038C986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3859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ED12A-E506-806A-9D2A-7943EA7B0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A2C99-E927-FDBB-5035-0BD18946C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776E3-D193-4502-5FCD-788761D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F01B4-1B2C-8B46-60B8-D2463E787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B27D8-4301-9CBF-1E5D-983CCAFAC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21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464E-0F07-2E46-88E4-49C75C5D1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93DA-E8A3-DBB8-03C6-CD91A4D47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53E21-206B-D31E-1647-195A88880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7B33A-98A5-29A4-7651-384355341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899F7-90E7-56D5-B858-7D3506DBB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45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668F-AC57-A375-8E25-EEE2504F0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A514B-633F-32EF-95CA-4CFD068D0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F6AFE-C39F-1AEE-AC55-44E1147F7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28BF0-351F-8CB0-7AA3-DA676DA31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AA061-227A-0689-C801-AF238F2B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71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B6E6-5C1F-A4D3-A9CC-AC7F02FA0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E6D7-F7A6-53CD-731A-8DE0EEAF0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8E339-641C-A9B5-F0B7-A26338B65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68C89-074E-85B8-9198-E1AA6978F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1961F-C5A1-4939-F9FA-085AA8F7D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160D3-A40E-9B47-8213-4DDE5242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9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3C37-0401-3A59-405D-BB6880C8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32D79-9BF3-546E-DDC3-614867346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915FA-A6BF-808A-061D-251473524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A61B0-DEAF-E58B-AFFD-22355B6C2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85ECA-AE58-680E-7802-7A61EEDBA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92765-FABB-E4EA-4889-9DC0A71A2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6DBB2-6F01-916C-59B8-E63D416A8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B7A671-D593-6B5D-F192-C2AB56458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52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677F1-A576-AF94-0F69-3CDC8FD0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CCE841-AA8B-CE9D-FD48-3D5D3307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FB49C-335C-2619-155E-B55283C6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152DF-0B5B-16E9-42E6-ACC0210E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98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72C52-81A7-86D0-5EBC-364E5603B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A8CD57-CBFE-2576-AD70-76E7D976A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A9F56-4215-BF03-45C9-9F7FA899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73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727D-F219-C232-30CA-5CB670D32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5DE4-0DDC-24A5-4D13-BDAC151F8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CE354-FAB2-3059-DA31-FC88BC759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CB6D8-6B3D-5335-70CE-35104FF5F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FD48B-D4EE-A813-4026-C93DAA2C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6748D-4484-6270-B761-43B6A737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0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A413-31ED-3511-8C99-6B30A79D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4FE479-58CD-C76B-FBF4-3076B39CD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C551D-56F1-DDBA-0E40-B6A10B8C7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C119-CDBD-E173-E138-15B850483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96F33-23EC-CFE1-F16B-89BCBCE1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3F333-B890-3A71-5971-389EDDE93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1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570E9-4553-2099-832F-B77873287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7F7AC-D444-08A1-E426-0CC7609FA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8E8A8-FC58-9D3E-E57E-7477FAD6B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C37BE-BB79-82D9-7593-755108F3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B1B0B-2C82-D9E9-B921-5AC02BA9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8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1D8902-D306-E131-2CBE-139325F40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02F37-9F8E-107C-106F-248C2CE96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B98C0-7C65-D26E-0F02-8A0BBDA6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DB51A-3E1B-B46D-1BEF-9B6D646E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2832E-9788-6433-014F-D15D0495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97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442112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0762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6962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6499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6533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38825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8610418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3005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362219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730133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253064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152784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993460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21227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400666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89969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45433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6238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80348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4225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3679291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8212529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89049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334211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820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A1330F-871A-BBDC-16E1-9660B1FD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461E7-1D2E-0723-5EA4-42B07CC5A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5E1B8-766F-5706-BC7C-D321B332D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ACA68-5395-44BE-B12F-87FD775D2E3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7DCFF-11B0-7E7B-1915-15E483F26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7B577-7670-1D8E-5ACC-0252D939F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5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23931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Advanced OOP: Polymorphism, Abstraction, &amp; Magic Methods</a:t>
            </a:r>
            <a:endParaRPr sz="180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6667" kern="0">
                <a:solidFill>
                  <a:srgbClr val="E81A8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 kern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6667" kern="0">
                <a:solidFill>
                  <a:srgbClr val="4CAE97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kern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r" defTabSz="1219170">
              <a:buClr>
                <a:srgbClr val="000000"/>
              </a:buClr>
            </a:pPr>
            <a:r>
              <a:rPr lang="en" sz="6667" kern="0">
                <a:solidFill>
                  <a:srgbClr val="94EE6B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6667" kern="0">
              <a:solidFill>
                <a:srgbClr val="94EE6B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6"/>
          <p:cNvSpPr txBox="1">
            <a:spLocks noGrp="1"/>
          </p:cNvSpPr>
          <p:nvPr>
            <p:ph type="subTitle" idx="1"/>
          </p:nvPr>
        </p:nvSpPr>
        <p:spPr>
          <a:xfrm>
            <a:off x="2403484" y="1681020"/>
            <a:ext cx="9377151" cy="37395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i="1" dirty="0"/>
              <a:t>"The most dangerous phrase in the language is, 'We’ve always done it this way.'" – Grace Hopper </a:t>
            </a:r>
          </a:p>
          <a:p>
            <a:pPr marL="0" indent="0"/>
            <a:r>
              <a:rPr lang="en-US" i="1" dirty="0"/>
              <a:t>(Computer Science Pioneer &amp; inventor of the first compiler)</a:t>
            </a:r>
            <a:endParaRPr dirty="0"/>
          </a:p>
        </p:txBody>
      </p:sp>
      <p:grpSp>
        <p:nvGrpSpPr>
          <p:cNvPr id="804" name="Google Shape;804;p46"/>
          <p:cNvGrpSpPr/>
          <p:nvPr/>
        </p:nvGrpSpPr>
        <p:grpSpPr>
          <a:xfrm>
            <a:off x="478569" y="2490236"/>
            <a:ext cx="2856233" cy="3648433"/>
            <a:chOff x="358925" y="1867675"/>
            <a:chExt cx="2142175" cy="2736325"/>
          </a:xfrm>
        </p:grpSpPr>
        <p:sp>
          <p:nvSpPr>
            <p:cNvPr id="805" name="Google Shape;805;p46"/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6" name="Google Shape;806;p46"/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7" name="Google Shape;807;p46"/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8" name="Google Shape;808;p46"/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9" name="Google Shape;809;p46"/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0" name="Google Shape;810;p46"/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1" name="Google Shape;811;p46"/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2" name="Google Shape;812;p46"/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3" name="Google Shape;813;p46"/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4" name="Google Shape;814;p46"/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5" name="Google Shape;815;p46"/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6" name="Google Shape;816;p46"/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7" name="Google Shape;817;p46"/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8" name="Google Shape;818;p46"/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9" name="Google Shape;819;p46"/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0" name="Google Shape;820;p46"/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1" name="Google Shape;821;p46"/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2" name="Google Shape;822;p46"/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3" name="Google Shape;823;p46"/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4" name="Google Shape;824;p46"/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5" name="Google Shape;825;p46"/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836" name="Google Shape;836;p46"/>
          <p:cNvSpPr txBox="1"/>
          <p:nvPr/>
        </p:nvSpPr>
        <p:spPr>
          <a:xfrm>
            <a:off x="301751" y="395167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7" name="Google Shape;837;p46"/>
          <p:cNvSpPr txBox="1"/>
          <p:nvPr/>
        </p:nvSpPr>
        <p:spPr>
          <a:xfrm>
            <a:off x="9791700" y="55372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8" name="Google Shape;838;p46"/>
          <p:cNvSpPr txBox="1"/>
          <p:nvPr/>
        </p:nvSpPr>
        <p:spPr>
          <a:xfrm>
            <a:off x="10602333" y="5821200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>
              <a:solidFill>
                <a:schemeClr val="accent2"/>
              </a:solidFill>
            </a:endParaRPr>
          </a:p>
        </p:txBody>
      </p:sp>
      <p:sp>
        <p:nvSpPr>
          <p:cNvPr id="839" name="Google Shape;839;p46"/>
          <p:cNvSpPr txBox="1"/>
          <p:nvPr/>
        </p:nvSpPr>
        <p:spPr>
          <a:xfrm>
            <a:off x="894217" y="681400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8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Conditional Execution &amp; Loops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454327970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Review of Inheritance, Encapsulation (Private/Public), and Composition.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Polymorphism &amp; Dynamic Polymorphism</a:t>
                      </a: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.</a:t>
                      </a:r>
                    </a:p>
                    <a:p>
                      <a:r>
                        <a:rPr lang="en-US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</a:t>
                      </a:r>
                      <a:r>
                        <a:rPr lang="en-US" sz="13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Operator Overloading &amp; Magic (Dunder) Functions.</a:t>
                      </a:r>
                    </a:p>
                    <a:p>
                      <a:r>
                        <a:rPr lang="en-US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</a:t>
                      </a:r>
                      <a:r>
                        <a:rPr lang="en-US" sz="13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Abstract Classes, Data Classes, and Empty Classes.</a:t>
                      </a:r>
                    </a:p>
                    <a:p>
                      <a:r>
                        <a:rPr lang="en-US" sz="14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Keyword Arguments (**kwargs)</a:t>
                      </a:r>
                      <a:endParaRPr lang="en-US" sz="130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 overriding, magic functions, and data classes.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Building a strict AI pipeline template using Abstract Base Classes. 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OOP logic, resolving MRO conflicts, and preparing for tomorrow's topic: Descriptive Statistics and Probability.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400552" y="5830867"/>
            <a:ext cx="5875200" cy="13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not allowed.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/>
          <p:cNvSpPr txBox="1">
            <a:spLocks noGrp="1"/>
          </p:cNvSpPr>
          <p:nvPr>
            <p:ph type="title"/>
          </p:nvPr>
        </p:nvSpPr>
        <p:spPr>
          <a:xfrm>
            <a:off x="685121" y="535784"/>
            <a:ext cx="1123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Today Objective - </a:t>
            </a:r>
            <a:r>
              <a:rPr lang="en-US" sz="3200" dirty="0">
                <a:solidFill>
                  <a:schemeClr val="tx2"/>
                </a:solidFill>
              </a:rPr>
              <a:t>Flexibility &amp; Strict Rules</a:t>
            </a:r>
            <a:endParaRPr sz="3200" dirty="0">
              <a:solidFill>
                <a:schemeClr val="tx2"/>
              </a:solidFill>
            </a:endParaRPr>
          </a:p>
        </p:txBody>
      </p:sp>
      <p:sp>
        <p:nvSpPr>
          <p:cNvPr id="432" name="Google Shape;432;p36"/>
          <p:cNvSpPr txBox="1">
            <a:spLocks noGrp="1"/>
          </p:cNvSpPr>
          <p:nvPr>
            <p:ph type="subTitle" idx="1"/>
          </p:nvPr>
        </p:nvSpPr>
        <p:spPr>
          <a:xfrm>
            <a:off x="1294722" y="2085333"/>
            <a:ext cx="10012797" cy="367521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/>
              <a:t>Yesterday, we built the (Classes and Inheritance).Today, we are learning how to make our code both Flexible (</a:t>
            </a:r>
            <a:r>
              <a:rPr lang="en-US" sz="1600" dirty="0">
                <a:solidFill>
                  <a:schemeClr val="bg2"/>
                </a:solidFill>
              </a:rPr>
              <a:t>Polymorphism</a:t>
            </a:r>
            <a:r>
              <a:rPr lang="en-US" sz="1600" dirty="0"/>
              <a:t>) and Strict (</a:t>
            </a:r>
            <a:r>
              <a:rPr lang="en-US" sz="1600" dirty="0">
                <a:solidFill>
                  <a:schemeClr val="accent4"/>
                </a:solidFill>
              </a:rPr>
              <a:t>Abstraction</a:t>
            </a:r>
            <a:r>
              <a:rPr lang="en-US" sz="1600" dirty="0"/>
              <a:t>).</a:t>
            </a:r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Why it matters in AI: </a:t>
            </a:r>
            <a:r>
              <a:rPr lang="en-US" sz="1600" dirty="0"/>
              <a:t>When you build an AI pipeline, you want to be able to plug in 10 different types of models 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(Neural Networks, Decision Trees, etc.) </a:t>
            </a:r>
            <a:r>
              <a:rPr lang="en-US" sz="1600" dirty="0"/>
              <a:t>without rewriting your main code. </a:t>
            </a:r>
            <a:r>
              <a:rPr lang="en-US" sz="1600" dirty="0">
                <a:solidFill>
                  <a:schemeClr val="bg2"/>
                </a:solidFill>
              </a:rPr>
              <a:t>Polymorphism</a:t>
            </a:r>
            <a:r>
              <a:rPr lang="en-US" sz="1600" dirty="0"/>
              <a:t> lets you treat them all exactly the same, while </a:t>
            </a:r>
            <a:r>
              <a:rPr lang="en-US" sz="1600" dirty="0">
                <a:solidFill>
                  <a:schemeClr val="accent4"/>
                </a:solidFill>
              </a:rPr>
              <a:t>Abstraction</a:t>
            </a:r>
            <a:r>
              <a:rPr lang="en-US" sz="1600" dirty="0"/>
              <a:t> forces your teammates to follow your architectural rules so they don't break the system.</a:t>
            </a:r>
            <a:endParaRPr sz="1600" dirty="0"/>
          </a:p>
        </p:txBody>
      </p:sp>
      <p:grpSp>
        <p:nvGrpSpPr>
          <p:cNvPr id="434" name="Google Shape;434;p36"/>
          <p:cNvGrpSpPr/>
          <p:nvPr/>
        </p:nvGrpSpPr>
        <p:grpSpPr>
          <a:xfrm>
            <a:off x="466721" y="5258667"/>
            <a:ext cx="3381529" cy="1183100"/>
            <a:chOff x="880714" y="3731738"/>
            <a:chExt cx="2536147" cy="887325"/>
          </a:xfrm>
        </p:grpSpPr>
        <p:sp>
          <p:nvSpPr>
            <p:cNvPr id="435" name="Google Shape;435;p36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48" name="Google Shape;448;p36"/>
          <p:cNvSpPr txBox="1"/>
          <p:nvPr/>
        </p:nvSpPr>
        <p:spPr>
          <a:xfrm>
            <a:off x="11057116" y="5098829"/>
            <a:ext cx="849313" cy="134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49" name="Google Shape;449;p36"/>
          <p:cNvSpPr txBox="1"/>
          <p:nvPr/>
        </p:nvSpPr>
        <p:spPr>
          <a:xfrm>
            <a:off x="7692953" y="5664067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/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5862785" cy="490964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Polymorphism</a:t>
            </a:r>
            <a:br>
              <a:rPr lang="en-US" sz="1600" dirty="0"/>
            </a:br>
            <a:r>
              <a:rPr lang="en-US" sz="1600" dirty="0"/>
              <a:t>The ability of different objects to respond differently to the same method call.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4"/>
                </a:solidFill>
              </a:rPr>
              <a:t>Dynamic Polymorphism (Runtime Polymorphism)</a:t>
            </a:r>
            <a:br>
              <a:rPr lang="en-US" sz="1600" dirty="0">
                <a:solidFill>
                  <a:schemeClr val="accent4"/>
                </a:solidFill>
              </a:rPr>
            </a:br>
            <a:r>
              <a:rPr lang="en-US" sz="1600" dirty="0"/>
              <a:t>When a child class overrides a method of the parent class, and the method executed is determined at runtime based on the object type.</a:t>
            </a:r>
          </a:p>
        </p:txBody>
      </p:sp>
      <p:sp>
        <p:nvSpPr>
          <p:cNvPr id="500" name="Google Shape;500;p38"/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/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B285A-7C83-A5CC-B644-377D1CF0D92C}"/>
              </a:ext>
            </a:extLst>
          </p:cNvPr>
          <p:cNvSpPr txBox="1"/>
          <p:nvPr/>
        </p:nvSpPr>
        <p:spPr>
          <a:xfrm>
            <a:off x="4593400" y="1609795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Polymorphism &amp; Dynamic Polymorphism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F495E-F663-98DE-1CD4-B50598114E0C}"/>
              </a:ext>
            </a:extLst>
          </p:cNvPr>
          <p:cNvSpPr txBox="1"/>
          <p:nvPr/>
        </p:nvSpPr>
        <p:spPr>
          <a:xfrm>
            <a:off x="700237" y="5248205"/>
            <a:ext cx="53957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AI Application: </a:t>
            </a:r>
          </a:p>
          <a:p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Calling </a:t>
            </a:r>
            <a:r>
              <a:rPr lang="en-US" sz="1600" dirty="0">
                <a:solidFill>
                  <a:schemeClr val="tx2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model.train() 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on a Neural Network vs. a Linear Regression model. They both execute "train", but the math they do inside is completely different.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313205-030D-3746-A36A-0E84516C8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588" y="2224306"/>
            <a:ext cx="5782482" cy="43154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C011E99-513B-63E6-37A4-B4AFE875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76A9E640-2D06-87EE-69D2-F4B2A7884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C3BB8B92-928E-135C-9C54-46078FCA125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0480679" cy="490964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r>
              <a:rPr lang="en-US" sz="1600" dirty="0"/>
              <a:t>Special predefined methods in Python that begin and end with double underscores (e.g., </a:t>
            </a:r>
            <a:r>
              <a:rPr lang="en-US" dirty="0"/>
              <a:t>__init__</a:t>
            </a:r>
            <a:r>
              <a:rPr lang="en-US" sz="1600" dirty="0"/>
              <a:t>, </a:t>
            </a:r>
            <a:r>
              <a:rPr lang="en-US" dirty="0"/>
              <a:t>__str__</a:t>
            </a:r>
            <a:r>
              <a:rPr lang="en-US" sz="1600" dirty="0"/>
              <a:t>, </a:t>
            </a:r>
            <a:r>
              <a:rPr lang="en-US" dirty="0"/>
              <a:t>__add__</a:t>
            </a:r>
            <a:r>
              <a:rPr lang="en-US" sz="1600" dirty="0"/>
              <a:t>). They are called internally by Python to perform built-in operations.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The Analogy: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The "Under the Hood" wiring. When you type </a:t>
            </a:r>
            <a:r>
              <a:rPr lang="en-US" dirty="0">
                <a:solidFill>
                  <a:schemeClr val="accent3"/>
                </a:solidFill>
              </a:rPr>
              <a:t>print(</a:t>
            </a:r>
            <a:r>
              <a:rPr lang="en-US" dirty="0">
                <a:solidFill>
                  <a:schemeClr val="tx2"/>
                </a:solidFill>
              </a:rPr>
              <a:t>my_object</a:t>
            </a:r>
            <a:r>
              <a:rPr lang="en-US" dirty="0">
                <a:solidFill>
                  <a:schemeClr val="accent3"/>
                </a:solidFill>
              </a:rPr>
              <a:t>)</a:t>
            </a:r>
            <a:r>
              <a:rPr lang="en-US" sz="1600" dirty="0">
                <a:solidFill>
                  <a:schemeClr val="accent3"/>
                </a:solidFill>
              </a:rPr>
              <a:t>, </a:t>
            </a:r>
            <a:r>
              <a:rPr lang="en-US" sz="1600" dirty="0"/>
              <a:t>Python secretly goes under the hood and calls </a:t>
            </a:r>
            <a:r>
              <a:rPr lang="en-US" dirty="0"/>
              <a:t>my_object.__str__()</a:t>
            </a:r>
            <a:r>
              <a:rPr lang="en-US" sz="1600" dirty="0"/>
              <a:t>. They are called "Magic" because you usually don't call them directly; Python just magically runs them for you when you use standard symbols.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CEF1EDAE-7A38-472E-E0FA-752502BF1F4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65D4A125-630F-9942-CF61-A0F0B4B6C171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90E803DD-A3F3-0DA0-47E7-5079E4A93E86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BD4C59E3-5628-B98A-3E24-790841DAF7EA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7DDF7F-6F8E-C9DF-7880-36C5480296A5}"/>
              </a:ext>
            </a:extLst>
          </p:cNvPr>
          <p:cNvSpPr txBox="1"/>
          <p:nvPr/>
        </p:nvSpPr>
        <p:spPr>
          <a:xfrm>
            <a:off x="4185920" y="1641901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Magic Functions (Dunder Functions)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685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E922A2E-4A3C-F6E1-0497-9672D7BE2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EC9F5EC-39A8-F214-C44F-46E57CBEA2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2DADDBCD-3058-A760-321A-1F95EE1D43A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565400" y="2424049"/>
            <a:ext cx="6870823" cy="490964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r>
              <a:rPr lang="en-US" sz="1600" dirty="0">
                <a:solidFill>
                  <a:schemeClr val="tx1"/>
                </a:solidFill>
              </a:rPr>
              <a:t>Giving extended, custom meaning beyond the predefined operational meaning to operators like +, -, *, or ==.</a:t>
            </a:r>
          </a:p>
          <a:p>
            <a:endParaRPr lang="en-US" sz="1600" dirty="0"/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DDF308D6-672B-032D-94F1-74F9E933D2A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755777" y="2192005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839C3689-0A5F-299C-C459-527CD85EF1F5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F69272DA-1062-A104-CBA4-732F4337B3E8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B178A847-3655-32C4-A6B0-4DEDC2324CBB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B1DD30-E73D-961F-2B27-C377528765B3}"/>
              </a:ext>
            </a:extLst>
          </p:cNvPr>
          <p:cNvSpPr txBox="1"/>
          <p:nvPr/>
        </p:nvSpPr>
        <p:spPr>
          <a:xfrm>
            <a:off x="4593400" y="1609795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Operator Overloading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748806-18B5-5D5E-CAFB-7E622F7DC941}"/>
              </a:ext>
            </a:extLst>
          </p:cNvPr>
          <p:cNvSpPr txBox="1"/>
          <p:nvPr/>
        </p:nvSpPr>
        <p:spPr>
          <a:xfrm>
            <a:off x="2755777" y="4057160"/>
            <a:ext cx="760742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Example: 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You already know what + does to numbers (5 + 5 = 10)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and strings ("A" + "B" = "AB"). </a:t>
            </a:r>
          </a:p>
          <a:p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Operator Overloading lets you teach Python what + means when you try to add two custom AI Dataset objects together. Should it merge the files? Should it crash? You get to decide!</a:t>
            </a:r>
          </a:p>
        </p:txBody>
      </p:sp>
    </p:spTree>
    <p:extLst>
      <p:ext uri="{BB962C8B-B14F-4D97-AF65-F5344CB8AC3E}">
        <p14:creationId xmlns:p14="http://schemas.microsoft.com/office/powerpoint/2010/main" val="2517938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C86C3E6-6451-B565-893B-5B43651F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34EC7B9B-8596-41E2-6996-F91408E42E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CC967427-EC6E-14FA-9518-C3CC4062E05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369679" cy="490964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r>
              <a:rPr lang="en-US" sz="1600" dirty="0"/>
              <a:t>An abstract class cannot be instantiated directly. It contains abstract methods (methods declared but containing no implementation logic). Any Subclass inheriting from it </a:t>
            </a:r>
            <a:r>
              <a:rPr lang="en-US" sz="1600" i="1" dirty="0"/>
              <a:t>must</a:t>
            </a:r>
            <a:r>
              <a:rPr lang="en-US" sz="1600" dirty="0"/>
              <a:t> provide the implementation for those methods.</a:t>
            </a:r>
          </a:p>
          <a:p>
            <a:endParaRPr lang="en-US" sz="1600" dirty="0"/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B460659D-A88C-3DA3-D76F-84783728FD4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B1254FDE-F252-BA09-BCF6-F33A330436C5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0C48D9CC-921B-6185-A0C5-9FE1C678A184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D71DC668-3A30-B019-0687-9DD5629799F3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44D846-2E4D-A3DE-ECD1-CA574ED78C37}"/>
              </a:ext>
            </a:extLst>
          </p:cNvPr>
          <p:cNvSpPr txBox="1"/>
          <p:nvPr/>
        </p:nvSpPr>
        <p:spPr>
          <a:xfrm>
            <a:off x="4593400" y="1609795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Abstract Classes &amp; Methods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C4E3E-98FF-757A-5AED-4B09E0CB5B30}"/>
              </a:ext>
            </a:extLst>
          </p:cNvPr>
          <p:cNvSpPr txBox="1"/>
          <p:nvPr/>
        </p:nvSpPr>
        <p:spPr>
          <a:xfrm>
            <a:off x="639039" y="4237638"/>
            <a:ext cx="110250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AI Application: </a:t>
            </a:r>
          </a:p>
          <a:p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Creating a base </a:t>
            </a:r>
            <a:r>
              <a:rPr lang="en-US" sz="1600" dirty="0">
                <a:solidFill>
                  <a:schemeClr val="tx2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AIEngine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 class that forces every developer on your team to write a 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clean_data() 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method before they are allowed to train a model.</a:t>
            </a:r>
          </a:p>
        </p:txBody>
      </p:sp>
    </p:spTree>
    <p:extLst>
      <p:ext uri="{BB962C8B-B14F-4D97-AF65-F5344CB8AC3E}">
        <p14:creationId xmlns:p14="http://schemas.microsoft.com/office/powerpoint/2010/main" val="1077517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8264191-C0BC-3281-A88F-C88521B5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4F11AEFA-1C63-232B-0380-98D31F20BE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9EC9DA84-C0FD-AD44-BCDE-A5290C156D7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369679" cy="490964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r>
              <a:rPr lang="en-US" sz="1600" dirty="0">
                <a:solidFill>
                  <a:schemeClr val="accent1"/>
                </a:solidFill>
              </a:rPr>
              <a:t>Empty Class</a:t>
            </a:r>
            <a:r>
              <a:rPr lang="en-US" sz="1600" dirty="0"/>
              <a:t>: A class with no attributes or methods, created using the pass keyword. Used as a placeholder for future implementation.</a:t>
            </a:r>
          </a:p>
          <a:p>
            <a:endParaRPr lang="en-US" sz="1600" dirty="0"/>
          </a:p>
          <a:p>
            <a:r>
              <a:rPr lang="en-US" sz="1600" i="1" dirty="0">
                <a:solidFill>
                  <a:schemeClr val="accent2"/>
                </a:solidFill>
              </a:rPr>
              <a:t>Data Class:</a:t>
            </a:r>
            <a:r>
              <a:rPr lang="en-US" sz="1600" dirty="0">
                <a:solidFill>
                  <a:schemeClr val="accent2"/>
                </a:solidFill>
              </a:rPr>
              <a:t> </a:t>
            </a:r>
            <a:r>
              <a:rPr lang="en-US" sz="1600" dirty="0"/>
              <a:t>A decorator (</a:t>
            </a:r>
            <a:r>
              <a:rPr lang="en-US" dirty="0"/>
              <a:t>@dataclass</a:t>
            </a:r>
            <a:r>
              <a:rPr lang="en-US" sz="1600" dirty="0"/>
              <a:t>) introduced in Python 3.7 designed strictly to hold state/data rather than complex logic, automatically generating </a:t>
            </a:r>
            <a:r>
              <a:rPr lang="en-US" dirty="0"/>
              <a:t>__init__</a:t>
            </a:r>
            <a:r>
              <a:rPr lang="en-US" sz="1600" dirty="0"/>
              <a:t> for you.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21BCCD9E-76F4-6D05-66DC-B5781E2E8B8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3381AD2F-BE83-80C9-A900-CB41FC56067B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046ECDE2-14D5-0D35-0ACC-C987EEC8B87C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9F49538B-AB8C-2F2F-61C9-592B9025E624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EA37A8-21EB-049D-23DD-16F862079B24}"/>
              </a:ext>
            </a:extLst>
          </p:cNvPr>
          <p:cNvSpPr txBox="1"/>
          <p:nvPr/>
        </p:nvSpPr>
        <p:spPr>
          <a:xfrm>
            <a:off x="4593400" y="1609795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Data Class &amp; Empty Class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C17BB4-788C-CDB3-B2A2-FA635EA31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17" y="3991254"/>
            <a:ext cx="4763165" cy="1752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3178E1-128D-4918-34D4-97589B823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408" y="3991254"/>
            <a:ext cx="4363059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968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A90BD06-4C4A-78C1-AA32-BA9779526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329C06A9-7BFE-1E81-B829-CDD86DE65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985A40B0-25A2-03D2-F83C-8B1CB656A81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369679" cy="490964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r>
              <a:rPr lang="en-US" sz="1600" dirty="0"/>
              <a:t>Passing arguments to a function or class by explicitly stating the parameter name, allowing you to pass a variable number of named arguments wrapped into a dictionary.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9E1F876C-7B94-BB1E-A7F7-047BEA38BE0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3BEB424B-E55B-CFE1-8CFE-65E350BADF72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288E0EF2-619B-4120-9000-34C63FD7B6EE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4879F21D-A024-D51D-FBC8-BBFCEAFB9E3B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528517-F9FE-22E4-6F02-328BE8ECF5C8}"/>
              </a:ext>
            </a:extLst>
          </p:cNvPr>
          <p:cNvSpPr txBox="1"/>
          <p:nvPr/>
        </p:nvSpPr>
        <p:spPr>
          <a:xfrm>
            <a:off x="4593400" y="1609795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Keyword Arguments (**kwargs)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DA23D-956D-699B-73C8-DF88E9954E03}"/>
              </a:ext>
            </a:extLst>
          </p:cNvPr>
          <p:cNvSpPr txBox="1"/>
          <p:nvPr/>
        </p:nvSpPr>
        <p:spPr>
          <a:xfrm>
            <a:off x="654050" y="2992966"/>
            <a:ext cx="61595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</a:rPr>
              <a:t>**kwargs </a:t>
            </a:r>
            <a:r>
              <a:rPr lang="en-US" dirty="0">
                <a:latin typeface="Courier New" panose="02070309020205020404" pitchFamily="49" charset="0"/>
              </a:rPr>
              <a:t>allows a function to accept a variable number of keyword arguments.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</a:rPr>
              <a:t>*args </a:t>
            </a:r>
            <a:r>
              <a:rPr lang="en-US" dirty="0">
                <a:latin typeface="Courier New" panose="02070309020205020404" pitchFamily="49" charset="0"/>
              </a:rPr>
              <a:t>→ collects extra positional arguments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</a:rPr>
              <a:t>**kwargs </a:t>
            </a:r>
            <a:r>
              <a:rPr lang="en-US" dirty="0">
                <a:latin typeface="Courier New" panose="02070309020205020404" pitchFamily="49" charset="0"/>
              </a:rPr>
              <a:t>→ collects extra keyword arguments Stored as a dictionary inside the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5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01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/>
          <p:cNvSpPr txBox="1">
            <a:spLocks noGrp="1"/>
          </p:cNvSpPr>
          <p:nvPr>
            <p:ph type="subTitle" idx="1"/>
          </p:nvPr>
        </p:nvSpPr>
        <p:spPr>
          <a:xfrm>
            <a:off x="1308100" y="221440"/>
            <a:ext cx="9377067" cy="92604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1 – # Polymorphism - compute average differently 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/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529C47-0BF3-1ADB-BEB0-F55D5900C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65" y="1519410"/>
            <a:ext cx="9645302" cy="474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813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066443F8-1DAD-4161-4B9C-5DF83D8D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306EEED1-A953-9F62-F100-8CD24A9713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27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02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BC650BD-9B3B-B287-FBC0-2C71A940E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2100" y="221440"/>
            <a:ext cx="10393067" cy="37192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2 – Magic Functions (Dunder Functions) 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Operator Overloading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6320F23D-28E3-9B9E-A492-E82E947842A4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8AE72-616C-8B41-8002-AAD537540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88" y="1580122"/>
            <a:ext cx="6076824" cy="527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6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9EA9B8B3-F6B8-131F-FF18-EEA83C19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960E294D-AF08-5DED-EB0D-9BDBD54517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27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03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03D1C342-4E50-EA72-87A9-CFC073DD3A8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10000" y="184248"/>
            <a:ext cx="10393067" cy="37192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3 – Abstract Method 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B8E3340B-0BE3-3F7D-B7CF-C845771B06CA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D501BB-A43E-5F76-99A5-D1DB7DCBD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49" y="1576482"/>
            <a:ext cx="5335965" cy="528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29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870D5C28-1C24-6685-70B6-EA4D074B4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EAC533CD-50F7-E7C7-3D37-911C51748C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27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04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6DAC2956-F70B-C259-B514-48B84AA564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10000" y="184248"/>
            <a:ext cx="10393067" cy="37192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4 – *args &amp; **</a:t>
            </a:r>
            <a:r>
              <a:rPr lang="en-US" dirty="0" err="1"/>
              <a:t>kargs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477EF832-56D8-7246-B217-C649C2ABC1BA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951C49-88E3-7C2A-C164-76DD0B8BC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138" y="2485893"/>
            <a:ext cx="7953959" cy="279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807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942</Words>
  <Application>Microsoft Office PowerPoint</Application>
  <PresentationFormat>Widescreen</PresentationFormat>
  <Paragraphs>105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Arial</vt:lpstr>
      <vt:lpstr>Bebas Neue</vt:lpstr>
      <vt:lpstr>Calibri</vt:lpstr>
      <vt:lpstr>Calibri Light</vt:lpstr>
      <vt:lpstr>Comfortaa</vt:lpstr>
      <vt:lpstr>Courier New</vt:lpstr>
      <vt:lpstr>Fira Code</vt:lpstr>
      <vt:lpstr>Nunito Light</vt:lpstr>
      <vt:lpstr>PT Sans</vt:lpstr>
      <vt:lpstr>Source Code Pro</vt:lpstr>
      <vt:lpstr>Source Code Pro Medium</vt:lpstr>
      <vt:lpstr>Office Theme</vt:lpstr>
      <vt:lpstr>day 6</vt:lpstr>
      <vt:lpstr>Artificial Intelligence (Machine Learning &amp; Deep Learning)</vt:lpstr>
      <vt:lpstr>PowerPoint Presentation</vt:lpstr>
      <vt:lpstr>Contents of Day 8</vt:lpstr>
      <vt:lpstr>Today Objective - Flexibility &amp; Strict Rules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Practical exercise 01</vt:lpstr>
      <vt:lpstr>Practical exercise 02 </vt:lpstr>
      <vt:lpstr>Practical exercise 03 </vt:lpstr>
      <vt:lpstr>Practical exercise 04 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8</cp:revision>
  <dcterms:created xsi:type="dcterms:W3CDTF">2026-02-25T16:35:39Z</dcterms:created>
  <dcterms:modified xsi:type="dcterms:W3CDTF">2026-02-25T22:10:20Z</dcterms:modified>
</cp:coreProperties>
</file>