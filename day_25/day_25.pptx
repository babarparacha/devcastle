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9"/>
  </p:notesMasterIdLst>
  <p:sldIdLst>
    <p:sldId id="258" r:id="rId3"/>
    <p:sldId id="257" r:id="rId4"/>
    <p:sldId id="275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301" r:id="rId19"/>
    <p:sldId id="302" r:id="rId20"/>
    <p:sldId id="303" r:id="rId21"/>
    <p:sldId id="304" r:id="rId22"/>
    <p:sldId id="305" r:id="rId23"/>
    <p:sldId id="306" r:id="rId24"/>
    <p:sldId id="307" r:id="rId25"/>
    <p:sldId id="308" r:id="rId26"/>
    <p:sldId id="309" r:id="rId27"/>
    <p:sldId id="259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269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C99B2F-13C3-4916-9AE2-773954F7FF95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32A58F-A9F4-4EDD-94B3-A9547EE99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207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6" name="Google Shape;2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13be7910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95" name="Google Shape;295;g213be7910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4510CBC-CBD4-7FA5-5018-FDCB3BD85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D33713A-80D5-8FCF-C31F-CBCBB27531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EDEF5084-F53F-BF3C-FDE4-1399D44B45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30372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E530A6E-4ED8-E9CF-A35E-5E4D5D6A7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9B113993-6107-7FFF-7333-55BA15A75E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BBE5FD32-9CB6-EE0E-E53B-C1546F2140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360533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56E969B7-6F75-CE90-6A16-984ED28ED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C2E1510-867B-EB03-A300-F1FF4F9CD9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150C90C2-45B3-8425-5F47-78C518C557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970376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CD3114DA-BBD7-ED99-D76A-70912B434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5FCC17A-30CA-2550-B49F-03F6CB98C7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E85F304B-CCA3-9440-F724-E5B6DA9A3D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42784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3D8B0565-75A3-F535-0EA8-CC2E522A6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512EBAE-AE71-8F9C-3EDD-372B78F6BF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88FF6ED5-8345-F226-24C5-877E114CC1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471761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6CA1DB0C-82FE-C63B-FB02-FE7343001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8014724-6500-186E-0FD8-AD929F82C7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54D8D34E-7C9D-7CA7-FCF1-B146CA37E8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856024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4CB25CC-BC15-9B8A-E286-AE800567E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51D05371-8019-5763-9498-1212B58F9E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A2B6F66A-6261-792A-D532-768F2C741E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710804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7E7DDBF9-1A5A-33F1-D0CB-13C465ACF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E2A10DB2-44B2-D632-706E-C49D0AF33B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C33AAC0D-1E59-5DAF-B0EC-E6232E7B42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6080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8AE23D3-3AFA-700B-BA11-278ABED8F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15BBAB68-F5FC-8041-9989-0179F5EB1D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30AEDA3A-5C2C-0247-72B0-33E810FD3E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54222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8A2789B-3A5F-2984-7DE6-35BCAB9E7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5B830D0-39EC-C6DA-D645-890B9D7369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757FDA8D-6E02-AEEE-EFD4-34AA6DCC34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733915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272C0525-07DB-3B26-898F-57C09690B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84D538AC-FD26-FA97-8B41-167C897F37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96F463FA-6E68-A106-C48D-FEAFEE5E4E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9508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7C98704-AB38-C5CE-1952-C0899088E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F8234D1-F285-BBBF-70A9-FCBA699CF3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8EEAE7EA-73AE-4897-C74A-204FAE75DE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148983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C880650F-860B-A929-93DE-2214F7A22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2550BE7-95E6-5E35-6B78-A560FFE96B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6E45347D-6EC2-214D-4A46-8A316500A5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563285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1F74EAF-512E-545B-1219-E035D8C69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7B3A5979-972B-62D2-9C5D-FEF155034E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B03462FA-6685-7879-A088-AE9EFB0AB4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767033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9E90E776-8815-E979-51A4-A3D12AD72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6B016115-0E07-F4BC-D24B-C4FA4C9C17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A0644ECD-21BF-9BA8-11D6-E2EF56CC31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336520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C0BB458-3BE5-0878-CC6F-AEF439103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B61A955E-17B3-FACA-A27C-69B619149C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D4F30843-E15E-75D1-2ECC-A72F6BCA7A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620678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578D44AB-36DE-59C8-59FE-B79ADB027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E468273-DB0D-6CFB-4D86-5EF75A901D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33ACE41F-76CE-1C9D-4E61-24574D90B5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045431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32533ED8-A19E-3C1D-E238-BE2F564E7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6216B74-07A8-3103-2057-1C2C504B10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BD321187-28B2-F976-48E6-F43F186DBE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768966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6266D6F-821B-F616-E1A1-588D9E71B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EFB8CC54-157E-2335-B763-0BAF37FD16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5419230F-DAFB-F7C1-8C46-07396AFE8C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577730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73F6FFB6-D5DD-3312-E448-7771105B7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77BE4343-2CC7-50BC-EADB-89449244CF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2D106C40-2EA3-3D34-9B66-5EC6D31892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5596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80DEDFDA-8E45-EB32-BC0B-0328E9ECB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33FE1F80-FDE1-CB83-49B6-20B8D89D4A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658AB297-99FA-B996-EA45-039F4F237C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517165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88F5A01-CC2F-7EB9-CA6D-6FCF69411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6E79AAF8-289E-727D-E260-67F864D545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426CAA68-8A83-5F6A-0669-EAB0C698D7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9178771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3B9D76F-BCFD-8A4E-A6BD-573B65539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D193BC2-C038-A9EC-E722-38C11AC27D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A4DC1DFC-806B-0DDA-2EB1-ABC3435830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4799626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50" name="Google Shape;350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2047651" y="3021933"/>
            <a:ext cx="8847600" cy="160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1317484" y="1800733"/>
            <a:ext cx="2202800" cy="1221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773533" y="4625133"/>
            <a:ext cx="8058400" cy="37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6" name="Google Shape;16;p3"/>
          <p:cNvGrpSpPr/>
          <p:nvPr/>
        </p:nvGrpSpPr>
        <p:grpSpPr>
          <a:xfrm>
            <a:off x="11085100" y="470668"/>
            <a:ext cx="630800" cy="248667"/>
            <a:chOff x="7059675" y="514525"/>
            <a:chExt cx="473100" cy="186500"/>
          </a:xfrm>
        </p:grpSpPr>
        <p:cxnSp>
          <p:nvCxnSpPr>
            <p:cNvPr id="17" name="Google Shape;17;p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8;p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78688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" name="Google Shape;22;p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3" name="Google Shape;23;p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37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23312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600"/>
            </a:lvl1pPr>
            <a:lvl2pPr marL="1219140" lvl="1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828709" lvl="2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2438278" lvl="3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3047848" lvl="4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3657418" lvl="5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4266987" lvl="6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4876557" lvl="7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5486126" lvl="8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040566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0" name="Google Shape;30;p5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31" name="Google Shape;31;p5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2;p5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3;p5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705672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2"/>
          </p:nvPr>
        </p:nvSpPr>
        <p:spPr>
          <a:xfrm>
            <a:off x="211426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3"/>
          </p:nvPr>
        </p:nvSpPr>
        <p:spPr>
          <a:xfrm>
            <a:off x="6651249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4"/>
          </p:nvPr>
        </p:nvSpPr>
        <p:spPr>
          <a:xfrm>
            <a:off x="1708483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84302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1" name="Google Shape;41;p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2" name="Google Shape;42;p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43;p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672967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6" name="Google Shape;56;p8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57" name="Google Shape;57;p8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8;p8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9;p8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5807000" y="1742800"/>
            <a:ext cx="5434000" cy="33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884903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-33" y="-18300"/>
            <a:ext cx="12192000" cy="687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1" name="Google Shape;71;p10"/>
          <p:cNvSpPr txBox="1">
            <a:spLocks noGrp="1"/>
          </p:cNvSpPr>
          <p:nvPr>
            <p:ph type="title"/>
          </p:nvPr>
        </p:nvSpPr>
        <p:spPr>
          <a:xfrm>
            <a:off x="960000" y="5352600"/>
            <a:ext cx="10272000" cy="763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7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248036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 hasCustomPrompt="1"/>
          </p:nvPr>
        </p:nvSpPr>
        <p:spPr>
          <a:xfrm>
            <a:off x="1360817" y="1780133"/>
            <a:ext cx="9470400" cy="210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74" name="Google Shape;74;p11"/>
          <p:cNvSpPr txBox="1">
            <a:spLocks noGrp="1"/>
          </p:cNvSpPr>
          <p:nvPr>
            <p:ph type="subTitle" idx="1"/>
          </p:nvPr>
        </p:nvSpPr>
        <p:spPr>
          <a:xfrm>
            <a:off x="1360784" y="4125967"/>
            <a:ext cx="9470400" cy="6204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5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5" name="Google Shape;75;p1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6" name="Google Shape;76;p1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77" name="Google Shape;77;p1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" name="Google Shape;78;p1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" name="Google Shape;79;p1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6356967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74051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3" name="Google Shape;83;p13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84" name="Google Shape;84;p13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8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3296000" y="244393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2"/>
          </p:nvPr>
        </p:nvSpPr>
        <p:spPr>
          <a:xfrm>
            <a:off x="4234001" y="377790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3"/>
          </p:nvPr>
        </p:nvSpPr>
        <p:spPr>
          <a:xfrm>
            <a:off x="4672036" y="5112331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4" hasCustomPrompt="1"/>
          </p:nvPr>
        </p:nvSpPr>
        <p:spPr>
          <a:xfrm>
            <a:off x="2493200" y="19607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5" hasCustomPrompt="1"/>
          </p:nvPr>
        </p:nvSpPr>
        <p:spPr>
          <a:xfrm>
            <a:off x="3431200" y="33099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6" hasCustomPrompt="1"/>
          </p:nvPr>
        </p:nvSpPr>
        <p:spPr>
          <a:xfrm>
            <a:off x="3855033" y="4659100"/>
            <a:ext cx="8028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7"/>
          </p:nvPr>
        </p:nvSpPr>
        <p:spPr>
          <a:xfrm>
            <a:off x="3296000" y="19607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8"/>
          </p:nvPr>
        </p:nvSpPr>
        <p:spPr>
          <a:xfrm>
            <a:off x="4234000" y="33099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9"/>
          </p:nvPr>
        </p:nvSpPr>
        <p:spPr>
          <a:xfrm>
            <a:off x="4672033" y="46591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373016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3583367" y="4619000"/>
            <a:ext cx="7658000" cy="8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1"/>
          </p:nvPr>
        </p:nvSpPr>
        <p:spPr>
          <a:xfrm>
            <a:off x="3583219" y="2134600"/>
            <a:ext cx="7658000" cy="248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1" name="Google Shape;101;p14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2" name="Google Shape;102;p14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" name="Google Shape;103;p14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14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7653953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7" name="Google Shape;107;p15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8" name="Google Shape;108;p15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" name="Google Shape;109;p15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" name="Google Shape;110;p15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1" name="Google Shape;111;p15"/>
          <p:cNvSpPr txBox="1">
            <a:spLocks noGrp="1"/>
          </p:cNvSpPr>
          <p:nvPr>
            <p:ph type="title"/>
          </p:nvPr>
        </p:nvSpPr>
        <p:spPr>
          <a:xfrm>
            <a:off x="950967" y="714200"/>
            <a:ext cx="4221200" cy="317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2" name="Google Shape;112;p15"/>
          <p:cNvSpPr txBox="1">
            <a:spLocks noGrp="1"/>
          </p:cNvSpPr>
          <p:nvPr>
            <p:ph type="subTitle" idx="1"/>
          </p:nvPr>
        </p:nvSpPr>
        <p:spPr>
          <a:xfrm>
            <a:off x="950967" y="3885400"/>
            <a:ext cx="4221200" cy="22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3" name="Google Shape;113;p15"/>
          <p:cNvSpPr>
            <a:spLocks noGrp="1"/>
          </p:cNvSpPr>
          <p:nvPr>
            <p:ph type="pic" idx="2"/>
          </p:nvPr>
        </p:nvSpPr>
        <p:spPr>
          <a:xfrm>
            <a:off x="6377667" y="709417"/>
            <a:ext cx="3880000" cy="543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218112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" name="Google Shape;116;p16"/>
          <p:cNvSpPr txBox="1">
            <a:spLocks noGrp="1"/>
          </p:cNvSpPr>
          <p:nvPr>
            <p:ph type="title"/>
          </p:nvPr>
        </p:nvSpPr>
        <p:spPr>
          <a:xfrm>
            <a:off x="950967" y="1870467"/>
            <a:ext cx="4332000" cy="141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7" name="Google Shape;117;p16"/>
          <p:cNvSpPr txBox="1">
            <a:spLocks noGrp="1"/>
          </p:cNvSpPr>
          <p:nvPr>
            <p:ph type="subTitle" idx="1"/>
          </p:nvPr>
        </p:nvSpPr>
        <p:spPr>
          <a:xfrm>
            <a:off x="950967" y="3288067"/>
            <a:ext cx="4332000" cy="18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12076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/>
          <p:nvPr/>
        </p:nvSpPr>
        <p:spPr>
          <a:xfrm>
            <a:off x="0" y="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6449600" y="2001600"/>
            <a:ext cx="4791200" cy="14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subTitle" idx="1"/>
          </p:nvPr>
        </p:nvSpPr>
        <p:spPr>
          <a:xfrm>
            <a:off x="6449828" y="3416000"/>
            <a:ext cx="4791200" cy="14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849317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24" name="Google Shape;124;p18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25" name="Google Shape;125;p18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" name="Google Shape;126;p18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subTitle" idx="1"/>
          </p:nvPr>
        </p:nvSpPr>
        <p:spPr>
          <a:xfrm>
            <a:off x="6985135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subTitle" idx="2"/>
          </p:nvPr>
        </p:nvSpPr>
        <p:spPr>
          <a:xfrm>
            <a:off x="2276900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1" name="Google Shape;131;p18"/>
          <p:cNvSpPr txBox="1">
            <a:spLocks noGrp="1"/>
          </p:cNvSpPr>
          <p:nvPr>
            <p:ph type="subTitle" idx="3"/>
          </p:nvPr>
        </p:nvSpPr>
        <p:spPr>
          <a:xfrm>
            <a:off x="1882268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subTitle" idx="4"/>
          </p:nvPr>
        </p:nvSpPr>
        <p:spPr>
          <a:xfrm>
            <a:off x="6590509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935239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35" name="Google Shape;135;p19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36" name="Google Shape;136;p19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" name="Google Shape;137;p19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9" name="Google Shape;139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1"/>
          </p:nvPr>
        </p:nvSpPr>
        <p:spPr>
          <a:xfrm>
            <a:off x="642919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subTitle" idx="2"/>
          </p:nvPr>
        </p:nvSpPr>
        <p:spPr>
          <a:xfrm>
            <a:off x="85866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361005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44" name="Google Shape;144;p20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45" name="Google Shape;145;p20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" name="Google Shape;146;p20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" name="Google Shape;147;p20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48" name="Google Shape;148;p20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9" name="Google Shape;149;p20"/>
          <p:cNvSpPr txBox="1">
            <a:spLocks noGrp="1"/>
          </p:cNvSpPr>
          <p:nvPr>
            <p:ph type="subTitle" idx="1"/>
          </p:nvPr>
        </p:nvSpPr>
        <p:spPr>
          <a:xfrm>
            <a:off x="1330267" y="279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0" name="Google Shape;150;p20"/>
          <p:cNvSpPr txBox="1">
            <a:spLocks noGrp="1"/>
          </p:cNvSpPr>
          <p:nvPr>
            <p:ph type="subTitle" idx="2"/>
          </p:nvPr>
        </p:nvSpPr>
        <p:spPr>
          <a:xfrm>
            <a:off x="4697316" y="367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1" name="Google Shape;151;p20"/>
          <p:cNvSpPr txBox="1">
            <a:spLocks noGrp="1"/>
          </p:cNvSpPr>
          <p:nvPr>
            <p:ph type="subTitle" idx="3"/>
          </p:nvPr>
        </p:nvSpPr>
        <p:spPr>
          <a:xfrm>
            <a:off x="8068311" y="43234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2" name="Google Shape;152;p20"/>
          <p:cNvSpPr txBox="1">
            <a:spLocks noGrp="1"/>
          </p:cNvSpPr>
          <p:nvPr>
            <p:ph type="subTitle" idx="4"/>
          </p:nvPr>
        </p:nvSpPr>
        <p:spPr>
          <a:xfrm>
            <a:off x="960000" y="191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subTitle" idx="5"/>
          </p:nvPr>
        </p:nvSpPr>
        <p:spPr>
          <a:xfrm>
            <a:off x="4389396" y="279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subTitle" idx="6"/>
          </p:nvPr>
        </p:nvSpPr>
        <p:spPr>
          <a:xfrm>
            <a:off x="7822725" y="34434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306908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57" name="Google Shape;157;p21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58" name="Google Shape;158;p21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" name="Google Shape;159;p21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" name="Google Shape;160;p21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1" name="Google Shape;161;p21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2" name="Google Shape;162;p21"/>
          <p:cNvSpPr txBox="1">
            <a:spLocks noGrp="1"/>
          </p:cNvSpPr>
          <p:nvPr>
            <p:ph type="subTitle" idx="1"/>
          </p:nvPr>
        </p:nvSpPr>
        <p:spPr>
          <a:xfrm>
            <a:off x="4667467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subTitle" idx="2"/>
          </p:nvPr>
        </p:nvSpPr>
        <p:spPr>
          <a:xfrm>
            <a:off x="8594388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subTitle" idx="3"/>
          </p:nvPr>
        </p:nvSpPr>
        <p:spPr>
          <a:xfrm>
            <a:off x="4667467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5" name="Google Shape;165;p21"/>
          <p:cNvSpPr txBox="1">
            <a:spLocks noGrp="1"/>
          </p:cNvSpPr>
          <p:nvPr>
            <p:ph type="subTitle" idx="4"/>
          </p:nvPr>
        </p:nvSpPr>
        <p:spPr>
          <a:xfrm>
            <a:off x="8594388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subTitle" idx="5"/>
          </p:nvPr>
        </p:nvSpPr>
        <p:spPr>
          <a:xfrm>
            <a:off x="42592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subTitle" idx="6"/>
          </p:nvPr>
        </p:nvSpPr>
        <p:spPr>
          <a:xfrm>
            <a:off x="42592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subTitle" idx="7"/>
          </p:nvPr>
        </p:nvSpPr>
        <p:spPr>
          <a:xfrm>
            <a:off x="81861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subTitle" idx="8"/>
          </p:nvPr>
        </p:nvSpPr>
        <p:spPr>
          <a:xfrm>
            <a:off x="81861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752964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2" name="Google Shape;172;p22"/>
          <p:cNvSpPr txBox="1">
            <a:spLocks noGrp="1"/>
          </p:cNvSpPr>
          <p:nvPr>
            <p:ph type="subTitle" idx="1"/>
          </p:nvPr>
        </p:nvSpPr>
        <p:spPr>
          <a:xfrm>
            <a:off x="1859867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3" name="Google Shape;173;p22"/>
          <p:cNvSpPr txBox="1">
            <a:spLocks noGrp="1"/>
          </p:cNvSpPr>
          <p:nvPr>
            <p:ph type="subTitle" idx="2"/>
          </p:nvPr>
        </p:nvSpPr>
        <p:spPr>
          <a:xfrm>
            <a:off x="5153000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4" name="Google Shape;174;p22"/>
          <p:cNvSpPr txBox="1">
            <a:spLocks noGrp="1"/>
          </p:cNvSpPr>
          <p:nvPr>
            <p:ph type="subTitle" idx="3"/>
          </p:nvPr>
        </p:nvSpPr>
        <p:spPr>
          <a:xfrm>
            <a:off x="1859867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5" name="Google Shape;175;p22"/>
          <p:cNvSpPr txBox="1">
            <a:spLocks noGrp="1"/>
          </p:cNvSpPr>
          <p:nvPr>
            <p:ph type="subTitle" idx="4"/>
          </p:nvPr>
        </p:nvSpPr>
        <p:spPr>
          <a:xfrm>
            <a:off x="5153000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subTitle" idx="5"/>
          </p:nvPr>
        </p:nvSpPr>
        <p:spPr>
          <a:xfrm>
            <a:off x="8446132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subTitle" idx="6"/>
          </p:nvPr>
        </p:nvSpPr>
        <p:spPr>
          <a:xfrm>
            <a:off x="8446132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8" name="Google Shape;178;p22"/>
          <p:cNvSpPr txBox="1">
            <a:spLocks noGrp="1"/>
          </p:cNvSpPr>
          <p:nvPr>
            <p:ph type="subTitle" idx="7"/>
          </p:nvPr>
        </p:nvSpPr>
        <p:spPr>
          <a:xfrm>
            <a:off x="1484069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9" name="Google Shape;179;p22"/>
          <p:cNvSpPr txBox="1">
            <a:spLocks noGrp="1"/>
          </p:cNvSpPr>
          <p:nvPr>
            <p:ph type="subTitle" idx="8"/>
          </p:nvPr>
        </p:nvSpPr>
        <p:spPr>
          <a:xfrm>
            <a:off x="4777200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0" name="Google Shape;180;p22"/>
          <p:cNvSpPr txBox="1">
            <a:spLocks noGrp="1"/>
          </p:cNvSpPr>
          <p:nvPr>
            <p:ph type="subTitle" idx="9"/>
          </p:nvPr>
        </p:nvSpPr>
        <p:spPr>
          <a:xfrm>
            <a:off x="8070331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1" name="Google Shape;181;p22"/>
          <p:cNvSpPr txBox="1">
            <a:spLocks noGrp="1"/>
          </p:cNvSpPr>
          <p:nvPr>
            <p:ph type="subTitle" idx="13"/>
          </p:nvPr>
        </p:nvSpPr>
        <p:spPr>
          <a:xfrm>
            <a:off x="1484069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2" name="Google Shape;182;p22"/>
          <p:cNvSpPr txBox="1">
            <a:spLocks noGrp="1"/>
          </p:cNvSpPr>
          <p:nvPr>
            <p:ph type="subTitle" idx="14"/>
          </p:nvPr>
        </p:nvSpPr>
        <p:spPr>
          <a:xfrm>
            <a:off x="4777200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3" name="Google Shape;183;p22"/>
          <p:cNvSpPr txBox="1">
            <a:spLocks noGrp="1"/>
          </p:cNvSpPr>
          <p:nvPr>
            <p:ph type="subTitle" idx="15"/>
          </p:nvPr>
        </p:nvSpPr>
        <p:spPr>
          <a:xfrm>
            <a:off x="8070331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922488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86" name="Google Shape;186;p23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87" name="Google Shape;187;p2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2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189;p2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0" name="Google Shape;190;p23"/>
          <p:cNvSpPr txBox="1">
            <a:spLocks noGrp="1"/>
          </p:cNvSpPr>
          <p:nvPr>
            <p:ph type="title" hasCustomPrompt="1"/>
          </p:nvPr>
        </p:nvSpPr>
        <p:spPr>
          <a:xfrm>
            <a:off x="5402633" y="84076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1" name="Google Shape;191;p23"/>
          <p:cNvSpPr txBox="1">
            <a:spLocks noGrp="1"/>
          </p:cNvSpPr>
          <p:nvPr>
            <p:ph type="subTitle" idx="1"/>
          </p:nvPr>
        </p:nvSpPr>
        <p:spPr>
          <a:xfrm>
            <a:off x="5878073" y="173422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2" name="Google Shape;192;p23"/>
          <p:cNvSpPr txBox="1">
            <a:spLocks noGrp="1"/>
          </p:cNvSpPr>
          <p:nvPr>
            <p:ph type="title" idx="2" hasCustomPrompt="1"/>
          </p:nvPr>
        </p:nvSpPr>
        <p:spPr>
          <a:xfrm>
            <a:off x="5402633" y="264378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3" name="Google Shape;193;p23"/>
          <p:cNvSpPr txBox="1">
            <a:spLocks noGrp="1"/>
          </p:cNvSpPr>
          <p:nvPr>
            <p:ph type="subTitle" idx="3"/>
          </p:nvPr>
        </p:nvSpPr>
        <p:spPr>
          <a:xfrm>
            <a:off x="5878073" y="353724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4" name="Google Shape;194;p23"/>
          <p:cNvSpPr txBox="1">
            <a:spLocks noGrp="1"/>
          </p:cNvSpPr>
          <p:nvPr>
            <p:ph type="title" idx="4" hasCustomPrompt="1"/>
          </p:nvPr>
        </p:nvSpPr>
        <p:spPr>
          <a:xfrm>
            <a:off x="5402633" y="444680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5" name="Google Shape;195;p23"/>
          <p:cNvSpPr txBox="1">
            <a:spLocks noGrp="1"/>
          </p:cNvSpPr>
          <p:nvPr>
            <p:ph type="subTitle" idx="5"/>
          </p:nvPr>
        </p:nvSpPr>
        <p:spPr>
          <a:xfrm>
            <a:off x="5878073" y="534026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448289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98" name="Google Shape;198;p2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99" name="Google Shape;199;p2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" name="Google Shape;200;p2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" name="Google Shape;201;p2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02" name="Google Shape;202;p24"/>
          <p:cNvSpPr txBox="1">
            <a:spLocks noGrp="1"/>
          </p:cNvSpPr>
          <p:nvPr>
            <p:ph type="title" hasCustomPrompt="1"/>
          </p:nvPr>
        </p:nvSpPr>
        <p:spPr>
          <a:xfrm>
            <a:off x="1179800" y="25209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3" name="Google Shape;203;p24"/>
          <p:cNvSpPr txBox="1">
            <a:spLocks noGrp="1"/>
          </p:cNvSpPr>
          <p:nvPr>
            <p:ph type="subTitle" idx="1"/>
          </p:nvPr>
        </p:nvSpPr>
        <p:spPr>
          <a:xfrm>
            <a:off x="1307167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4" name="Google Shape;204;p24"/>
          <p:cNvSpPr txBox="1">
            <a:spLocks noGrp="1"/>
          </p:cNvSpPr>
          <p:nvPr>
            <p:ph type="subTitle" idx="2"/>
          </p:nvPr>
        </p:nvSpPr>
        <p:spPr>
          <a:xfrm>
            <a:off x="960000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5" name="Google Shape;205;p24"/>
          <p:cNvSpPr txBox="1">
            <a:spLocks noGrp="1"/>
          </p:cNvSpPr>
          <p:nvPr>
            <p:ph type="title" idx="3" hasCustomPrompt="1"/>
          </p:nvPr>
        </p:nvSpPr>
        <p:spPr>
          <a:xfrm>
            <a:off x="4787984" y="2521267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6" name="Google Shape;206;p24"/>
          <p:cNvSpPr txBox="1">
            <a:spLocks noGrp="1"/>
          </p:cNvSpPr>
          <p:nvPr>
            <p:ph type="subTitle" idx="4"/>
          </p:nvPr>
        </p:nvSpPr>
        <p:spPr>
          <a:xfrm>
            <a:off x="4785591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7" name="Google Shape;207;p24"/>
          <p:cNvSpPr txBox="1">
            <a:spLocks noGrp="1"/>
          </p:cNvSpPr>
          <p:nvPr>
            <p:ph type="subTitle" idx="5"/>
          </p:nvPr>
        </p:nvSpPr>
        <p:spPr>
          <a:xfrm>
            <a:off x="4560001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8" name="Google Shape;208;p24"/>
          <p:cNvSpPr txBox="1">
            <a:spLocks noGrp="1"/>
          </p:cNvSpPr>
          <p:nvPr>
            <p:ph type="title" idx="6" hasCustomPrompt="1"/>
          </p:nvPr>
        </p:nvSpPr>
        <p:spPr>
          <a:xfrm>
            <a:off x="8395700" y="25214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9" name="Google Shape;209;p24"/>
          <p:cNvSpPr txBox="1">
            <a:spLocks noGrp="1"/>
          </p:cNvSpPr>
          <p:nvPr>
            <p:ph type="subTitle" idx="7"/>
          </p:nvPr>
        </p:nvSpPr>
        <p:spPr>
          <a:xfrm>
            <a:off x="8264015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0" name="Google Shape;210;p24"/>
          <p:cNvSpPr txBox="1">
            <a:spLocks noGrp="1"/>
          </p:cNvSpPr>
          <p:nvPr>
            <p:ph type="subTitle" idx="8"/>
          </p:nvPr>
        </p:nvSpPr>
        <p:spPr>
          <a:xfrm>
            <a:off x="8160003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1" name="Google Shape;211;p24"/>
          <p:cNvSpPr txBox="1">
            <a:spLocks noGrp="1"/>
          </p:cNvSpPr>
          <p:nvPr>
            <p:ph type="title" idx="9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368403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18" name="Google Shape;218;p2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19" name="Google Shape;219;p2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1187346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/>
          <p:nvPr/>
        </p:nvSpPr>
        <p:spPr>
          <a:xfrm>
            <a:off x="5899667" y="-2400"/>
            <a:ext cx="62924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4" name="Google Shape;224;p27"/>
          <p:cNvGrpSpPr/>
          <p:nvPr/>
        </p:nvGrpSpPr>
        <p:grpSpPr>
          <a:xfrm>
            <a:off x="10924156" y="595001"/>
            <a:ext cx="553275" cy="248667"/>
            <a:chOff x="7059675" y="514525"/>
            <a:chExt cx="473100" cy="186500"/>
          </a:xfrm>
        </p:grpSpPr>
        <p:cxnSp>
          <p:nvCxnSpPr>
            <p:cNvPr id="225" name="Google Shape;225;p27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" name="Google Shape;226;p27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" name="Google Shape;227;p27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9241422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647333" y="1678467"/>
            <a:ext cx="7730000" cy="27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647333" y="4396867"/>
            <a:ext cx="7730000" cy="587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314538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3" name="Google Shape;63;p9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64" name="Google Shape;64;p9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" name="Google Shape;65;p9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9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5630800" y="1597933"/>
            <a:ext cx="5608000" cy="261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1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ubTitle" idx="1"/>
          </p:nvPr>
        </p:nvSpPr>
        <p:spPr>
          <a:xfrm>
            <a:off x="5630800" y="4217133"/>
            <a:ext cx="5608000" cy="1421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9931279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8" name="Google Shape;48;p7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9" name="Google Shape;49;p7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50;p7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ubTitle" idx="1"/>
          </p:nvPr>
        </p:nvSpPr>
        <p:spPr>
          <a:xfrm>
            <a:off x="4620300" y="2038667"/>
            <a:ext cx="6620800" cy="41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20853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7028760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 sz="5400" dirty="0"/>
              <a:t>Artificial Intelligence</a:t>
            </a:r>
            <a:br>
              <a:rPr lang="en-US" sz="6000" dirty="0"/>
            </a:br>
            <a:r>
              <a:rPr lang="en" sz="2800" dirty="0">
                <a:solidFill>
                  <a:schemeClr val="accent4"/>
                </a:solidFill>
              </a:rPr>
              <a:t>(Machine Learning &amp; Deep Learning)</a:t>
            </a:r>
            <a:endParaRPr sz="2800" dirty="0"/>
          </a:p>
        </p:txBody>
      </p:sp>
      <p:sp>
        <p:nvSpPr>
          <p:cNvPr id="239" name="Google Shape;239;p31"/>
          <p:cNvSpPr txBox="1">
            <a:spLocks noGrp="1"/>
          </p:cNvSpPr>
          <p:nvPr>
            <p:ph type="subTitle" idx="1"/>
          </p:nvPr>
        </p:nvSpPr>
        <p:spPr>
          <a:xfrm>
            <a:off x="3217849" y="4473517"/>
            <a:ext cx="8487720" cy="5670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867" dirty="0"/>
              <a:t>Introduction to NLP</a:t>
            </a:r>
          </a:p>
        </p:txBody>
      </p:sp>
      <p:sp>
        <p:nvSpPr>
          <p:cNvPr id="240" name="Google Shape;240;p31"/>
          <p:cNvSpPr txBox="1"/>
          <p:nvPr/>
        </p:nvSpPr>
        <p:spPr>
          <a:xfrm>
            <a:off x="2796400" y="761333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E81A81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E81A81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1" name="Google Shape;241;p31"/>
          <p:cNvSpPr txBox="1"/>
          <p:nvPr/>
        </p:nvSpPr>
        <p:spPr>
          <a:xfrm>
            <a:off x="11450667" y="5335900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4CAE97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4CAE97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2" name="Google Shape;242;p31"/>
          <p:cNvSpPr txBox="1"/>
          <p:nvPr/>
        </p:nvSpPr>
        <p:spPr>
          <a:xfrm>
            <a:off x="3796500" y="5477887"/>
            <a:ext cx="1930000" cy="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94EE6B"/>
                </a:solidFill>
                <a:effectLst/>
                <a:uLnTx/>
                <a:uFillTx/>
                <a:latin typeface="Fira Code"/>
                <a:ea typeface="Fira Code"/>
                <a:cs typeface="Fira Code"/>
                <a:sym typeface="Fira Code"/>
              </a:rPr>
              <a:t>...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94EE6B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grpSp>
        <p:nvGrpSpPr>
          <p:cNvPr id="243" name="Google Shape;243;p3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244" name="Google Shape;244;p3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" name="Google Shape;245;p3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" name="Google Shape;246;p3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7" name="Google Shape;247;p31"/>
          <p:cNvGrpSpPr/>
          <p:nvPr/>
        </p:nvGrpSpPr>
        <p:grpSpPr>
          <a:xfrm>
            <a:off x="340175" y="928586"/>
            <a:ext cx="3170543" cy="5210084"/>
            <a:chOff x="5" y="747463"/>
            <a:chExt cx="2377907" cy="3907563"/>
          </a:xfrm>
        </p:grpSpPr>
        <p:sp>
          <p:nvSpPr>
            <p:cNvPr id="248" name="Google Shape;248;p31"/>
            <p:cNvSpPr/>
            <p:nvPr/>
          </p:nvSpPr>
          <p:spPr>
            <a:xfrm>
              <a:off x="5" y="7560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49" name="Google Shape;249;p31"/>
            <p:cNvSpPr/>
            <p:nvPr/>
          </p:nvSpPr>
          <p:spPr>
            <a:xfrm>
              <a:off x="486329" y="7474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0" name="Google Shape;250;p31"/>
            <p:cNvSpPr/>
            <p:nvPr/>
          </p:nvSpPr>
          <p:spPr>
            <a:xfrm>
              <a:off x="5" y="10682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1" name="Google Shape;251;p31"/>
            <p:cNvSpPr/>
            <p:nvPr/>
          </p:nvSpPr>
          <p:spPr>
            <a:xfrm>
              <a:off x="5" y="1394975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2" name="Google Shape;252;p31"/>
            <p:cNvSpPr/>
            <p:nvPr/>
          </p:nvSpPr>
          <p:spPr>
            <a:xfrm>
              <a:off x="5" y="17217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3" name="Google Shape;253;p31"/>
            <p:cNvSpPr/>
            <p:nvPr/>
          </p:nvSpPr>
          <p:spPr>
            <a:xfrm>
              <a:off x="434858" y="1721713"/>
              <a:ext cx="454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4" name="Google Shape;254;p31"/>
            <p:cNvSpPr/>
            <p:nvPr/>
          </p:nvSpPr>
          <p:spPr>
            <a:xfrm>
              <a:off x="934654" y="1721722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5" name="Google Shape;255;p31"/>
            <p:cNvSpPr/>
            <p:nvPr/>
          </p:nvSpPr>
          <p:spPr>
            <a:xfrm>
              <a:off x="5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6" name="Google Shape;256;p31"/>
            <p:cNvSpPr/>
            <p:nvPr/>
          </p:nvSpPr>
          <p:spPr>
            <a:xfrm>
              <a:off x="5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7" name="Google Shape;257;p31"/>
            <p:cNvSpPr/>
            <p:nvPr/>
          </p:nvSpPr>
          <p:spPr>
            <a:xfrm>
              <a:off x="5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8" name="Google Shape;258;p31"/>
            <p:cNvSpPr/>
            <p:nvPr/>
          </p:nvSpPr>
          <p:spPr>
            <a:xfrm>
              <a:off x="5" y="29929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9" name="Google Shape;259;p31"/>
            <p:cNvSpPr/>
            <p:nvPr/>
          </p:nvSpPr>
          <p:spPr>
            <a:xfrm>
              <a:off x="13726" y="37739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0" name="Google Shape;260;p31"/>
            <p:cNvSpPr/>
            <p:nvPr/>
          </p:nvSpPr>
          <p:spPr>
            <a:xfrm>
              <a:off x="434858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1" name="Google Shape;261;p31"/>
            <p:cNvSpPr/>
            <p:nvPr/>
          </p:nvSpPr>
          <p:spPr>
            <a:xfrm>
              <a:off x="395919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2" name="Google Shape;262;p31"/>
            <p:cNvSpPr/>
            <p:nvPr/>
          </p:nvSpPr>
          <p:spPr>
            <a:xfrm>
              <a:off x="434858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3" name="Google Shape;263;p31"/>
            <p:cNvSpPr/>
            <p:nvPr/>
          </p:nvSpPr>
          <p:spPr>
            <a:xfrm>
              <a:off x="434858" y="300995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4" name="Google Shape;264;p31"/>
            <p:cNvSpPr/>
            <p:nvPr/>
          </p:nvSpPr>
          <p:spPr>
            <a:xfrm>
              <a:off x="434858" y="33358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5" name="Google Shape;265;p31"/>
            <p:cNvSpPr/>
            <p:nvPr/>
          </p:nvSpPr>
          <p:spPr>
            <a:xfrm>
              <a:off x="838550" y="2032296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6" name="Google Shape;266;p31"/>
            <p:cNvSpPr/>
            <p:nvPr/>
          </p:nvSpPr>
          <p:spPr>
            <a:xfrm>
              <a:off x="838550" y="2375145"/>
              <a:ext cx="65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7" name="Google Shape;267;p31"/>
            <p:cNvSpPr/>
            <p:nvPr/>
          </p:nvSpPr>
          <p:spPr>
            <a:xfrm>
              <a:off x="861466" y="2684069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8" name="Google Shape;268;p31"/>
            <p:cNvSpPr/>
            <p:nvPr/>
          </p:nvSpPr>
          <p:spPr>
            <a:xfrm>
              <a:off x="861466" y="3028567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9" name="Google Shape;269;p31"/>
            <p:cNvSpPr/>
            <p:nvPr/>
          </p:nvSpPr>
          <p:spPr>
            <a:xfrm>
              <a:off x="861466" y="3335841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0" name="Google Shape;270;p31"/>
            <p:cNvSpPr/>
            <p:nvPr/>
          </p:nvSpPr>
          <p:spPr>
            <a:xfrm>
              <a:off x="1360349" y="2032296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1" name="Google Shape;271;p31"/>
            <p:cNvSpPr/>
            <p:nvPr/>
          </p:nvSpPr>
          <p:spPr>
            <a:xfrm>
              <a:off x="1573836" y="2358182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2" name="Google Shape;272;p31"/>
            <p:cNvSpPr/>
            <p:nvPr/>
          </p:nvSpPr>
          <p:spPr>
            <a:xfrm>
              <a:off x="1697856" y="2684094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3" name="Google Shape;273;p31"/>
            <p:cNvSpPr/>
            <p:nvPr/>
          </p:nvSpPr>
          <p:spPr>
            <a:xfrm>
              <a:off x="1697856" y="3335891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13726" y="401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395919" y="42965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6" name="Google Shape;276;p31"/>
            <p:cNvSpPr/>
            <p:nvPr/>
          </p:nvSpPr>
          <p:spPr>
            <a:xfrm>
              <a:off x="875884" y="4296538"/>
              <a:ext cx="385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7" name="Google Shape;277;p31"/>
            <p:cNvSpPr/>
            <p:nvPr/>
          </p:nvSpPr>
          <p:spPr>
            <a:xfrm>
              <a:off x="1360349" y="4296538"/>
              <a:ext cx="4869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8" name="Google Shape;278;p31"/>
            <p:cNvSpPr/>
            <p:nvPr/>
          </p:nvSpPr>
          <p:spPr>
            <a:xfrm>
              <a:off x="1912083" y="4296538"/>
              <a:ext cx="17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9" name="Google Shape;279;p31"/>
            <p:cNvSpPr/>
            <p:nvPr/>
          </p:nvSpPr>
          <p:spPr>
            <a:xfrm>
              <a:off x="395919" y="4505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875884" y="4505063"/>
              <a:ext cx="6135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1" name="Google Shape;281;p31"/>
            <p:cNvSpPr/>
            <p:nvPr/>
          </p:nvSpPr>
          <p:spPr>
            <a:xfrm>
              <a:off x="1570204" y="4505063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2" name="Google Shape;282;p31"/>
            <p:cNvSpPr/>
            <p:nvPr/>
          </p:nvSpPr>
          <p:spPr>
            <a:xfrm>
              <a:off x="894657" y="75937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3" name="Google Shape;283;p31"/>
            <p:cNvSpPr/>
            <p:nvPr/>
          </p:nvSpPr>
          <p:spPr>
            <a:xfrm>
              <a:off x="486348" y="10682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4" name="Google Shape;284;p31"/>
            <p:cNvSpPr/>
            <p:nvPr/>
          </p:nvSpPr>
          <p:spPr>
            <a:xfrm>
              <a:off x="1169818" y="1064149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5" name="Google Shape;285;p31"/>
            <p:cNvSpPr/>
            <p:nvPr/>
          </p:nvSpPr>
          <p:spPr>
            <a:xfrm>
              <a:off x="486342" y="1395013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6" name="Google Shape;286;p31"/>
            <p:cNvSpPr/>
            <p:nvPr/>
          </p:nvSpPr>
          <p:spPr>
            <a:xfrm>
              <a:off x="1254423" y="1719659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7" name="Google Shape;287;p31"/>
            <p:cNvSpPr/>
            <p:nvPr/>
          </p:nvSpPr>
          <p:spPr>
            <a:xfrm>
              <a:off x="1697859" y="3028567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8" name="Google Shape;288;p31"/>
            <p:cNvSpPr/>
            <p:nvPr/>
          </p:nvSpPr>
          <p:spPr>
            <a:xfrm>
              <a:off x="1840717" y="2032296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9" name="Google Shape;289;p31"/>
            <p:cNvSpPr/>
            <p:nvPr/>
          </p:nvSpPr>
          <p:spPr>
            <a:xfrm>
              <a:off x="2037810" y="2684069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0" name="Google Shape;290;p31"/>
            <p:cNvSpPr/>
            <p:nvPr/>
          </p:nvSpPr>
          <p:spPr>
            <a:xfrm>
              <a:off x="1912311" y="450712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1" name="Google Shape;291;p31"/>
            <p:cNvSpPr/>
            <p:nvPr/>
          </p:nvSpPr>
          <p:spPr>
            <a:xfrm>
              <a:off x="434873" y="39876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2" name="Google Shape;292;p31"/>
            <p:cNvSpPr/>
            <p:nvPr/>
          </p:nvSpPr>
          <p:spPr>
            <a:xfrm>
              <a:off x="434873" y="37575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Contents </a:t>
            </a:r>
            <a:r>
              <a:rPr lang="en" dirty="0">
                <a:solidFill>
                  <a:schemeClr val="accent4"/>
                </a:solidFill>
              </a:rPr>
              <a:t>of Day 25</a:t>
            </a:r>
            <a:br>
              <a:rPr lang="en" dirty="0">
                <a:solidFill>
                  <a:schemeClr val="accent4"/>
                </a:solidFill>
              </a:rPr>
            </a:br>
            <a:endParaRPr dirty="0">
              <a:solidFill>
                <a:schemeClr val="accent4"/>
              </a:solidFill>
            </a:endParaRPr>
          </a:p>
        </p:txBody>
      </p:sp>
      <p:sp>
        <p:nvSpPr>
          <p:cNvPr id="298" name="Google Shape;298;p3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299" name="Google Shape;299;p32"/>
          <p:cNvGraphicFramePr/>
          <p:nvPr>
            <p:extLst>
              <p:ext uri="{D42A27DB-BD31-4B8C-83A1-F6EECF244321}">
                <p14:modId xmlns:p14="http://schemas.microsoft.com/office/powerpoint/2010/main" val="3627108839"/>
              </p:ext>
            </p:extLst>
          </p:nvPr>
        </p:nvGraphicFramePr>
        <p:xfrm>
          <a:off x="968901" y="2328148"/>
          <a:ext cx="10272000" cy="373093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32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Recap &amp; introduction</a:t>
                      </a:r>
                      <a:endParaRPr sz="1500" dirty="0">
                        <a:solidFill>
                          <a:schemeClr val="dk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Moving from Python OOP to Data Science. Why AI needs data.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Core Thoery</a:t>
                      </a:r>
                      <a:endParaRPr sz="1500" dirty="0">
                        <a:solidFill>
                          <a:schemeClr val="accent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Introduction to NLP, Real-World Use Cases, and Pipeline Architectures.</a:t>
                      </a:r>
                      <a:b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</a:b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Syntax, Semantics, Pragmatics, and Discourse (The NLP Evolutionary Curve).</a:t>
                      </a:r>
                    </a:p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Data Pre-processing: Noise Removal, Tokenization, and Normalization.</a:t>
                      </a:r>
                    </a:p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Toolkits: Introduction to NLTK vs. </a:t>
                      </a:r>
                      <a:r>
                        <a:rPr lang="en-US" sz="1300" b="1" dirty="0" err="1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spaCy</a:t>
                      </a: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 (Setup and Model Management).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4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Lab Practice</a:t>
                      </a:r>
                      <a:endParaRPr sz="1500" dirty="0">
                        <a:solidFill>
                          <a:schemeClr val="accent4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Practical coding tasks implementing method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5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Advance Lab</a:t>
                      </a:r>
                      <a:endParaRPr sz="1500" dirty="0">
                        <a:solidFill>
                          <a:schemeClr val="accent5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Understanding the logic with real world examples.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1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Wrap-up &amp; Q&amp;A</a:t>
                      </a:r>
                      <a:endParaRPr sz="1500" dirty="0">
                        <a:solidFill>
                          <a:schemeClr val="accent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Debugging tips along with Q&amp;A and suggestion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0" name="Google Shape;300;p32"/>
          <p:cNvSpPr txBox="1"/>
          <p:nvPr/>
        </p:nvSpPr>
        <p:spPr>
          <a:xfrm>
            <a:off x="951099" y="5523067"/>
            <a:ext cx="4085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endParaRPr sz="1467" dirty="0">
              <a:solidFill>
                <a:schemeClr val="accent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478E5AC7-4524-6A51-8B39-8D8899921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What is NLP? - The 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5350" y="1463040"/>
            <a:ext cx="82296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Computers understand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numbers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Humans speak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language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NLP is the bridge between the two.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NLP stands for Natural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Language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Processing.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It teaches machines to: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Read and understand text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Interpret meaning behind words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Generate human-like responses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Real world examples you use daily: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Google Search → understands your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query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Gmail spam filter → reads your emails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ChatGPT → generates language like a human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NLP is the reason AI can talk to us.</a:t>
            </a:r>
          </a:p>
        </p:txBody>
      </p:sp>
    </p:spTree>
    <p:extLst>
      <p:ext uri="{BB962C8B-B14F-4D97-AF65-F5344CB8AC3E}">
        <p14:creationId xmlns:p14="http://schemas.microsoft.com/office/powerpoint/2010/main" val="2300154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FAE09901-1EA4-1281-E9D0-75400B034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The Four Levels of Language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To understand language, a machine must process it at 4 levels: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Level 1: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Syntax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Grammar and sentence structure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Level 2: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Semantics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Meaning of words and sentences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Level 3: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Pragmatics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Meaning in context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Level 4: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Discourse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Understanding across multiple sentences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Think of it like building a house: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Syntax = the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structure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(walls and beams)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Semantics = the rooms (what each part means)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Pragmatics = how people actually live in it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Discourse = the whole neighborhood</a:t>
            </a:r>
          </a:p>
        </p:txBody>
      </p:sp>
    </p:spTree>
    <p:extLst>
      <p:ext uri="{BB962C8B-B14F-4D97-AF65-F5344CB8AC3E}">
        <p14:creationId xmlns:p14="http://schemas.microsoft.com/office/powerpoint/2010/main" val="3664333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B93EF743-37DF-61A5-E507-BEE9CB679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Syntax - The Grammar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1" y="1463040"/>
            <a:ext cx="8263343" cy="3527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EC7955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C7955"/>
                </a:solidFill>
                <a:latin typeface="Source Code Pro"/>
              </a:rPr>
              <a:t>Syntax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studies the rules that govern sentence structure.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It answers: Is this sentence grammatically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correct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?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Correct: "The cat sat on the mat."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Incorrect: "Sat mat the on cat the."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Key NLP task -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Parsing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Breaking a sentence into its grammatical parts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Subject, Verb, Object, etc.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Why it matters for NLP: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A machine needs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structure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to process language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Without syntax rules, text is just random words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Parsing helps extract who did what to whom</a:t>
            </a:r>
          </a:p>
        </p:txBody>
      </p:sp>
    </p:spTree>
    <p:extLst>
      <p:ext uri="{BB962C8B-B14F-4D97-AF65-F5344CB8AC3E}">
        <p14:creationId xmlns:p14="http://schemas.microsoft.com/office/powerpoint/2010/main" val="4066680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DDBB3FB-1E1D-5346-0FB9-55028EA8A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Syntax - Parse Trees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ParseTree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shows the grammatical structure visually.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 sentence: "The dog chased the cat."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Tree structure: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S (Sentence)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 * NP (Noun Phrase): "The dog"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 * VP (Verb Phrase): "chased the cat"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     * V (Verb): "chased"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       * NP: "the cat"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Two types of parsing in NLP: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Constituency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Parsing → groups words into phrases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Dependency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Parsing → shows which words depend on others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SpaCy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can generate dependency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parses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automatically.</a:t>
            </a:r>
          </a:p>
        </p:txBody>
      </p:sp>
    </p:spTree>
    <p:extLst>
      <p:ext uri="{BB962C8B-B14F-4D97-AF65-F5344CB8AC3E}">
        <p14:creationId xmlns:p14="http://schemas.microsoft.com/office/powerpoint/2010/main" val="3174017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7EC5CC58-C86D-B3EF-39BE-FB3282AB8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Semantics - What Does It Mean?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E81A81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81A81"/>
                </a:solidFill>
                <a:latin typeface="Source Code Pro"/>
              </a:rPr>
              <a:t>Semantics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is the study of meaning in language.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Syntax tells us IF a sentence is correct.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Semantics tells us WHAT the sentence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means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 - Syntactically correct but semantically weird: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"Colorless green ideas sleep furiously." (Noam Chomsky)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Grammatically perfect → Meaningless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Key semantic tasks in NLP: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WordSenseDisambiguation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"bank" (river or money?)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Semantic Similarity → "car" and "automobile" mean the same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Semantic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Role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Labeling → who did what to whom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Challenge: Same word, different meanings (polysemy).</a:t>
            </a:r>
          </a:p>
        </p:txBody>
      </p:sp>
    </p:spTree>
    <p:extLst>
      <p:ext uri="{BB962C8B-B14F-4D97-AF65-F5344CB8AC3E}">
        <p14:creationId xmlns:p14="http://schemas.microsoft.com/office/powerpoint/2010/main" val="3483430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C4F5C0FC-1DBC-A7CC-FAC6-09829C351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Semantics - Word Meaning in Vectors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Modern NLP represents meaning using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vectors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 vector is just a list of numbers.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big idea: Similar words have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similar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vectors.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Famous example (Word2Vec):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king - man + woman =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queen</a:t>
            </a:r>
            <a:endParaRPr lang="en-US" sz="1400" b="1" dirty="0">
              <a:solidFill>
                <a:srgbClr val="BD64B5"/>
              </a:solidFill>
              <a:latin typeface="Source Code Pro"/>
            </a:endParaRPr>
          </a:p>
          <a:p>
            <a:pPr algn="l"/>
            <a:endParaRPr sz="1400" b="1" dirty="0">
              <a:solidFill>
                <a:srgbClr val="BD64B5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This means the model learned: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king and queen share a "royalty" dimension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man and woman share a "gender" dimension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The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relationship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between them is captured mathematically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This is called a </a:t>
            </a:r>
            <a:r>
              <a:rPr sz="1400" b="1" dirty="0" err="1">
                <a:solidFill>
                  <a:srgbClr val="E81A81"/>
                </a:solidFill>
                <a:latin typeface="Source Code Pro"/>
              </a:rPr>
              <a:t>WordEmbedding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It converts human meaning into numbers a machine can use.</a:t>
            </a:r>
          </a:p>
        </p:txBody>
      </p:sp>
    </p:spTree>
    <p:extLst>
      <p:ext uri="{BB962C8B-B14F-4D97-AF65-F5344CB8AC3E}">
        <p14:creationId xmlns:p14="http://schemas.microsoft.com/office/powerpoint/2010/main" val="721575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7C055C9-C156-1F68-35AF-7995F54AF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Pragmatics - Language in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BD64B5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BD64B5"/>
                </a:solidFill>
                <a:latin typeface="Source Code Pro"/>
              </a:rPr>
              <a:t>Pragmatics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studies how context affects meaning.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Same words → completely different meaning depending on situation.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 1 - Sarcasm: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"Oh great, another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bug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in the code."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Literal meaning: positive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Actual meaning: frustration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 2 - Indirect speech: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"Can you pass the salt?"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Literal: asking about ability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Actual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meaning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please pass the salt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Why it's hard for machines: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Requires real-world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knowledge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Requires understanding tone and culture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Context changes everything — machines struggle here</a:t>
            </a:r>
          </a:p>
        </p:txBody>
      </p:sp>
    </p:spTree>
    <p:extLst>
      <p:ext uri="{BB962C8B-B14F-4D97-AF65-F5344CB8AC3E}">
        <p14:creationId xmlns:p14="http://schemas.microsoft.com/office/powerpoint/2010/main" val="2683934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F3C24B5-FA2A-A20C-CFEF-E96090FCD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Discourse - Beyond One Sentence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EC7955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C7955"/>
                </a:solidFill>
                <a:latin typeface="Source Code Pro"/>
              </a:rPr>
              <a:t>Discourse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is the study of language across multiple sentences.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 single sentence is easy. A full paragraph is harder.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Challenge - Coreference: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"Ali went to the store. He bought bread."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Who is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He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? → Ali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The machine must link "He" back to "Ali"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This is called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Coreference</a:t>
            </a:r>
            <a:r>
              <a:rPr lang="en-US" sz="1400" b="1" dirty="0">
                <a:solidFill>
                  <a:srgbClr val="4CAE9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Resolution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Other discourse tasks: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Coherence → Does the paragraph make logical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sense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?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Discourse markers → "however", "therefore", "because"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Topic modeling → What is the overall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document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about?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All modern LLMs (like ChatGPT) solve discourse at massive scale.</a:t>
            </a:r>
          </a:p>
        </p:txBody>
      </p:sp>
    </p:spTree>
    <p:extLst>
      <p:ext uri="{BB962C8B-B14F-4D97-AF65-F5344CB8AC3E}">
        <p14:creationId xmlns:p14="http://schemas.microsoft.com/office/powerpoint/2010/main" val="1924674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A27396EA-B3CB-5765-A2BF-6067CF0C0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NLP Progress - A Brief History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NLP did not start with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ChatGPT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It has a long journey.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1950s - Rule-based systems: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Humans wrote grammar rules manually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Brittle and limited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1990s -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Statistical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NLP: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Learn patterns from data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HMMs, Naive Bayes, n-grams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2013 -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Word2Vec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Words as vectors, meaning in numbers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2017 -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Transformers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"Attention is All You Need" paper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Completely changed NLP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2020-Now - Large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Language</a:t>
            </a:r>
            <a:r>
              <a:rPr lang="en-US" sz="1400" b="1" dirty="0">
                <a:solidFill>
                  <a:srgbClr val="E81A81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Models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GPT, BERT, LLaMA, Claude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Human-level language understanding</a:t>
            </a:r>
          </a:p>
        </p:txBody>
      </p:sp>
    </p:spTree>
    <p:extLst>
      <p:ext uri="{BB962C8B-B14F-4D97-AF65-F5344CB8AC3E}">
        <p14:creationId xmlns:p14="http://schemas.microsoft.com/office/powerpoint/2010/main" val="820022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72B9FC64-41CB-FD68-6031-A0DC2CA1A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NLP Future Directions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NLP is one of the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fastest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growing fields in AI.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Current trends: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LLMs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(Large Language Models) are becoming multimodal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Combining text + images + audio + video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Upcoming challenges: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Hallucination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models generate false but confident answers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Bias in language models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Low-resource languages (Urdu, Punjabi, etc.)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Future directions: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Real-time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reasoning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and planning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Multilingual models for all world languages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Smaller, efficient models (run on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phone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Explainable NLP → WHY did the model say that?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Pakistan-specific opportunity: Urdu NLP is still underdeveloped!</a:t>
            </a:r>
          </a:p>
        </p:txBody>
      </p:sp>
    </p:spTree>
    <p:extLst>
      <p:ext uri="{BB962C8B-B14F-4D97-AF65-F5344CB8AC3E}">
        <p14:creationId xmlns:p14="http://schemas.microsoft.com/office/powerpoint/2010/main" val="1839216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DE327A70-EE1E-F9B1-7E12-EFB56B1C3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Why Pre-process Text Data?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Raw text is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messy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Machines need clean input.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 raw input: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"HELLO!!! This is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sooo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  GREAT... right?? 😊 #nlp"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Problems in raw text: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Extra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whitespace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and weird formatting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Uppercase vs lowercase inconsistency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Punctuation that adds no meaning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Stopwords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like "is", "the", "a" (useless for analysis)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Emojis, HTML tags, special characters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Pre-processing goal: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Keep only the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meaningful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parts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Reduce noise so the model learns the right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patterns</a:t>
            </a:r>
            <a:endParaRPr lang="en-US" sz="1400" b="1" dirty="0">
              <a:solidFill>
                <a:srgbClr val="EC7955"/>
              </a:solidFill>
              <a:latin typeface="Source Code Pro"/>
            </a:endParaRPr>
          </a:p>
          <a:p>
            <a:pPr algn="l"/>
            <a:endParaRPr sz="1400" b="1" dirty="0">
              <a:solidFill>
                <a:srgbClr val="EC7955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Rule of thumb: Garbage in → Garbage out.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Good pre-processing = better model performance.</a:t>
            </a:r>
          </a:p>
        </p:txBody>
      </p:sp>
    </p:spTree>
    <p:extLst>
      <p:ext uri="{BB962C8B-B14F-4D97-AF65-F5344CB8AC3E}">
        <p14:creationId xmlns:p14="http://schemas.microsoft.com/office/powerpoint/2010/main" val="593406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A07031FE-2C94-6428-17AF-2EFF6FBAC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The NLP Pre-processing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Text data follows a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pipeline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before entering any model.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Step 1: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Lowercasing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"Hello" and "hello" are the same word → unify them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Step 2: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Tokenization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Split text into individual words/tokens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Step 3: Remove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Punctuation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Commas, periods, exclamation marks → usually useless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Step 4: Remove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Stopwords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Filter out "the", "is", "at", "which", "on"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Step 5: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Stemming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or Lemmatization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"running" → "run", "studies" → "study"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Order matters! Always lowercase BEFORE tokenizing.</a:t>
            </a:r>
          </a:p>
        </p:txBody>
      </p:sp>
    </p:spTree>
    <p:extLst>
      <p:ext uri="{BB962C8B-B14F-4D97-AF65-F5344CB8AC3E}">
        <p14:creationId xmlns:p14="http://schemas.microsoft.com/office/powerpoint/2010/main" val="1012003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87B10FDB-0640-4185-E584-0FA956B0E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Stopwords - What and 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E81A81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81A81"/>
                </a:solidFill>
                <a:latin typeface="Source Code Pro"/>
              </a:rPr>
              <a:t>Stopwords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are common words that carry almost no meaning.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Examples: "the", "a", "is", "in", "on", "and", "of"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Why remove them?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They appear in EVERY document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They don't help distinguish one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document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from another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Removing them reduces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noise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and speeds up processing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 - Before stopword removal: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"The students are learning in the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classroom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today."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After stopword removal: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"students learning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classroom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today"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meaning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is preserved. The noise is gone.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NLTK provides a built-in stopwords list for 20+ languages.</a:t>
            </a:r>
          </a:p>
        </p:txBody>
      </p:sp>
    </p:spTree>
    <p:extLst>
      <p:ext uri="{BB962C8B-B14F-4D97-AF65-F5344CB8AC3E}">
        <p14:creationId xmlns:p14="http://schemas.microsoft.com/office/powerpoint/2010/main" val="26124026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DAA81348-BCB2-291E-1676-C8F39ACAE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Stemming vs Lemmatization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Both reduce words to their base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form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But differently.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BD64B5"/>
                </a:solidFill>
                <a:latin typeface="Source Code Pro"/>
              </a:rPr>
              <a:t>Stemming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(fast, rough):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Cuts off word endings using rules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"running" → "run"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"studies" → "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studi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" (not a real word!)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Tool: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PorterStemmer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in NLTK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FD4A4A"/>
                </a:solidFill>
                <a:latin typeface="Source Code Pro"/>
              </a:rPr>
              <a:t>Lemmatization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(slow, accurate):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Uses dictionary to find actual root word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"running" → "run"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"better" → "good" (understands context)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Tool: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WordNetLemmatizer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in NLTK / </a:t>
            </a:r>
            <a:r>
              <a:rPr sz="1400" b="1" dirty="0" err="1">
                <a:solidFill>
                  <a:srgbClr val="BD64B5"/>
                </a:solidFill>
                <a:latin typeface="Source Code Pro"/>
              </a:rPr>
              <a:t>SpaCy</a:t>
            </a:r>
            <a:endParaRPr lang="en-US" sz="1400" b="1" dirty="0">
              <a:solidFill>
                <a:srgbClr val="BD64B5"/>
              </a:solidFill>
              <a:latin typeface="Source Code Pro"/>
            </a:endParaRPr>
          </a:p>
          <a:p>
            <a:pPr algn="l"/>
            <a:endParaRPr sz="1400" b="1" dirty="0">
              <a:solidFill>
                <a:srgbClr val="BD64B5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Which to use?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Stemming → fast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prototypes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speed matters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Lemmatization → production systems, accuracy matters</a:t>
            </a:r>
          </a:p>
        </p:txBody>
      </p:sp>
    </p:spTree>
    <p:extLst>
      <p:ext uri="{BB962C8B-B14F-4D97-AF65-F5344CB8AC3E}">
        <p14:creationId xmlns:p14="http://schemas.microsoft.com/office/powerpoint/2010/main" val="37962026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3952D5D7-F6E2-949D-ACAB-7F8E8A916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Introduction to NLTK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FD4A4A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FD4A4A"/>
                </a:solidFill>
                <a:latin typeface="Source Code Pro"/>
              </a:rPr>
              <a:t>NLTK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Natural Language Toolkit.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classic Python library for NLP — built for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teaching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Install: pip install nltk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What NLTK gives you: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Tokenizers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split text into words or sentences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Stopword lists → 20+ languages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Stemmers and Lemmatizers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POS Taggers → label each word's grammar role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Corpora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built-in text datasets for practice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Best for: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Learning NLP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concepts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step by step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Understanding each stage of the pipeline manually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Academic and educational use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NLTK makes the invisible visible — perfect for class demos.</a:t>
            </a:r>
          </a:p>
        </p:txBody>
      </p:sp>
    </p:spTree>
    <p:extLst>
      <p:ext uri="{BB962C8B-B14F-4D97-AF65-F5344CB8AC3E}">
        <p14:creationId xmlns:p14="http://schemas.microsoft.com/office/powerpoint/2010/main" val="19345972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C514BACC-F5A4-1251-0F2E-8DC477A22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Introduction to SpaCy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E81A81"/>
              </a:solidFill>
              <a:latin typeface="Source Code Pro"/>
            </a:endParaRPr>
          </a:p>
          <a:p>
            <a:pPr algn="l"/>
            <a:r>
              <a:rPr sz="1400" b="1" dirty="0" err="1">
                <a:solidFill>
                  <a:srgbClr val="E81A81"/>
                </a:solidFill>
                <a:latin typeface="Source Code Pro"/>
              </a:rPr>
              <a:t>SpaCy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industrial-strength NLP library.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Built for real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production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systems, not just 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demos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Install: pip install spacy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Then: python -m spacy download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en_core_web_sm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What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SpaCy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gives you: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Lightning fast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tokenization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and parsing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Named Entity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Recognition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(NER) built-in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Dependency parsing and POS tagging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Pre-trained language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models</a:t>
            </a:r>
            <a:endParaRPr lang="en-US" sz="1400" b="1" dirty="0">
              <a:solidFill>
                <a:srgbClr val="BD64B5"/>
              </a:solidFill>
              <a:latin typeface="Source Code Pro"/>
            </a:endParaRPr>
          </a:p>
          <a:p>
            <a:pPr algn="l"/>
            <a:endParaRPr sz="1400" b="1" dirty="0">
              <a:solidFill>
                <a:srgbClr val="BD64B5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Best for: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Real projects and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freelance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work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When speed and accuracy both matter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Building NLP APIs and pipelines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SpaCy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wraps the whole pipeline into one clean object.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One line of code does what NLTK needs 10 lines to do.</a:t>
            </a:r>
          </a:p>
        </p:txBody>
      </p:sp>
    </p:spTree>
    <p:extLst>
      <p:ext uri="{BB962C8B-B14F-4D97-AF65-F5344CB8AC3E}">
        <p14:creationId xmlns:p14="http://schemas.microsoft.com/office/powerpoint/2010/main" val="22229622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BB761B8A-AD39-74DB-CE21-C42C12BD7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NLTK vs </a:t>
            </a:r>
            <a:r>
              <a:rPr sz="3200" b="0" dirty="0" err="1">
                <a:solidFill>
                  <a:srgbClr val="FFFFFF"/>
                </a:solidFill>
                <a:latin typeface="Source Code Pro"/>
              </a:rPr>
              <a:t>SpaCy</a:t>
            </a:r>
            <a:r>
              <a:rPr sz="3200" b="0" dirty="0">
                <a:solidFill>
                  <a:srgbClr val="FFFFFF"/>
                </a:solidFill>
                <a:latin typeface="Source Code Pro"/>
              </a:rPr>
              <a:t> - Side by 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Both are Python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libraries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Different philosophy.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94EE6B"/>
                </a:solidFill>
                <a:latin typeface="Source Code Pro"/>
              </a:rPr>
              <a:t>NLTK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Step-by-step, manual control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Great for learning each concept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Slower but transparent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Best for: students,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researchers</a:t>
            </a:r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 err="1">
                <a:solidFill>
                  <a:srgbClr val="E81A81"/>
                </a:solidFill>
                <a:latin typeface="Source Code Pro"/>
              </a:rPr>
              <a:t>SpaCy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Automated pipeline, production-ready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Great for building real systems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Faster and more accurate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Best for: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developers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industry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Recommendation for this course: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Learn concepts with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NLTK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first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Then see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SpaCy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do it automatically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Both are important to know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Think: NLTK = teaching kitchen.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SpaCy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restaurant kitchen.</a:t>
            </a:r>
          </a:p>
        </p:txBody>
      </p:sp>
    </p:spTree>
    <p:extLst>
      <p:ext uri="{BB962C8B-B14F-4D97-AF65-F5344CB8AC3E}">
        <p14:creationId xmlns:p14="http://schemas.microsoft.com/office/powerpoint/2010/main" val="40051584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572B421A-7769-7140-1880-651036E88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Noise Removal - Putting It All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Real text data contains many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types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of noise.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Common noise sources: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HTML tags: &lt;b&gt;hello&lt;/b&gt; → should be just "hello"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URLs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https://google.com → usually remove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Numbers: often irrelevant unless context matters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Emojis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and special characters: 😊 → remove or convert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Extra whitespace: "hello   world" → "hello world"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Repeated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characters: "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sooooo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good" → "so good"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Python regex handles most of these: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import re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text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re.sub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r'http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\S+', '', text)    # remove URLs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text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re.sub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(r'[^a-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zA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-Z\s]', '', text)  # keep only letters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cleaner the input → the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smarter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the model.</a:t>
            </a:r>
          </a:p>
        </p:txBody>
      </p:sp>
    </p:spTree>
    <p:extLst>
      <p:ext uri="{BB962C8B-B14F-4D97-AF65-F5344CB8AC3E}">
        <p14:creationId xmlns:p14="http://schemas.microsoft.com/office/powerpoint/2010/main" val="39069024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16972BC6-6524-83F5-C24E-C6D88F7D6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What Do NLTK and </a:t>
            </a:r>
            <a:r>
              <a:rPr sz="3200" b="0" dirty="0" err="1">
                <a:solidFill>
                  <a:srgbClr val="FFFFFF"/>
                </a:solidFill>
                <a:latin typeface="Source Code Pro"/>
              </a:rPr>
              <a:t>SpaCy</a:t>
            </a:r>
            <a:r>
              <a:rPr sz="3200" b="0" dirty="0">
                <a:solidFill>
                  <a:srgbClr val="FFFFFF"/>
                </a:solidFill>
                <a:latin typeface="Source Code Pro"/>
              </a:rPr>
              <a:t> Actually Output?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Pre-processing is not the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destination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It is the starting point.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NLTK and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SpaCy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produce structured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outputs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Clean token lists → ["student", "learn", "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nlp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", "today"]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POS tags → [("student", "NN"), ("learn", "VB")]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Named Entities → [("Karachi", "GPE"), ("Google", "ORG")]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Dependency trees → which word depends on which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Lemmatized forms → ["run", "study", "good"]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These outputs answer one question for the model: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"What are the meaningful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units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in this text?"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Without this step, a model sees: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"The students are learning!!!" → messy, inconsistent, noisy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With this step, it sees: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["student", "learn"] →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clean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structured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ready to learn from</a:t>
            </a:r>
          </a:p>
        </p:txBody>
      </p:sp>
    </p:spTree>
    <p:extLst>
      <p:ext uri="{BB962C8B-B14F-4D97-AF65-F5344CB8AC3E}">
        <p14:creationId xmlns:p14="http://schemas.microsoft.com/office/powerpoint/2010/main" val="21073467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EB399DED-1598-81F6-DE27-901E704CF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From Tokens to Numbers - Vectorization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Models cannot read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tokens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They only understand numbers.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After NLTK/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SpaCy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cleans the text, the next step is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vectorization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Method 1 - Bag of Words: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Build a vocabulary of all unique tokens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Represent each sentence as a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count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vector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"student learn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nlp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" → [0, 1, 1, 0, 1, 0, ...]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Method 2 - TF-IDF: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Count tokens BUT penalize very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common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ones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Rare but important words get higher scores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Method 3 - Word Embeddings (Word2Vec):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Each token becomes a dense vector of 100-300 numbers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Similar meanings → similar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vectors</a:t>
            </a:r>
            <a:endParaRPr lang="en-US" sz="1400" b="1" dirty="0">
              <a:solidFill>
                <a:srgbClr val="94EE6B"/>
              </a:solidFill>
              <a:latin typeface="Source Code Pro"/>
            </a:endParaRPr>
          </a:p>
          <a:p>
            <a:pPr algn="l"/>
            <a:endParaRPr sz="1400" b="1" dirty="0">
              <a:solidFill>
                <a:srgbClr val="94EE6B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This is how text becomes a matrix a neural network can train on.</a:t>
            </a:r>
          </a:p>
        </p:txBody>
      </p:sp>
    </p:spTree>
    <p:extLst>
      <p:ext uri="{BB962C8B-B14F-4D97-AF65-F5344CB8AC3E}">
        <p14:creationId xmlns:p14="http://schemas.microsoft.com/office/powerpoint/2010/main" val="28863734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0C0ADA3A-242A-17CD-A1A7-820A8E55E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Building a Training Dataset with NLP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Imagine training a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spam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detector. Here is the full flow.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Step 1: Collect raw emails (thousands of them)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Step 2: Label them → spam = 1, not spam = 0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Step 3: Pre-process with NLTK/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SpaCy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Lowercase all text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Remove punctuation and stopwords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Lemmatize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remaining words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Step 4: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Vectorize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convert tokens to TF-IDF matrix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Step 5: Feed into model: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X = the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vectorized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email text (input features)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y = the spam label (target output)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Step 6: Model trains on this X, y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dataset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NLTK/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SpaCy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output IS the training data.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No pre-processing → no training → no model.</a:t>
            </a:r>
          </a:p>
        </p:txBody>
      </p:sp>
    </p:spTree>
    <p:extLst>
      <p:ext uri="{BB962C8B-B14F-4D97-AF65-F5344CB8AC3E}">
        <p14:creationId xmlns:p14="http://schemas.microsoft.com/office/powerpoint/2010/main" val="23199271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3283F099-0F97-B6B9-F989-139BFAA89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Real Project - Sentiment Analysis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 real example used in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industry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every day.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Goal: Classify a review as positive or negative.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Raw input: "This product is AMAZING!! Highly recommend 😊"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Step 1 - NLTK Pre-processing: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Lowercase → "this product is amazing highly recommend"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Remove stopwords → "product amazing highly recommend"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Lemmatize → ["product", "amazing", "high", "recommend"]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Step 2 - Vectorize → TF-IDF or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Word2Vec</a:t>
            </a:r>
            <a:endParaRPr lang="en-US" sz="1400" b="1" dirty="0">
              <a:solidFill>
                <a:srgbClr val="EC7955"/>
              </a:solidFill>
              <a:latin typeface="Source Code Pro"/>
            </a:endParaRPr>
          </a:p>
          <a:p>
            <a:pPr algn="l"/>
            <a:endParaRPr sz="1400" b="1" dirty="0">
              <a:solidFill>
                <a:srgbClr val="EC7955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Step 3 - Model sees numbers, predicts: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Output: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Positive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(probability 0.94)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This exact pipeline runs inside: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Amazon product reviews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Google Play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ratings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Twitter sentiment trackers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Our NLTK code from class = the foundation of these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systems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528468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1D811694-FB03-8F93-7A35-B487F5A81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NLP Outputs Feed Into Deep Learning Too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Pre-processing is not just for classical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ML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Even deep learning models like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BERT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and GPT need it.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For BERT: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SpaCy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cleans and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tokenizes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the text first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A special tokenizer (BPE) then converts to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subword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tokens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Tokens map to IDs → fed into the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transformer</a:t>
            </a:r>
            <a:endParaRPr lang="en-US" sz="1400" b="1" dirty="0">
              <a:solidFill>
                <a:srgbClr val="94EE6B"/>
              </a:solidFill>
              <a:latin typeface="Source Code Pro"/>
            </a:endParaRPr>
          </a:p>
          <a:p>
            <a:pPr algn="l"/>
            <a:endParaRPr sz="1400" b="1" dirty="0">
              <a:solidFill>
                <a:srgbClr val="94EE6B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For GPT: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Raw text is pre-processed and tokenized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Each token becomes an embedding vector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The model predicts the NEXT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token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at each step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Key insight: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Classical ML → needs heavy manual pre-processing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Deep Learning → does more automatically BUT still needs clean input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Transformers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have their own tokenizers built on NLP principles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Everything you learned today still applies at the highest level.</a:t>
            </a:r>
          </a:p>
        </p:txBody>
      </p:sp>
    </p:spTree>
    <p:extLst>
      <p:ext uri="{BB962C8B-B14F-4D97-AF65-F5344CB8AC3E}">
        <p14:creationId xmlns:p14="http://schemas.microsoft.com/office/powerpoint/2010/main" val="1506029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4"/>
          <p:cNvSpPr txBox="1">
            <a:spLocks noGrp="1"/>
          </p:cNvSpPr>
          <p:nvPr>
            <p:ph type="title"/>
          </p:nvPr>
        </p:nvSpPr>
        <p:spPr>
          <a:xfrm>
            <a:off x="5662782" y="748501"/>
            <a:ext cx="5544039" cy="706416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/>
            <a:r>
              <a:rPr lang="en-US" sz="1867" dirty="0"/>
              <a:t>Thank You for Your Focus Today!</a:t>
            </a:r>
            <a:endParaRPr sz="1867" dirty="0"/>
          </a:p>
        </p:txBody>
      </p:sp>
      <p:sp>
        <p:nvSpPr>
          <p:cNvPr id="353" name="Google Shape;353;p34"/>
          <p:cNvSpPr txBox="1">
            <a:spLocks noGrp="1"/>
          </p:cNvSpPr>
          <p:nvPr>
            <p:ph type="subTitle" idx="1"/>
          </p:nvPr>
        </p:nvSpPr>
        <p:spPr>
          <a:xfrm>
            <a:off x="5459796" y="4751364"/>
            <a:ext cx="5608000" cy="174000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400" dirty="0"/>
              <a:t>Waleed Khan</a:t>
            </a:r>
            <a:br>
              <a:rPr lang="en-US" sz="1400" dirty="0"/>
            </a:br>
            <a:r>
              <a:rPr lang="en-US" sz="1400" dirty="0"/>
              <a:t>(</a:t>
            </a:r>
            <a:r>
              <a:rPr lang="en-US" sz="1200" dirty="0"/>
              <a:t>Robotics Engineer | Senior Python Developer)</a:t>
            </a:r>
            <a:br>
              <a:rPr lang="en-US" sz="1400" dirty="0"/>
            </a:br>
            <a:endParaRPr lang="en-US" sz="1400" dirty="0"/>
          </a:p>
          <a:p>
            <a:pPr marL="0" indent="0"/>
            <a:r>
              <a:rPr lang="en-US" sz="1400" dirty="0"/>
              <a:t>Email: 0xcloudcoder@gmail.com</a:t>
            </a:r>
            <a:br>
              <a:rPr lang="en-US" sz="1867" dirty="0"/>
            </a:br>
            <a:r>
              <a:rPr lang="en-US" sz="1400" dirty="0"/>
              <a:t>Contact: +923126008702</a:t>
            </a:r>
            <a:endParaRPr sz="1400" dirty="0"/>
          </a:p>
        </p:txBody>
      </p:sp>
      <p:sp>
        <p:nvSpPr>
          <p:cNvPr id="354" name="Google Shape;354;p34"/>
          <p:cNvSpPr txBox="1"/>
          <p:nvPr/>
        </p:nvSpPr>
        <p:spPr>
          <a:xfrm>
            <a:off x="11106533" y="53044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2800" dirty="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 dirty="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355" name="Google Shape;355;p34"/>
          <p:cNvGrpSpPr/>
          <p:nvPr/>
        </p:nvGrpSpPr>
        <p:grpSpPr>
          <a:xfrm>
            <a:off x="447523" y="928586"/>
            <a:ext cx="3909392" cy="5210084"/>
            <a:chOff x="335642" y="696438"/>
            <a:chExt cx="2932044" cy="3907563"/>
          </a:xfrm>
        </p:grpSpPr>
        <p:sp>
          <p:nvSpPr>
            <p:cNvPr id="356" name="Google Shape;356;p34"/>
            <p:cNvSpPr/>
            <p:nvPr/>
          </p:nvSpPr>
          <p:spPr>
            <a:xfrm>
              <a:off x="335642" y="70501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7" name="Google Shape;357;p34"/>
            <p:cNvSpPr/>
            <p:nvPr/>
          </p:nvSpPr>
          <p:spPr>
            <a:xfrm>
              <a:off x="821967" y="6964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8" name="Google Shape;358;p34"/>
            <p:cNvSpPr/>
            <p:nvPr/>
          </p:nvSpPr>
          <p:spPr>
            <a:xfrm>
              <a:off x="335642" y="10172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9" name="Google Shape;359;p34"/>
            <p:cNvSpPr/>
            <p:nvPr/>
          </p:nvSpPr>
          <p:spPr>
            <a:xfrm>
              <a:off x="335642" y="1343950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0" name="Google Shape;360;p34"/>
            <p:cNvSpPr/>
            <p:nvPr/>
          </p:nvSpPr>
          <p:spPr>
            <a:xfrm>
              <a:off x="335642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1" name="Google Shape;361;p34"/>
            <p:cNvSpPr/>
            <p:nvPr/>
          </p:nvSpPr>
          <p:spPr>
            <a:xfrm>
              <a:off x="770496" y="1670688"/>
              <a:ext cx="45446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2" name="Google Shape;362;p34"/>
            <p:cNvSpPr/>
            <p:nvPr/>
          </p:nvSpPr>
          <p:spPr>
            <a:xfrm>
              <a:off x="1304877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3" name="Google Shape;363;p34"/>
            <p:cNvSpPr/>
            <p:nvPr/>
          </p:nvSpPr>
          <p:spPr>
            <a:xfrm>
              <a:off x="335642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4" name="Google Shape;364;p34"/>
            <p:cNvSpPr/>
            <p:nvPr/>
          </p:nvSpPr>
          <p:spPr>
            <a:xfrm>
              <a:off x="335642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5" name="Google Shape;365;p34"/>
            <p:cNvSpPr/>
            <p:nvPr/>
          </p:nvSpPr>
          <p:spPr>
            <a:xfrm>
              <a:off x="335642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6" name="Google Shape;366;p34"/>
            <p:cNvSpPr/>
            <p:nvPr/>
          </p:nvSpPr>
          <p:spPr>
            <a:xfrm>
              <a:off x="335642" y="29419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7" name="Google Shape;367;p34"/>
            <p:cNvSpPr/>
            <p:nvPr/>
          </p:nvSpPr>
          <p:spPr>
            <a:xfrm>
              <a:off x="349364" y="37229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8" name="Google Shape;368;p34"/>
            <p:cNvSpPr/>
            <p:nvPr/>
          </p:nvSpPr>
          <p:spPr>
            <a:xfrm>
              <a:off x="770496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9" name="Google Shape;369;p34"/>
            <p:cNvSpPr/>
            <p:nvPr/>
          </p:nvSpPr>
          <p:spPr>
            <a:xfrm>
              <a:off x="731557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0" name="Google Shape;370;p34"/>
            <p:cNvSpPr/>
            <p:nvPr/>
          </p:nvSpPr>
          <p:spPr>
            <a:xfrm>
              <a:off x="770496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1" name="Google Shape;371;p34"/>
            <p:cNvSpPr/>
            <p:nvPr/>
          </p:nvSpPr>
          <p:spPr>
            <a:xfrm>
              <a:off x="770496" y="2958925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2" name="Google Shape;372;p34"/>
            <p:cNvSpPr/>
            <p:nvPr/>
          </p:nvSpPr>
          <p:spPr>
            <a:xfrm>
              <a:off x="770496" y="32848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3" name="Google Shape;373;p34"/>
            <p:cNvSpPr/>
            <p:nvPr/>
          </p:nvSpPr>
          <p:spPr>
            <a:xfrm>
              <a:off x="1174186" y="1981263"/>
              <a:ext cx="63339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4" name="Google Shape;374;p34"/>
            <p:cNvSpPr/>
            <p:nvPr/>
          </p:nvSpPr>
          <p:spPr>
            <a:xfrm>
              <a:off x="1174186" y="2324113"/>
              <a:ext cx="88477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5" name="Google Shape;375;p34"/>
            <p:cNvSpPr/>
            <p:nvPr/>
          </p:nvSpPr>
          <p:spPr>
            <a:xfrm>
              <a:off x="1205349" y="26330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6" name="Google Shape;376;p34"/>
            <p:cNvSpPr/>
            <p:nvPr/>
          </p:nvSpPr>
          <p:spPr>
            <a:xfrm>
              <a:off x="1205349" y="29775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7" name="Google Shape;377;p34"/>
            <p:cNvSpPr/>
            <p:nvPr/>
          </p:nvSpPr>
          <p:spPr>
            <a:xfrm>
              <a:off x="1205349" y="3284813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8" name="Google Shape;378;p34"/>
            <p:cNvSpPr/>
            <p:nvPr/>
          </p:nvSpPr>
          <p:spPr>
            <a:xfrm>
              <a:off x="1883777" y="1981263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9" name="Google Shape;379;p34"/>
            <p:cNvSpPr/>
            <p:nvPr/>
          </p:nvSpPr>
          <p:spPr>
            <a:xfrm>
              <a:off x="2174096" y="2307150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0" name="Google Shape;380;p34"/>
            <p:cNvSpPr/>
            <p:nvPr/>
          </p:nvSpPr>
          <p:spPr>
            <a:xfrm>
              <a:off x="2342750" y="26330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1" name="Google Shape;381;p34"/>
            <p:cNvSpPr/>
            <p:nvPr/>
          </p:nvSpPr>
          <p:spPr>
            <a:xfrm>
              <a:off x="2342750" y="32848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2" name="Google Shape;382;p34"/>
            <p:cNvSpPr/>
            <p:nvPr/>
          </p:nvSpPr>
          <p:spPr>
            <a:xfrm>
              <a:off x="349364" y="39620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3" name="Google Shape;383;p34"/>
            <p:cNvSpPr/>
            <p:nvPr/>
          </p:nvSpPr>
          <p:spPr>
            <a:xfrm>
              <a:off x="731557" y="42455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4" name="Google Shape;384;p34"/>
            <p:cNvSpPr/>
            <p:nvPr/>
          </p:nvSpPr>
          <p:spPr>
            <a:xfrm>
              <a:off x="1224956" y="4245513"/>
              <a:ext cx="52434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5" name="Google Shape;385;p34"/>
            <p:cNvSpPr/>
            <p:nvPr/>
          </p:nvSpPr>
          <p:spPr>
            <a:xfrm>
              <a:off x="1883777" y="4245513"/>
              <a:ext cx="661931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6" name="Google Shape;386;p34"/>
            <p:cNvSpPr/>
            <p:nvPr/>
          </p:nvSpPr>
          <p:spPr>
            <a:xfrm>
              <a:off x="2634075" y="4245513"/>
              <a:ext cx="241501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7" name="Google Shape;387;p34"/>
            <p:cNvSpPr/>
            <p:nvPr/>
          </p:nvSpPr>
          <p:spPr>
            <a:xfrm>
              <a:off x="731557" y="4454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8" name="Google Shape;388;p34"/>
            <p:cNvSpPr/>
            <p:nvPr/>
          </p:nvSpPr>
          <p:spPr>
            <a:xfrm>
              <a:off x="1224956" y="4454038"/>
              <a:ext cx="83390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9" name="Google Shape;389;p34"/>
            <p:cNvSpPr/>
            <p:nvPr/>
          </p:nvSpPr>
          <p:spPr>
            <a:xfrm>
              <a:off x="2169156" y="44540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0" name="Google Shape;390;p34"/>
            <p:cNvSpPr/>
            <p:nvPr/>
          </p:nvSpPr>
          <p:spPr>
            <a:xfrm>
              <a:off x="1250486" y="7083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1" name="Google Shape;391;p34"/>
            <p:cNvSpPr/>
            <p:nvPr/>
          </p:nvSpPr>
          <p:spPr>
            <a:xfrm>
              <a:off x="821986" y="10172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2" name="Google Shape;392;p34"/>
            <p:cNvSpPr/>
            <p:nvPr/>
          </p:nvSpPr>
          <p:spPr>
            <a:xfrm>
              <a:off x="1555286" y="10131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3" name="Google Shape;393;p34"/>
            <p:cNvSpPr/>
            <p:nvPr/>
          </p:nvSpPr>
          <p:spPr>
            <a:xfrm>
              <a:off x="821979" y="134398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4" name="Google Shape;394;p34"/>
            <p:cNvSpPr/>
            <p:nvPr/>
          </p:nvSpPr>
          <p:spPr>
            <a:xfrm>
              <a:off x="1739729" y="1668625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5" name="Google Shape;395;p34"/>
            <p:cNvSpPr/>
            <p:nvPr/>
          </p:nvSpPr>
          <p:spPr>
            <a:xfrm>
              <a:off x="2342754" y="297753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6" name="Google Shape;396;p34"/>
            <p:cNvSpPr/>
            <p:nvPr/>
          </p:nvSpPr>
          <p:spPr>
            <a:xfrm>
              <a:off x="2537025" y="19812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7" name="Google Shape;397;p34"/>
            <p:cNvSpPr/>
            <p:nvPr/>
          </p:nvSpPr>
          <p:spPr>
            <a:xfrm>
              <a:off x="2805050" y="263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8" name="Google Shape;398;p34"/>
            <p:cNvSpPr/>
            <p:nvPr/>
          </p:nvSpPr>
          <p:spPr>
            <a:xfrm>
              <a:off x="2634386" y="44561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9" name="Google Shape;399;p34"/>
            <p:cNvSpPr/>
            <p:nvPr/>
          </p:nvSpPr>
          <p:spPr>
            <a:xfrm>
              <a:off x="770511" y="39365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0" name="Google Shape;400;p34"/>
            <p:cNvSpPr/>
            <p:nvPr/>
          </p:nvSpPr>
          <p:spPr>
            <a:xfrm>
              <a:off x="770511" y="37064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401" name="Google Shape;401;p34"/>
          <p:cNvSpPr txBox="1"/>
          <p:nvPr/>
        </p:nvSpPr>
        <p:spPr>
          <a:xfrm>
            <a:off x="8854201" y="5162812"/>
            <a:ext cx="692400" cy="11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6667" dirty="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6667" dirty="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E2DD26-B17A-503C-A9CA-D2B6DDAE5AF0}"/>
              </a:ext>
            </a:extLst>
          </p:cNvPr>
          <p:cNvSpPr txBox="1"/>
          <p:nvPr/>
        </p:nvSpPr>
        <p:spPr>
          <a:xfrm>
            <a:off x="5387008" y="2407058"/>
            <a:ext cx="6411925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What was the most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6000" dirty="0">
                <a:solidFill>
                  <a:schemeClr val="accent5">
                    <a:lumMod val="5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confusing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part of today's lab?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endParaRPr lang="en-US" sz="16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ay 6">
  <a:themeElements>
    <a:clrScheme name="Simple Light">
      <a:dk1>
        <a:srgbClr val="E7E7E7"/>
      </a:dk1>
      <a:lt1>
        <a:srgbClr val="10111A"/>
      </a:lt1>
      <a:dk2>
        <a:srgbClr val="FD4A4A"/>
      </a:dk2>
      <a:lt2>
        <a:srgbClr val="EC7955"/>
      </a:lt2>
      <a:accent1>
        <a:srgbClr val="E81A81"/>
      </a:accent1>
      <a:accent2>
        <a:srgbClr val="94EE6B"/>
      </a:accent2>
      <a:accent3>
        <a:srgbClr val="4CAE97"/>
      </a:accent3>
      <a:accent4>
        <a:srgbClr val="BD64B5"/>
      </a:accent4>
      <a:accent5>
        <a:srgbClr val="FFFF99"/>
      </a:accent5>
      <a:accent6>
        <a:srgbClr val="2C293A"/>
      </a:accent6>
      <a:hlink>
        <a:srgbClr val="F8F8F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y 6" id="{035ED6D3-E824-4B6B-AAF7-CA8C606A2217}" vid="{7F810BC9-F9DE-4B77-994F-C9059B10EE5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2803</Words>
  <Application>Microsoft Office PowerPoint</Application>
  <PresentationFormat>Widescreen</PresentationFormat>
  <Paragraphs>470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7" baseType="lpstr">
      <vt:lpstr>Arial</vt:lpstr>
      <vt:lpstr>Bebas Neue</vt:lpstr>
      <vt:lpstr>Calibri</vt:lpstr>
      <vt:lpstr>Comfortaa</vt:lpstr>
      <vt:lpstr>Fira Code</vt:lpstr>
      <vt:lpstr>Nunito Light</vt:lpstr>
      <vt:lpstr>PT Sans</vt:lpstr>
      <vt:lpstr>Source Code Pro</vt:lpstr>
      <vt:lpstr>Source Code Pro Medium</vt:lpstr>
      <vt:lpstr>Office 主题</vt:lpstr>
      <vt:lpstr>day 6</vt:lpstr>
      <vt:lpstr>Artificial Intelligence (Machine Learning &amp; Deep Learning)</vt:lpstr>
      <vt:lpstr>Contents of Day 25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for Your Focus Today!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Master Mind</dc:creator>
  <cp:lastModifiedBy>Master Mind</cp:lastModifiedBy>
  <cp:revision>35</cp:revision>
  <dcterms:created xsi:type="dcterms:W3CDTF">2026-03-05T18:59:57Z</dcterms:created>
  <dcterms:modified xsi:type="dcterms:W3CDTF">2026-03-23T22:26:38Z</dcterms:modified>
</cp:coreProperties>
</file>