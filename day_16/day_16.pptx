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5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7A3A1A6-B538-31BD-9011-7A01BF11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C8A09B3-27C4-104B-CFEC-C179ADDA8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EE572E-1F68-93D9-D7D4-3E0536A03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488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D054197-C0A1-FDDF-57F9-1010DACC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0099D64-96D7-7F8E-1410-FCFE55B79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1EEB1AD-0EF7-AFD8-C548-41E856366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24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C022969-B5B1-B4BC-F6DB-703CDF2D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39ADCE8-7E95-8C44-4595-1FF8C1792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986FEC8-AC09-9563-FA37-D1D4C6B7E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78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316D913-BDAF-7EAD-00CB-69BF13DE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D830FD1-8B71-29F4-6375-8B3213A1D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3BEB10D-2B84-905D-8757-EC3A91B79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5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DFAE4191-F718-7349-497D-AFBFF569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CCDD6A0-3557-BEE0-2EE7-B8798F9C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4159810-B5C9-2C2B-3E04-FB340A9AB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689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C61DAF5-3C9B-3DCA-D6F0-3858ECE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7B98325-B7EA-7E39-392E-4007D5129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E55BA4-6D9B-D098-ACB0-0A6BCB5B0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250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Pandas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</a:t>
            </a:r>
            <a:r>
              <a:rPr lang="en">
                <a:solidFill>
                  <a:schemeClr val="accent4"/>
                </a:solidFill>
              </a:rPr>
              <a:t>Day 16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		NumPy Indexing, Broadcasting &amp; Universal Functions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359880960"/>
              </p:ext>
            </p:extLst>
          </p:nvPr>
        </p:nvGraphicFramePr>
        <p:xfrm>
          <a:off x="968901" y="2328148"/>
          <a:ext cx="10272000" cy="37309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Merging &amp; Joining	Combining multiple DataFrames (SQL-style).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GroupBy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&amp; Discretization	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Aggregating data and creating "bins" (e.g., Age Groups).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Output &amp; Plotting	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Saving files and </a:t>
                      </a:r>
                      <a:r>
                        <a:rPr lang="en-US" sz="1300" b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generating different types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of charts.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Concatenation - Stacking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82" y="1699522"/>
            <a:ext cx="120873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BD64B5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pd.concat() to "glue" DataFrames together either vertically (adding rows) or horizontally (adding columns).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To unify datasets that have the same structure but are split across different files or time periods.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BD64B5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Combining 12 separate monthly sales CSVs into one "Yearly Report"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Appending new log entries from a server to an existing master log file</a:t>
            </a: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F99366C-ED50-A005-B421-F1F3A317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Merging &amp; Joining - Linking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85743"/>
            <a:ext cx="1214477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BD64B5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pd.merge() to connect two different tables based on a shared "Key" (like a User_ID).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FF0000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F0000"/>
                </a:solidFill>
                <a:latin typeface="Source Code Pro"/>
              </a:rPr>
              <a:t>Join Types: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Inner Join: Keeps only records found in both tables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Outer Join: Keeps all records from both, filling gaps with </a:t>
            </a:r>
            <a:r>
              <a:rPr sz="1600" dirty="0" err="1">
                <a:solidFill>
                  <a:srgbClr val="E7E7E7"/>
                </a:solidFill>
                <a:latin typeface="Source Code Pro"/>
              </a:rPr>
              <a:t>NaN</a:t>
            </a:r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Left Join: Keeps everything from the "Master" table and adds info from the "Detail" table where it exists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Databases are relational. Information about a "User" is usually in one table, while their "Orders" are in another.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Linking a Customers table (Names, Emails) with a Transactions table (Amount, Date) to send thank-you emails to high-spenders</a:t>
            </a:r>
          </a:p>
        </p:txBody>
      </p:sp>
    </p:spTree>
    <p:extLst>
      <p:ext uri="{BB962C8B-B14F-4D97-AF65-F5344CB8AC3E}">
        <p14:creationId xmlns:p14="http://schemas.microsoft.com/office/powerpoint/2010/main" val="1137350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EA509FA-4974-2A2B-E6FF-9674F74A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GroupBy - The Pivot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78" y="1528722"/>
            <a:ext cx="1217912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A process involving Split (group by a category), Apply (calculate a sum/average), and Combine (show the result).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E81A81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To find patterns and summaries within large datasets rather than looking at individual rows.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D4A4A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Finding the Average Salary per Department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Calculating the Total Revenue per City to see which branch is performing best</a:t>
            </a:r>
          </a:p>
        </p:txBody>
      </p:sp>
    </p:spTree>
    <p:extLst>
      <p:ext uri="{BB962C8B-B14F-4D97-AF65-F5344CB8AC3E}">
        <p14:creationId xmlns:p14="http://schemas.microsoft.com/office/powerpoint/2010/main" val="122135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6465EFC-562C-DC0E-9F5F-1324F678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Discretization &amp; Binning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376" y="1579704"/>
            <a:ext cx="12093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CAE97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pd.cut()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or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pd.qcut()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to turn continuous numbers into "Buckets" or "Categories."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E81A81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To simplify numerical data for better decision-making or to create categorical labels for Machine Learning.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Converting "Test Scores" (0–100) into "Grades" (A, B, C, F)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Sorting "Customers" into "Age Groups" (Teen, Adult, Senior) for targeted marketing</a:t>
            </a:r>
          </a:p>
        </p:txBody>
      </p:sp>
    </p:spTree>
    <p:extLst>
      <p:ext uri="{BB962C8B-B14F-4D97-AF65-F5344CB8AC3E}">
        <p14:creationId xmlns:p14="http://schemas.microsoft.com/office/powerpoint/2010/main" val="40443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6CC9692-8AD8-4853-C3DD-30E672EC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Operations &amp; Data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" y="1586011"/>
            <a:ext cx="1211884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Final manipulations like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.pivot_table()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and saving data using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.to_csv()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or </a:t>
            </a:r>
            <a:r>
              <a:rPr sz="1600" b="1" dirty="0">
                <a:solidFill>
                  <a:srgbClr val="00B0F0"/>
                </a:solidFill>
                <a:latin typeface="Source Code Pro"/>
              </a:rPr>
              <a:t>.to_excel().</a:t>
            </a:r>
            <a:endParaRPr lang="en-US" sz="1600" b="1" dirty="0">
              <a:solidFill>
                <a:srgbClr val="00B0F0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D4A4A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To export your cleaned, analyzed data into a format that non-developers (like Managers) can open and read.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chemeClr val="accent3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Exporting a cleaned "Weekly Inventory" report to an Excel file for the warehouse team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Saving a processed dataset as a .json file to be used as an API response in a Flask app</a:t>
            </a:r>
          </a:p>
        </p:txBody>
      </p:sp>
    </p:spTree>
    <p:extLst>
      <p:ext uri="{BB962C8B-B14F-4D97-AF65-F5344CB8AC3E}">
        <p14:creationId xmlns:p14="http://schemas.microsoft.com/office/powerpoint/2010/main" val="359579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996D94E-8FAF-AF31-FEB1-26A49AEA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670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Plotting – Distributions - Hist, Box, KDE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70" y="1605995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94EE6B"/>
                </a:solidFill>
                <a:latin typeface="Source Code Pro"/>
              </a:rPr>
              <a:t>Definition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built-in Pandas plotting to see how data is spread out.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rgbClr val="FD4A4A"/>
                </a:solidFill>
                <a:latin typeface="Source Code Pro"/>
              </a:rPr>
              <a:t>Why we use it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To spot "Outliers" (errors) and understand the "Typical" value in a dataset.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b="1" dirty="0">
                <a:solidFill>
                  <a:schemeClr val="accent1"/>
                </a:solidFill>
                <a:latin typeface="Source Code Pro"/>
              </a:rPr>
              <a:t>Real-life usage</a:t>
            </a:r>
            <a:r>
              <a:rPr sz="1600" dirty="0">
                <a:solidFill>
                  <a:schemeClr val="accent1"/>
                </a:solidFill>
                <a:latin typeface="Source Code Pro"/>
              </a:rPr>
              <a:t>: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A Box Plot to find "Ghost Employees" who have abnormally high salaries compared to their peers</a:t>
            </a: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A Histogram to see which hours of the day your website gets the most traffic</a:t>
            </a:r>
          </a:p>
        </p:txBody>
      </p:sp>
    </p:spTree>
    <p:extLst>
      <p:ext uri="{BB962C8B-B14F-4D97-AF65-F5344CB8AC3E}">
        <p14:creationId xmlns:p14="http://schemas.microsoft.com/office/powerpoint/2010/main" val="319323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0FB2F53-6EE9-0ED4-A57C-173B12E7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372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Plotting – Relationships - Scatter, Line,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>
                <a:solidFill>
                  <a:srgbClr val="EC7955"/>
                </a:solidFill>
                <a:latin typeface="Source Code Pro"/>
              </a:rPr>
              <a:t>Definition</a:t>
            </a:r>
            <a:r>
              <a:rPr sz="1600">
                <a:solidFill>
                  <a:srgbClr val="E7E7E7"/>
                </a:solidFill>
                <a:latin typeface="Source Code Pro"/>
              </a:rPr>
              <a:t>: Visualizing how one variable affects another.z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>
                <a:solidFill>
                  <a:srgbClr val="FD4A4A"/>
                </a:solidFill>
                <a:latin typeface="Source Code Pro"/>
              </a:rPr>
              <a:t>Why we use it</a:t>
            </a:r>
            <a:r>
              <a:rPr sz="1600">
                <a:solidFill>
                  <a:srgbClr val="E7E7E7"/>
                </a:solidFill>
                <a:latin typeface="Source Code Pro"/>
              </a:rPr>
              <a:t>: To identify trends over time or correlations between different factors.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>
                <a:solidFill>
                  <a:srgbClr val="94EE6B"/>
                </a:solidFill>
                <a:latin typeface="Source Code Pro"/>
              </a:rPr>
              <a:t>Real-life usage</a:t>
            </a:r>
            <a:r>
              <a:rPr sz="160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A Line Chart to track "Monthly Active Users" over the last 3 years</a:t>
            </a:r>
          </a:p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• A Scatter Plot to see if "Time spent on App" correlates with "Total Money Spent"</a:t>
            </a:r>
          </a:p>
        </p:txBody>
      </p:sp>
    </p:spTree>
    <p:extLst>
      <p:ext uri="{BB962C8B-B14F-4D97-AF65-F5344CB8AC3E}">
        <p14:creationId xmlns:p14="http://schemas.microsoft.com/office/powerpoint/2010/main" val="12182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806</Words>
  <Application>Microsoft Office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14</cp:revision>
  <dcterms:created xsi:type="dcterms:W3CDTF">2026-03-05T18:59:57Z</dcterms:created>
  <dcterms:modified xsi:type="dcterms:W3CDTF">2026-03-07T00:36:05Z</dcterms:modified>
</cp:coreProperties>
</file>